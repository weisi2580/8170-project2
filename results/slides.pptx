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TM-score</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0.537</c:v>
                </c:pt>
                <c:pt idx="1">
                  <c:v>0.722</c:v>
                </c:pt>
                <c:pt idx="2">
                  <c:v>0.524</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0.94</c:v>
                </c:pt>
                <c:pt idx="1">
                  <c:v>0.973</c:v>
                </c:pt>
                <c:pt idx="2">
                  <c:v>0.916</c:v>
                </c:pt>
              </c:numCache>
            </c:numRef>
          </c:val>
        </c:ser>
        <c:dLbls>
          <c:numFmt formatCode="0.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GDT-TS</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41.27</c:v>
                </c:pt>
                <c:pt idx="1">
                  <c:v>65.53</c:v>
                </c:pt>
                <c:pt idx="2">
                  <c:v>52.679</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90.807</c:v>
                </c:pt>
                <c:pt idx="1">
                  <c:v>95.455</c:v>
                </c:pt>
                <c:pt idx="2">
                  <c:v>92.857</c:v>
                </c:pt>
              </c:numCache>
            </c:numRef>
          </c:val>
        </c:ser>
        <c:dLbls>
          <c:numFmt formatCode="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lDDT</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0.542</c:v>
                </c:pt>
                <c:pt idx="1">
                  <c:v>0.529</c:v>
                </c:pt>
                <c:pt idx="2">
                  <c:v>0.407</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0.87</c:v>
                </c:pt>
                <c:pt idx="1">
                  <c:v>0.882</c:v>
                </c:pt>
                <c:pt idx="2">
                  <c:v>0.817</c:v>
                </c:pt>
              </c:numCache>
            </c:numRef>
          </c:val>
        </c:ser>
        <c:dLbls>
          <c:numFmt formatCode="0.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classical template-based modeling with MODELLER against AlphaFold3 on three CASP15 targets of increasing difficulty. Claude coordinates the MODELLER side and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CASP classes: TBM-easy has a clear template, TBM-hard a weak one, FM/TBM is borderline free modeling. Scores are computed over the CASP evaluation unit (EU) only. T1151s2 replaced T1123, for which the profile search finds no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1 and Agent 2 are Claude tool-use loops. Claude picks search settings, which templates to build and which model to keep; the tools run the HMMER profile search, MODELLER and the metrics. AlphaFold3 is run by hand on the AlphaFold Server with default settings.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compares the sequence itself. Each further round builds a profile HMM from the confident hits (E ≤ 1e-3) and searches again. The profile knows which positions are conserved in the family, so it finds remote homologues at 30–40% identity. The same profile aligns target and template for MODELLER.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rules are in code, so the agent cannot leak the answer: Agent 1 never sees the experimental structure and its task prompt contains no PDB ID. The baseline uses the same search and MODELLER but picks the top-ranked template and the lowest-DOPE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and coverage are from the profile alignment over the full sequence. GA341 near 1 means a reliable fold; z-DOPE below 0 is native-like. Claude built three templates per target and wrote down the expected failure region before any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over the CASP evaluation unit. TM-score and GDT-TS reward the fraction of the structure that is right; RMSD is dominated by the worst parts. Our TM-score matches the TMscore program on all six models.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PowerPoint charts: right-click → Edit Data to change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 experimental (7UX8). After superposing on the C-terminal domain, MODELLER's N-terminal block (blue) and the native one (grey) sit in different places. Claude had flagged this domain-orientation risk in Agent 1. Likely cause (Agent 2, not tested): in this family the N-terminal helices form the dimer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predicted this failure before evaluation: Agent 1 noted that residues ~60–104 are an insertion relative to every template and would probably be unreliable.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8 hits of the profile search are WhiB-family regulators; AlphaFold Server's own template search used the same family. With a third of the evaluation unit uncovered, TM ≈ 0.52 is close to the best this template can give.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same leakage rules; only the decisions differ. Claude built alternatives on every target but ended up with the fixed rule's template each time. Its value was the explicit, checkable reasoning and correct risk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TM-score gap is split by template coverage: each model's TM-score is recomputed over template-covered residues only (normalised by the full EU); the rest of the gap is in uncovered residues. The two parts use separate superpositions, so the split is approximate. Homologues at 30–40% identity typically differ by 1.5–2.5 Å, which caps how close a copied template can 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targets is a small sample: these are case studies, not trends.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 conda env create -f environment.yml; tbm run-all; tbm report; python scripts/make_slides.py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365760"/>
          </a:xfrm>
          <a:prstGeom prst="rect">
            <a:avLst/>
          </a:prstGeom>
          <a:noFill/>
        </p:spPr>
        <p:txBody>
          <a:bodyPr wrap="square" anchor="t" lIns="45720" rIns="45720" tIns="27432" bIns="27432">
            <a:spAutoFit/>
          </a:bodyPr>
          <a:lstStyle/>
          <a:p>
            <a:pPr algn="l">
              <a:spcAft>
                <a:spcPts val="600"/>
              </a:spcAft>
            </a:pPr>
            <a:r>
              <a:rPr sz="1400" b="1">
                <a:solidFill>
                  <a:srgbClr val="2A78D6"/>
                </a:solidFill>
                <a:latin typeface="Calibri"/>
              </a:rPr>
              <a:t>CMP_SC 8170 · PROJECT 2</a:t>
            </a:r>
          </a:p>
        </p:txBody>
      </p:sp>
      <p:sp>
        <p:nvSpPr>
          <p:cNvPr id="4" name="TextBox 3"/>
          <p:cNvSpPr txBox="1"/>
          <p:nvPr/>
        </p:nvSpPr>
        <p:spPr>
          <a:xfrm>
            <a:off x="822960" y="1965960"/>
            <a:ext cx="10515600" cy="1645920"/>
          </a:xfrm>
          <a:prstGeom prst="rect">
            <a:avLst/>
          </a:prstGeom>
          <a:noFill/>
        </p:spPr>
        <p:txBody>
          <a:bodyPr wrap="square" anchor="t" lIns="45720" rIns="45720" tIns="27432" bIns="27432">
            <a:spAutoFit/>
          </a:bodyPr>
          <a:lstStyle/>
          <a:p>
            <a:pPr algn="l">
              <a:spcAft>
                <a:spcPts val="600"/>
              </a:spcAft>
            </a:pPr>
            <a:r>
              <a:rPr sz="4000" b="1">
                <a:solidFill>
                  <a:srgbClr val="0B0B0B"/>
                </a:solidFill>
                <a:latin typeface="Calibri"/>
              </a:rPr>
              <a:t>Template-Based Modeling vs AlphaFold3 on CASP15 Targets</a:t>
            </a:r>
          </a:p>
        </p:txBody>
      </p:sp>
      <p:sp>
        <p:nvSpPr>
          <p:cNvPr id="5" name="TextBox 4"/>
          <p:cNvSpPr txBox="1"/>
          <p:nvPr/>
        </p:nvSpPr>
        <p:spPr>
          <a:xfrm>
            <a:off x="822960" y="3520440"/>
            <a:ext cx="10515600" cy="822960"/>
          </a:xfrm>
          <a:prstGeom prst="rect">
            <a:avLst/>
          </a:prstGeom>
          <a:noFill/>
        </p:spPr>
        <p:txBody>
          <a:bodyPr wrap="square" anchor="t" lIns="45720" rIns="45720" tIns="27432" bIns="27432">
            <a:spAutoFit/>
          </a:bodyPr>
          <a:lstStyle/>
          <a:p>
            <a:pPr algn="l">
              <a:spcAft>
                <a:spcPts val="600"/>
              </a:spcAft>
            </a:pPr>
            <a:r>
              <a:rPr sz="2000" b="0">
                <a:solidFill>
                  <a:srgbClr val="52514E"/>
                </a:solidFill>
                <a:latin typeface="Calibri"/>
              </a:rPr>
              <a:t>An AI-assisted MODELLER pipeline coordinated by Claude, evaluated against experimental structures</a:t>
            </a:r>
          </a:p>
        </p:txBody>
      </p:sp>
      <p:sp>
        <p:nvSpPr>
          <p:cNvPr id="6" name="TextBox 5"/>
          <p:cNvSpPr txBox="1"/>
          <p:nvPr/>
        </p:nvSpPr>
        <p:spPr>
          <a:xfrm>
            <a:off x="822960" y="4937760"/>
            <a:ext cx="10515600" cy="365760"/>
          </a:xfrm>
          <a:prstGeom prst="rect">
            <a:avLst/>
          </a:prstGeom>
          <a:noFill/>
        </p:spPr>
        <p:txBody>
          <a:bodyPr wrap="square" anchor="t" lIns="45720" rIns="45720" tIns="27432" bIns="27432">
            <a:spAutoFit/>
          </a:bodyPr>
          <a:lstStyle/>
          <a:p>
            <a:pPr algn="l">
              <a:spcAft>
                <a:spcPts val="600"/>
              </a:spcAft>
            </a:pPr>
            <a:r>
              <a:rPr sz="1600" b="0">
                <a:solidFill>
                  <a:srgbClr val="0B0B0B"/>
                </a:solidFill>
                <a:latin typeface="Calibri"/>
              </a:rPr>
              <a:t>Parthaw Goswami · Vinaya Santhosh Kumar · Weisi Liu · Arwa Mashaqbeh</a:t>
            </a:r>
          </a:p>
        </p:txBody>
      </p:sp>
      <p:sp>
        <p:nvSpPr>
          <p:cNvPr id="7" name="TextBox 6"/>
          <p:cNvSpPr txBox="1"/>
          <p:nvPr/>
        </p:nvSpPr>
        <p:spPr>
          <a:xfrm>
            <a:off x="822960" y="5349240"/>
            <a:ext cx="10515600" cy="3657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Targets: T1124 (TBM-easy) · T1127 (TBM-hard) · T1151s2 (FM/TBM)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RESEARCH QUESTION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Where does template-based modeling fail?</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2</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17320"/>
            <a:ext cx="5120640" cy="4114800"/>
          </a:xfrm>
          <a:prstGeom prst="rect">
            <a:avLst/>
          </a:prstGeom>
          <a:noFill/>
        </p:spPr>
        <p:txBody>
          <a:bodyPr wrap="square" anchor="t" lIns="45720" rIns="45720" tIns="27432" bIns="27432">
            <a:spAutoFit/>
          </a:bodyPr>
          <a:lstStyle/>
          <a:p>
            <a:pPr algn="l">
              <a:spcAft>
                <a:spcPts val="1200"/>
              </a:spcAft>
            </a:pPr>
            <a:r>
              <a:rPr sz="1600" b="0">
                <a:solidFill>
                  <a:srgbClr val="0B0B0B"/>
                </a:solidFill>
                <a:latin typeface="Calibri"/>
              </a:rPr>
              <a:t>•  Compare MODELLER (template-based) with AlphaFold3 (deep learning) on three CASP15 targets of increasing difficulty.</a:t>
            </a:r>
          </a:p>
          <a:p>
            <a:pPr algn="l">
              <a:spcAft>
                <a:spcPts val="1200"/>
              </a:spcAft>
            </a:pPr>
            <a:r>
              <a:rPr sz="1600" b="0">
                <a:solidFill>
                  <a:srgbClr val="0B0B0B"/>
                </a:solidFill>
                <a:latin typeface="Calibri"/>
              </a:rPr>
              <a:t>•  Score both against the experimental structure over the CASP evaluation unit: TM-score, GDT-TS, lDDT, Cα RMSD.</a:t>
            </a:r>
          </a:p>
          <a:p>
            <a:pPr algn="l">
              <a:spcAft>
                <a:spcPts val="1200"/>
              </a:spcAft>
            </a:pPr>
            <a:r>
              <a:rPr sz="1600" b="0">
                <a:solidFill>
                  <a:srgbClr val="0B0B0B"/>
                </a:solidFill>
                <a:latin typeface="Calibri"/>
              </a:rPr>
              <a:t>•  Relate MODELLER's accuracy to template identity, coverage and alignment quality.</a:t>
            </a:r>
          </a:p>
          <a:p>
            <a:pPr algn="l">
              <a:spcAft>
                <a:spcPts val="1200"/>
              </a:spcAft>
            </a:pPr>
            <a:r>
              <a:rPr sz="1600" b="0">
                <a:solidFill>
                  <a:srgbClr val="0B0B0B"/>
                </a:solidFill>
                <a:latin typeface="Calibri"/>
              </a:rPr>
              <a:t>•  Test whether a Claude agent choosing templates changes the outcome versus a fixed-rule baseline.</a:t>
            </a:r>
          </a:p>
        </p:txBody>
      </p:sp>
      <p:graphicFrame>
        <p:nvGraphicFramePr>
          <p:cNvPr id="8" name="Table 7"/>
          <p:cNvGraphicFramePr>
            <a:graphicFrameLocks noGrp="1"/>
          </p:cNvGraphicFramePr>
          <p:nvPr/>
        </p:nvGraphicFramePr>
        <p:xfrm>
          <a:off x="6035040" y="1600200"/>
          <a:ext cx="5577840" cy="1755648"/>
        </p:xfrm>
        <a:graphic>
          <a:graphicData uri="http://schemas.openxmlformats.org/drawingml/2006/table">
            <a:tbl>
              <a:tblPr firstRow="1" bandRow="1">
                <a:tableStyleId>{5C22544A-7EE6-4342-B048-85BDC9FD1C3A}</a:tableStyleId>
              </a:tblPr>
              <a:tblGrid>
                <a:gridCol w="914400"/>
                <a:gridCol w="1143000"/>
                <a:gridCol w="822960"/>
                <a:gridCol w="1508760"/>
                <a:gridCol w="1188720"/>
              </a:tblGrid>
              <a:tr h="438912">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CASP class</a:t>
                      </a:r>
                    </a:p>
                  </a:txBody>
                  <a:tcPr marL="73152" marR="73152" marT="27432" marB="27432" anchor="ctr">
                    <a:solidFill>
                      <a:srgbClr val="0B0B0B"/>
                    </a:solidFill>
                  </a:tcPr>
                </a:tc>
                <a:tc>
                  <a:txBody>
                    <a:bodyPr wrap="square"/>
                    <a:lstStyle/>
                    <a:p>
                      <a:pPr algn="ctr"/>
                      <a:r>
                        <a:rPr sz="1300" b="1">
                          <a:solidFill>
                            <a:srgbClr val="FFFFFF"/>
                          </a:solidFill>
                          <a:latin typeface="Calibri"/>
                        </a:rPr>
                        <a:t>Length</a:t>
                      </a:r>
                    </a:p>
                  </a:txBody>
                  <a:tcPr marL="73152" marR="73152" marT="27432" marB="27432" anchor="ctr">
                    <a:solidFill>
                      <a:srgbClr val="0B0B0B"/>
                    </a:solidFill>
                  </a:tcPr>
                </a:tc>
                <a:tc>
                  <a:txBody>
                    <a:bodyPr wrap="square"/>
                    <a:lstStyle/>
                    <a:p>
                      <a:pPr algn="ctr"/>
                      <a:r>
                        <a:rPr sz="1300" b="1">
                          <a:solidFill>
                            <a:srgbClr val="FFFFFF"/>
                          </a:solidFill>
                          <a:latin typeface="Calibri"/>
                        </a:rPr>
                        <a:t>PDB</a:t>
                      </a:r>
                    </a:p>
                  </a:txBody>
                  <a:tcPr marL="73152" marR="73152" marT="27432" marB="27432" anchor="ctr">
                    <a:solidFill>
                      <a:srgbClr val="0B0B0B"/>
                    </a:solidFill>
                  </a:tcPr>
                </a:tc>
                <a:tc>
                  <a:txBody>
                    <a:bodyPr wrap="square"/>
                    <a:lstStyle/>
                    <a:p>
                      <a:pPr algn="ctr"/>
                      <a:r>
                        <a:rPr sz="1300" b="1">
                          <a:solidFill>
                            <a:srgbClr val="FFFFFF"/>
                          </a:solidFill>
                          <a:latin typeface="Calibri"/>
                        </a:rPr>
                        <a:t>Evaluation unit</a:t>
                      </a:r>
                    </a:p>
                  </a:txBody>
                  <a:tcPr marL="73152" marR="73152" marT="27432" marB="27432" anchor="ctr">
                    <a:solidFill>
                      <a:srgbClr val="0B0B0B"/>
                    </a:solidFill>
                  </a:tcPr>
                </a:tc>
              </a:tr>
              <a:tr h="438912">
                <a:tc>
                  <a:txBody>
                    <a:bodyPr wrap="square"/>
                    <a:lstStyle/>
                    <a:p>
                      <a:pPr algn="l"/>
                      <a:r>
                        <a:rPr sz="1300" b="0">
                          <a:solidFill>
                            <a:srgbClr val="0B0B0B"/>
                          </a:solidFill>
                          <a:latin typeface="Calibri"/>
                        </a:rPr>
                        <a:t>T1124</a:t>
                      </a:r>
                    </a:p>
                  </a:txBody>
                  <a:tcPr marL="73152" marR="73152" marT="27432" marB="27432" anchor="ctr">
                    <a:solidFill>
                      <a:srgbClr val="FFFFFF"/>
                    </a:solidFill>
                  </a:tcPr>
                </a:tc>
                <a:tc>
                  <a:txBody>
                    <a:bodyPr wrap="square"/>
                    <a:lstStyle/>
                    <a:p>
                      <a:pPr algn="ctr"/>
                      <a:r>
                        <a:rPr sz="1300" b="0">
                          <a:solidFill>
                            <a:srgbClr val="0B0B0B"/>
                          </a:solidFill>
                          <a:latin typeface="Calibri"/>
                        </a:rPr>
                        <a:t>TBM-easy</a:t>
                      </a:r>
                    </a:p>
                  </a:txBody>
                  <a:tcPr marL="73152" marR="73152" marT="27432" marB="27432" anchor="ctr">
                    <a:solidFill>
                      <a:srgbClr val="FFFFFF"/>
                    </a:solidFill>
                  </a:tcPr>
                </a:tc>
                <a:tc>
                  <a:txBody>
                    <a:bodyPr wrap="square"/>
                    <a:lstStyle/>
                    <a:p>
                      <a:pPr algn="ctr"/>
                      <a:r>
                        <a:rPr sz="1300" b="0">
                          <a:solidFill>
                            <a:srgbClr val="0B0B0B"/>
                          </a:solidFill>
                          <a:latin typeface="Calibri"/>
                        </a:rPr>
                        <a:t>384</a:t>
                      </a:r>
                    </a:p>
                  </a:txBody>
                  <a:tcPr marL="73152" marR="73152" marT="27432" marB="27432" anchor="ctr">
                    <a:solidFill>
                      <a:srgbClr val="FFFFFF"/>
                    </a:solidFill>
                  </a:tcPr>
                </a:tc>
                <a:tc>
                  <a:txBody>
                    <a:bodyPr wrap="square"/>
                    <a:lstStyle/>
                    <a:p>
                      <a:pPr algn="ctr"/>
                      <a:r>
                        <a:rPr sz="1300" b="0">
                          <a:solidFill>
                            <a:srgbClr val="0B0B0B"/>
                          </a:solidFill>
                          <a:latin typeface="Calibri"/>
                        </a:rPr>
                        <a:t>7UX8</a:t>
                      </a:r>
                    </a:p>
                  </a:txBody>
                  <a:tcPr marL="73152" marR="73152" marT="27432" marB="27432" anchor="ctr">
                    <a:solidFill>
                      <a:srgbClr val="FFFFFF"/>
                    </a:solidFill>
                  </a:tcPr>
                </a:tc>
                <a:tc>
                  <a:txBody>
                    <a:bodyPr wrap="square"/>
                    <a:lstStyle/>
                    <a:p>
                      <a:pPr algn="ctr"/>
                      <a:r>
                        <a:rPr sz="1300" b="0">
                          <a:solidFill>
                            <a:srgbClr val="0B0B0B"/>
                          </a:solidFill>
                          <a:latin typeface="Calibri"/>
                        </a:rPr>
                        <a:t>7–384</a:t>
                      </a:r>
                    </a:p>
                  </a:txBody>
                  <a:tcPr marL="73152" marR="73152" marT="27432" marB="27432" anchor="ctr">
                    <a:solidFill>
                      <a:srgbClr val="FFFFFF"/>
                    </a:solidFill>
                  </a:tcPr>
                </a:tc>
              </a:tr>
              <a:tr h="438912">
                <a:tc>
                  <a:txBody>
                    <a:bodyPr wrap="square"/>
                    <a:lstStyle/>
                    <a:p>
                      <a:pPr algn="l"/>
                      <a:r>
                        <a:rPr sz="1300" b="0">
                          <a:solidFill>
                            <a:srgbClr val="0B0B0B"/>
                          </a:solidFill>
                          <a:latin typeface="Calibri"/>
                        </a:rPr>
                        <a:t>T1127</a:t>
                      </a:r>
                    </a:p>
                  </a:txBody>
                  <a:tcPr marL="73152" marR="73152" marT="27432" marB="27432" anchor="ctr">
                    <a:solidFill>
                      <a:srgbClr val="F5F4F1"/>
                    </a:solidFill>
                  </a:tcPr>
                </a:tc>
                <a:tc>
                  <a:txBody>
                    <a:bodyPr wrap="square"/>
                    <a:lstStyle/>
                    <a:p>
                      <a:pPr algn="ctr"/>
                      <a:r>
                        <a:rPr sz="1300" b="0">
                          <a:solidFill>
                            <a:srgbClr val="0B0B0B"/>
                          </a:solidFill>
                          <a:latin typeface="Calibri"/>
                        </a:rPr>
                        <a:t>TBM-hard</a:t>
                      </a:r>
                    </a:p>
                  </a:txBody>
                  <a:tcPr marL="73152" marR="73152" marT="27432" marB="27432" anchor="ctr">
                    <a:solidFill>
                      <a:srgbClr val="F5F4F1"/>
                    </a:solidFill>
                  </a:tcPr>
                </a:tc>
                <a:tc>
                  <a:txBody>
                    <a:bodyPr wrap="square"/>
                    <a:lstStyle/>
                    <a:p>
                      <a:pPr algn="ctr"/>
                      <a:r>
                        <a:rPr sz="1300" b="0">
                          <a:solidFill>
                            <a:srgbClr val="0B0B0B"/>
                          </a:solidFill>
                          <a:latin typeface="Calibri"/>
                        </a:rPr>
                        <a:t>211</a:t>
                      </a:r>
                    </a:p>
                  </a:txBody>
                  <a:tcPr marL="73152" marR="73152" marT="27432" marB="27432" anchor="ctr">
                    <a:solidFill>
                      <a:srgbClr val="F5F4F1"/>
                    </a:solidFill>
                  </a:tcPr>
                </a:tc>
                <a:tc>
                  <a:txBody>
                    <a:bodyPr wrap="square"/>
                    <a:lstStyle/>
                    <a:p>
                      <a:pPr algn="ctr"/>
                      <a:r>
                        <a:rPr sz="1300" b="0">
                          <a:solidFill>
                            <a:srgbClr val="0B0B0B"/>
                          </a:solidFill>
                          <a:latin typeface="Calibri"/>
                        </a:rPr>
                        <a:t>8XBP</a:t>
                      </a:r>
                    </a:p>
                  </a:txBody>
                  <a:tcPr marL="73152" marR="73152" marT="27432" marB="27432" anchor="ctr">
                    <a:solidFill>
                      <a:srgbClr val="F5F4F1"/>
                    </a:solidFill>
                  </a:tcPr>
                </a:tc>
                <a:tc>
                  <a:txBody>
                    <a:bodyPr wrap="square"/>
                    <a:lstStyle/>
                    <a:p>
                      <a:pPr algn="ctr"/>
                      <a:r>
                        <a:rPr sz="1300" b="0">
                          <a:solidFill>
                            <a:srgbClr val="0B0B0B"/>
                          </a:solidFill>
                          <a:latin typeface="Calibri"/>
                        </a:rPr>
                        <a:t>6–210</a:t>
                      </a:r>
                    </a:p>
                  </a:txBody>
                  <a:tcPr marL="73152" marR="73152" marT="27432" marB="27432" anchor="ctr">
                    <a:solidFill>
                      <a:srgbClr val="F5F4F1"/>
                    </a:solidFill>
                  </a:tcPr>
                </a:tc>
              </a:tr>
              <a:tr h="438912">
                <a:tc>
                  <a:txBody>
                    <a:bodyPr wrap="square"/>
                    <a:lstStyle/>
                    <a:p>
                      <a:pPr algn="l"/>
                      <a:r>
                        <a:rPr sz="1300" b="0">
                          <a:solidFill>
                            <a:srgbClr val="0B0B0B"/>
                          </a:solidFill>
                          <a:latin typeface="Calibri"/>
                        </a:rPr>
                        <a:t>T1151s2</a:t>
                      </a:r>
                    </a:p>
                  </a:txBody>
                  <a:tcPr marL="73152" marR="73152" marT="27432" marB="27432" anchor="ctr">
                    <a:solidFill>
                      <a:srgbClr val="FFFFFF"/>
                    </a:solidFill>
                  </a:tcPr>
                </a:tc>
                <a:tc>
                  <a:txBody>
                    <a:bodyPr wrap="square"/>
                    <a:lstStyle/>
                    <a:p>
                      <a:pPr algn="ctr"/>
                      <a:r>
                        <a:rPr sz="1300" b="0">
                          <a:solidFill>
                            <a:srgbClr val="0B0B0B"/>
                          </a:solidFill>
                          <a:latin typeface="Calibri"/>
                        </a:rPr>
                        <a:t>FM/TBM</a:t>
                      </a:r>
                    </a:p>
                  </a:txBody>
                  <a:tcPr marL="73152" marR="73152" marT="27432" marB="27432" anchor="ctr">
                    <a:solidFill>
                      <a:srgbClr val="FFFFFF"/>
                    </a:solidFill>
                  </a:tcPr>
                </a:tc>
                <a:tc>
                  <a:txBody>
                    <a:bodyPr wrap="square"/>
                    <a:lstStyle/>
                    <a:p>
                      <a:pPr algn="ctr"/>
                      <a:r>
                        <a:rPr sz="1300" b="0">
                          <a:solidFill>
                            <a:srgbClr val="0B0B0B"/>
                          </a:solidFill>
                          <a:latin typeface="Calibri"/>
                        </a:rPr>
                        <a:t>116</a:t>
                      </a:r>
                    </a:p>
                  </a:txBody>
                  <a:tcPr marL="73152" marR="73152" marT="27432" marB="27432" anchor="ctr">
                    <a:solidFill>
                      <a:srgbClr val="FFFFFF"/>
                    </a:solidFill>
                  </a:tcPr>
                </a:tc>
                <a:tc>
                  <a:txBody>
                    <a:bodyPr wrap="square"/>
                    <a:lstStyle/>
                    <a:p>
                      <a:pPr algn="ctr"/>
                      <a:r>
                        <a:rPr sz="1300" b="0">
                          <a:solidFill>
                            <a:srgbClr val="0B0B0B"/>
                          </a:solidFill>
                          <a:latin typeface="Calibri"/>
                        </a:rPr>
                        <a:t>8D5V (chain A)</a:t>
                      </a:r>
                    </a:p>
                  </a:txBody>
                  <a:tcPr marL="73152" marR="73152" marT="27432" marB="27432" anchor="ctr">
                    <a:solidFill>
                      <a:srgbClr val="FFFFFF"/>
                    </a:solidFill>
                  </a:tcPr>
                </a:tc>
                <a:tc>
                  <a:txBody>
                    <a:bodyPr wrap="square"/>
                    <a:lstStyle/>
                    <a:p>
                      <a:pPr algn="ctr"/>
                      <a:r>
                        <a:rPr sz="1300" b="0">
                          <a:solidFill>
                            <a:srgbClr val="0B0B0B"/>
                          </a:solidFill>
                          <a:latin typeface="Calibri"/>
                        </a:rPr>
                        <a:t>28–111</a:t>
                      </a:r>
                    </a:p>
                  </a:txBody>
                  <a:tcPr marL="73152" marR="73152" marT="27432" marB="27432" anchor="ctr">
                    <a:solidFill>
                      <a:srgbClr val="FFFFFF"/>
                    </a:solidFill>
                  </a:tcPr>
                </a:tc>
              </a:tr>
            </a:tbl>
          </a:graphicData>
        </a:graphic>
      </p:graphicFrame>
      <p:sp>
        <p:nvSpPr>
          <p:cNvPr id="9" name="TextBox 8"/>
          <p:cNvSpPr txBox="1"/>
          <p:nvPr/>
        </p:nvSpPr>
        <p:spPr>
          <a:xfrm>
            <a:off x="6035040" y="3611880"/>
            <a:ext cx="5577840" cy="109728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T1151s2 replaces the original FM/TBM target T1123, for which the profile search finds no template in the pre-2022 PDB (best E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Pipeline: Claude coordinates, tools compute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3</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ounded Rectangle 6"/>
          <p:cNvSpPr/>
          <p:nvPr/>
        </p:nvSpPr>
        <p:spPr>
          <a:xfrm>
            <a:off x="548640" y="2560320"/>
            <a:ext cx="173736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Target FASTA</a:t>
            </a:r>
          </a:p>
          <a:p>
            <a:pPr algn="ctr"/>
            <a:r>
              <a:rPr sz="1150">
                <a:solidFill>
                  <a:srgbClr val="52514E"/>
                </a:solidFill>
                <a:latin typeface="Calibri"/>
              </a:rPr>
              <a:t>CASP15 sequence</a:t>
            </a:r>
          </a:p>
        </p:txBody>
      </p:sp>
      <p:sp>
        <p:nvSpPr>
          <p:cNvPr id="8" name="Rounded Rectangle 7"/>
          <p:cNvSpPr/>
          <p:nvPr/>
        </p:nvSpPr>
        <p:spPr>
          <a:xfrm>
            <a:off x="2926080" y="1600200"/>
            <a:ext cx="27432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Agent 1 · Claude</a:t>
            </a:r>
          </a:p>
          <a:p>
            <a:pPr algn="ctr"/>
            <a:r>
              <a:rPr sz="1150">
                <a:solidFill>
                  <a:srgbClr val="52514E"/>
                </a:solidFill>
                <a:latin typeface="Calibri"/>
              </a:rPr>
              <a:t>profile HMM search → leakage filter → profile alignment → automodel → pick model</a:t>
            </a:r>
          </a:p>
        </p:txBody>
      </p:sp>
      <p:sp>
        <p:nvSpPr>
          <p:cNvPr id="9" name="Rounded Rectangle 8"/>
          <p:cNvSpPr/>
          <p:nvPr/>
        </p:nvSpPr>
        <p:spPr>
          <a:xfrm>
            <a:off x="2926080" y="3520440"/>
            <a:ext cx="27432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EB6834"/>
                </a:solidFill>
                <a:latin typeface="Calibri"/>
              </a:rPr>
              <a:t>AlphaFold3 Server</a:t>
            </a:r>
          </a:p>
          <a:p>
            <a:pPr algn="ctr"/>
            <a:r>
              <a:rPr sz="1150">
                <a:solidFill>
                  <a:srgbClr val="52514E"/>
                </a:solidFill>
                <a:latin typeface="Calibri"/>
              </a:rPr>
              <a:t>default settings, top-ranked model</a:t>
            </a:r>
          </a:p>
        </p:txBody>
      </p:sp>
      <p:sp>
        <p:nvSpPr>
          <p:cNvPr id="10" name="Rounded Rectangle 9"/>
          <p:cNvSpPr/>
          <p:nvPr/>
        </p:nvSpPr>
        <p:spPr>
          <a:xfrm>
            <a:off x="6309360" y="2560320"/>
            <a:ext cx="237744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Agent 2 · Claude</a:t>
            </a:r>
          </a:p>
          <a:p>
            <a:pPr algn="ctr"/>
            <a:r>
              <a:rPr sz="1150">
                <a:solidFill>
                  <a:srgbClr val="52514E"/>
                </a:solidFill>
                <a:latin typeface="Calibri"/>
              </a:rPr>
              <a:t>TM, GDT-TS, lDDT, RMSD vs experimental structure</a:t>
            </a:r>
          </a:p>
        </p:txBody>
      </p:sp>
      <p:sp>
        <p:nvSpPr>
          <p:cNvPr id="11" name="Rounded Rectangle 10"/>
          <p:cNvSpPr/>
          <p:nvPr/>
        </p:nvSpPr>
        <p:spPr>
          <a:xfrm>
            <a:off x="9326880" y="2560320"/>
            <a:ext cx="22860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Report</a:t>
            </a:r>
          </a:p>
          <a:p>
            <a:pPr algn="ctr"/>
            <a:r>
              <a:rPr sz="1150">
                <a:solidFill>
                  <a:srgbClr val="52514E"/>
                </a:solidFill>
                <a:latin typeface="Calibri"/>
              </a:rPr>
              <a:t>tables, figures, Claude's draft interpretation</a:t>
            </a:r>
          </a:p>
        </p:txBody>
      </p:sp>
      <p:sp>
        <p:nvSpPr>
          <p:cNvPr id="12" name="Rounded Rectangle 11"/>
          <p:cNvSpPr/>
          <p:nvPr/>
        </p:nvSpPr>
        <p:spPr>
          <a:xfrm>
            <a:off x="6309360" y="4572000"/>
            <a:ext cx="2377440" cy="86868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9A9A96"/>
                </a:solidFill>
                <a:latin typeface="Calibri"/>
              </a:rPr>
              <a:t>Experimental structure</a:t>
            </a:r>
          </a:p>
          <a:p>
            <a:pPr algn="ctr"/>
            <a:r>
              <a:rPr sz="1150">
                <a:solidFill>
                  <a:srgbClr val="52514E"/>
                </a:solidFill>
                <a:latin typeface="Calibri"/>
              </a:rPr>
              <a:t>RCSB PDB, Agent 2 only</a:t>
            </a:r>
          </a:p>
        </p:txBody>
      </p:sp>
      <p:cxnSp>
        <p:nvCxnSpPr>
          <p:cNvPr id="13" name="Connector 12"/>
          <p:cNvCxnSpPr/>
          <p:nvPr/>
        </p:nvCxnSpPr>
        <p:spPr>
          <a:xfrm flipV="1">
            <a:off x="2286000" y="2171700"/>
            <a:ext cx="640080" cy="7543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86000" y="3337560"/>
            <a:ext cx="640080" cy="754379"/>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69280" y="2171700"/>
            <a:ext cx="640080" cy="7543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337560"/>
            <a:ext cx="640080" cy="754379"/>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498079" y="3703320"/>
            <a:ext cx="0" cy="8686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3127248"/>
            <a:ext cx="640080" cy="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5715000"/>
            <a:ext cx="11064240" cy="548640"/>
          </a:xfrm>
          <a:prstGeom prst="rect">
            <a:avLst/>
          </a:prstGeom>
          <a:noFill/>
        </p:spPr>
        <p:txBody>
          <a:bodyPr wrap="square" anchor="t" lIns="45720" rIns="45720" tIns="27432" bIns="27432">
            <a:spAutoFit/>
          </a:bodyPr>
          <a:lstStyle/>
          <a:p>
            <a:pPr algn="l">
              <a:spcAft>
                <a:spcPts val="600"/>
              </a:spcAft>
            </a:pPr>
            <a:r>
              <a:rPr sz="1300" b="0">
                <a:solidFill>
                  <a:srgbClr val="52514E"/>
                </a:solidFill>
                <a:latin typeface="Calibri"/>
              </a:rPr>
              <a:t>Every Claude step (reasoning summary, tool calls, results) is saved as agent_transcript.md; a score-only baseline runs the same tools without Claude.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Template search: iterative profile HMM (jackhmmer)</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4</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ounded Rectangle 6"/>
          <p:cNvSpPr/>
          <p:nvPr/>
        </p:nvSpPr>
        <p:spPr>
          <a:xfrm>
            <a:off x="548640" y="1463040"/>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Target sequence</a:t>
            </a:r>
          </a:p>
          <a:p>
            <a:pPr algn="ctr"/>
            <a:r>
              <a:rPr sz="1150">
                <a:solidFill>
                  <a:srgbClr val="52514E"/>
                </a:solidFill>
                <a:latin typeface="Calibri"/>
              </a:rPr>
              <a:t>tags masked (His, TEV…)</a:t>
            </a:r>
          </a:p>
        </p:txBody>
      </p:sp>
      <p:cxnSp>
        <p:nvCxnSpPr>
          <p:cNvPr id="8" name="Connector 7"/>
          <p:cNvCxnSpPr/>
          <p:nvPr/>
        </p:nvCxnSpPr>
        <p:spPr>
          <a:xfrm>
            <a:off x="2468880" y="2176272"/>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2359152"/>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Round 1</a:t>
            </a:r>
          </a:p>
          <a:p>
            <a:pPr algn="ctr"/>
            <a:r>
              <a:rPr sz="1150">
                <a:solidFill>
                  <a:srgbClr val="52514E"/>
                </a:solidFill>
                <a:latin typeface="Calibri"/>
              </a:rPr>
              <a:t>sequence vs PDB chains</a:t>
            </a:r>
          </a:p>
        </p:txBody>
      </p:sp>
      <p:cxnSp>
        <p:nvCxnSpPr>
          <p:cNvPr id="10" name="Connector 9"/>
          <p:cNvCxnSpPr/>
          <p:nvPr/>
        </p:nvCxnSpPr>
        <p:spPr>
          <a:xfrm>
            <a:off x="2468880" y="3072384"/>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255264"/>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Profile HMM</a:t>
            </a:r>
          </a:p>
          <a:p>
            <a:pPr algn="ctr"/>
            <a:r>
              <a:rPr sz="1150">
                <a:solidFill>
                  <a:srgbClr val="52514E"/>
                </a:solidFill>
                <a:latin typeface="Calibri"/>
              </a:rPr>
              <a:t>from hits with E ≤ 1e-3</a:t>
            </a:r>
          </a:p>
        </p:txBody>
      </p:sp>
      <p:cxnSp>
        <p:nvCxnSpPr>
          <p:cNvPr id="12" name="Connector 11"/>
          <p:cNvCxnSpPr/>
          <p:nvPr/>
        </p:nvCxnSpPr>
        <p:spPr>
          <a:xfrm>
            <a:off x="2468880" y="3968496"/>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4151376"/>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Rounds 2–3</a:t>
            </a:r>
          </a:p>
          <a:p>
            <a:pPr algn="ctr"/>
            <a:r>
              <a:rPr sz="1150">
                <a:solidFill>
                  <a:srgbClr val="52514E"/>
                </a:solidFill>
                <a:latin typeface="Calibri"/>
              </a:rPr>
              <a:t>profile vs PDB chains</a:t>
            </a:r>
          </a:p>
        </p:txBody>
      </p:sp>
      <p:cxnSp>
        <p:nvCxnSpPr>
          <p:cNvPr id="14" name="Connector 13"/>
          <p:cNvCxnSpPr/>
          <p:nvPr/>
        </p:nvCxnSpPr>
        <p:spPr>
          <a:xfrm>
            <a:off x="2468880" y="4864608"/>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5047488"/>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Templates</a:t>
            </a:r>
          </a:p>
          <a:p>
            <a:pPr algn="ctr"/>
            <a:r>
              <a:rPr sz="1150">
                <a:solidFill>
                  <a:srgbClr val="52514E"/>
                </a:solidFill>
                <a:latin typeface="Calibri"/>
              </a:rPr>
              <a:t>ranked, leakage-filtered</a:t>
            </a:r>
          </a:p>
        </p:txBody>
      </p:sp>
      <p:sp>
        <p:nvSpPr>
          <p:cNvPr id="16" name="TextBox 15"/>
          <p:cNvSpPr txBox="1"/>
          <p:nvPr/>
        </p:nvSpPr>
        <p:spPr>
          <a:xfrm>
            <a:off x="4846320" y="1463040"/>
            <a:ext cx="6766560" cy="2194560"/>
          </a:xfrm>
          <a:prstGeom prst="rect">
            <a:avLst/>
          </a:prstGeom>
          <a:noFill/>
        </p:spPr>
        <p:txBody>
          <a:bodyPr wrap="square" anchor="t" lIns="45720" rIns="45720" tIns="27432" bIns="27432">
            <a:spAutoFit/>
          </a:bodyPr>
          <a:lstStyle/>
          <a:p>
            <a:pPr algn="l">
              <a:spcAft>
                <a:spcPts val="800"/>
              </a:spcAft>
            </a:pPr>
            <a:r>
              <a:rPr sz="1400" b="0">
                <a:solidFill>
                  <a:srgbClr val="0B0B0B"/>
                </a:solidFill>
                <a:latin typeface="Calibri"/>
              </a:rPr>
              <a:t>•  Database: all PDB chains released before 2022-05-01 (CASP15 season start); later entries cannot enter the profile or the template list.</a:t>
            </a:r>
          </a:p>
          <a:p>
            <a:pPr algn="l">
              <a:spcAft>
                <a:spcPts val="800"/>
              </a:spcAft>
            </a:pPr>
            <a:r>
              <a:rPr sz="1400" b="0">
                <a:solidFill>
                  <a:srgbClr val="0B0B0B"/>
                </a:solidFill>
                <a:latin typeface="Calibri"/>
              </a:rPr>
              <a:t>•  Alignment for MODELLER: target and template are both aligned to the final profile (hmmalign); residues in the same profile column are paired.</a:t>
            </a:r>
          </a:p>
          <a:p>
            <a:pPr algn="l">
              <a:spcAft>
                <a:spcPts val="800"/>
              </a:spcAft>
            </a:pPr>
            <a:r>
              <a:rPr sz="1400" b="0">
                <a:solidFill>
                  <a:srgbClr val="0B0B0B"/>
                </a:solidFill>
                <a:latin typeface="Calibri"/>
              </a:rPr>
              <a:t>•  Leakage filter, ranking and MODELLER settings are the same for Claude and the baseline.</a:t>
            </a:r>
          </a:p>
        </p:txBody>
      </p:sp>
      <p:graphicFrame>
        <p:nvGraphicFramePr>
          <p:cNvPr id="17" name="Table 16"/>
          <p:cNvGraphicFramePr>
            <a:graphicFrameLocks noGrp="1"/>
          </p:cNvGraphicFramePr>
          <p:nvPr/>
        </p:nvGraphicFramePr>
        <p:xfrm>
          <a:off x="4846320" y="3886200"/>
          <a:ext cx="6766560" cy="1755648"/>
        </p:xfrm>
        <a:graphic>
          <a:graphicData uri="http://schemas.openxmlformats.org/drawingml/2006/table">
            <a:tbl>
              <a:tblPr firstRow="1" bandRow="1">
                <a:tableStyleId>{5C22544A-7EE6-4342-B048-85BDC9FD1C3A}</a:tableStyleId>
              </a:tblPr>
              <a:tblGrid>
                <a:gridCol w="1097280"/>
                <a:gridCol w="1143000"/>
                <a:gridCol w="822960"/>
                <a:gridCol w="1508760"/>
                <a:gridCol w="1097280"/>
                <a:gridCol w="1097280"/>
              </a:tblGrid>
              <a:tr h="438912">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Rounds</a:t>
                      </a:r>
                    </a:p>
                  </a:txBody>
                  <a:tcPr marL="73152" marR="73152" marT="27432" marB="27432" anchor="ctr">
                    <a:solidFill>
                      <a:srgbClr val="0B0B0B"/>
                    </a:solidFill>
                  </a:tcPr>
                </a:tc>
                <a:tc>
                  <a:txBody>
                    <a:bodyPr wrap="square"/>
                    <a:lstStyle/>
                    <a:p>
                      <a:pPr algn="ctr"/>
                      <a:r>
                        <a:rPr sz="1300" b="1">
                          <a:solidFill>
                            <a:srgbClr val="FFFFFF"/>
                          </a:solidFill>
                          <a:latin typeface="Calibri"/>
                        </a:rPr>
                        <a:t>Hits</a:t>
                      </a:r>
                    </a:p>
                  </a:txBody>
                  <a:tcPr marL="73152" marR="73152" marT="27432" marB="27432" anchor="ctr">
                    <a:solidFill>
                      <a:srgbClr val="0B0B0B"/>
                    </a:solidFill>
                  </a:tcPr>
                </a:tc>
                <a:tc>
                  <a:txBody>
                    <a:bodyPr wrap="square"/>
                    <a:lstStyle/>
                    <a:p>
                      <a:pPr algn="ctr"/>
                      <a:r>
                        <a:rPr sz="1300" b="1">
                          <a:solidFill>
                            <a:srgbClr val="FFFFFF"/>
                          </a:solidFill>
                          <a:latin typeface="Calibri"/>
                        </a:rPr>
                        <a:t>Kept template</a:t>
                      </a:r>
                    </a:p>
                  </a:txBody>
                  <a:tcPr marL="73152" marR="73152" marT="27432" marB="27432" anchor="ctr">
                    <a:solidFill>
                      <a:srgbClr val="0B0B0B"/>
                    </a:solidFill>
                  </a:tcPr>
                </a:tc>
                <a:tc>
                  <a:txBody>
                    <a:bodyPr wrap="square"/>
                    <a:lstStyle/>
                    <a:p>
                      <a:pPr algn="ctr"/>
                      <a:r>
                        <a:rPr sz="1300" b="1">
                          <a:solidFill>
                            <a:srgbClr val="FFFFFF"/>
                          </a:solidFill>
                          <a:latin typeface="Calibri"/>
                        </a:rPr>
                        <a:t>E-value</a:t>
                      </a:r>
                    </a:p>
                  </a:txBody>
                  <a:tcPr marL="73152" marR="73152" marT="27432" marB="27432" anchor="ctr">
                    <a:solidFill>
                      <a:srgbClr val="0B0B0B"/>
                    </a:solidFill>
                  </a:tcPr>
                </a:tc>
                <a:tc>
                  <a:txBody>
                    <a:bodyPr wrap="square"/>
                    <a:lstStyle/>
                    <a:p>
                      <a:pPr algn="ctr"/>
                      <a:r>
                        <a:rPr sz="1300" b="1">
                          <a:solidFill>
                            <a:srgbClr val="FFFFFF"/>
                          </a:solidFill>
                          <a:latin typeface="Calibri"/>
                        </a:rPr>
                        <a:t>Identity</a:t>
                      </a:r>
                    </a:p>
                  </a:txBody>
                  <a:tcPr marL="73152" marR="73152" marT="27432" marB="27432" anchor="ctr">
                    <a:solidFill>
                      <a:srgbClr val="0B0B0B"/>
                    </a:solidFill>
                  </a:tcPr>
                </a:tc>
              </a:tr>
              <a:tr h="438912">
                <a:tc>
                  <a:txBody>
                    <a:bodyPr wrap="square"/>
                    <a:lstStyle/>
                    <a:p>
                      <a:pPr algn="l"/>
                      <a:r>
                        <a:rPr sz="1300" b="0">
                          <a:solidFill>
                            <a:srgbClr val="0B0B0B"/>
                          </a:solidFill>
                          <a:latin typeface="Calibri"/>
                        </a:rPr>
                        <a:t>T1124</a:t>
                      </a:r>
                    </a:p>
                  </a:txBody>
                  <a:tcPr marL="73152" marR="73152" marT="27432" marB="27432" anchor="ctr">
                    <a:solidFill>
                      <a:srgbClr val="FFFFFF"/>
                    </a:solidFill>
                  </a:tcPr>
                </a:tc>
                <a:tc>
                  <a:txBody>
                    <a:bodyPr wrap="square"/>
                    <a:lstStyle/>
                    <a:p>
                      <a:pPr algn="ctr"/>
                      <a:r>
                        <a:rPr sz="1300" b="0">
                          <a:solidFill>
                            <a:srgbClr val="0B0B0B"/>
                          </a:solidFill>
                          <a:latin typeface="Calibri"/>
                        </a:rPr>
                        <a:t>3</a:t>
                      </a:r>
                    </a:p>
                  </a:txBody>
                  <a:tcPr marL="73152" marR="73152" marT="27432" marB="27432" anchor="ctr">
                    <a:solidFill>
                      <a:srgbClr val="FFFFFF"/>
                    </a:solidFill>
                  </a:tcPr>
                </a:tc>
                <a:tc>
                  <a:txBody>
                    <a:bodyPr wrap="square"/>
                    <a:lstStyle/>
                    <a:p>
                      <a:pPr algn="ctr"/>
                      <a:r>
                        <a:rPr sz="1300" b="0">
                          <a:solidFill>
                            <a:srgbClr val="0B0B0B"/>
                          </a:solidFill>
                          <a:latin typeface="Calibri"/>
                        </a:rPr>
                        <a:t>250</a:t>
                      </a:r>
                    </a:p>
                  </a:txBody>
                  <a:tcPr marL="73152" marR="73152" marT="27432" marB="27432" anchor="ctr">
                    <a:solidFill>
                      <a:srgbClr val="FFFFFF"/>
                    </a:solidFill>
                  </a:tcPr>
                </a:tc>
                <a:tc>
                  <a:txBody>
                    <a:bodyPr wrap="square"/>
                    <a:lstStyle/>
                    <a:p>
                      <a:pPr algn="ctr"/>
                      <a:r>
                        <a:rPr sz="1300" b="0">
                          <a:solidFill>
                            <a:srgbClr val="0B0B0B"/>
                          </a:solidFill>
                          <a:latin typeface="Calibri"/>
                        </a:rPr>
                        <a:t>5I2H:A</a:t>
                      </a:r>
                    </a:p>
                  </a:txBody>
                  <a:tcPr marL="73152" marR="73152" marT="27432" marB="27432" anchor="ctr">
                    <a:solidFill>
                      <a:srgbClr val="FFFFFF"/>
                    </a:solidFill>
                  </a:tcPr>
                </a:tc>
                <a:tc>
                  <a:txBody>
                    <a:bodyPr wrap="square"/>
                    <a:lstStyle/>
                    <a:p>
                      <a:pPr algn="ctr"/>
                      <a:r>
                        <a:rPr sz="1300" b="0">
                          <a:solidFill>
                            <a:srgbClr val="0B0B0B"/>
                          </a:solidFill>
                          <a:latin typeface="Calibri"/>
                        </a:rPr>
                        <a:t>1e-68</a:t>
                      </a:r>
                    </a:p>
                  </a:txBody>
                  <a:tcPr marL="73152" marR="73152" marT="27432" marB="27432" anchor="ctr">
                    <a:solidFill>
                      <a:srgbClr val="FFFFFF"/>
                    </a:solidFill>
                  </a:tcPr>
                </a:tc>
                <a:tc>
                  <a:txBody>
                    <a:bodyPr wrap="square"/>
                    <a:lstStyle/>
                    <a:p>
                      <a:pPr algn="ctr"/>
                      <a:r>
                        <a:rPr sz="1300" b="0">
                          <a:solidFill>
                            <a:srgbClr val="0B0B0B"/>
                          </a:solidFill>
                          <a:latin typeface="Calibri"/>
                        </a:rPr>
                        <a:t>28%</a:t>
                      </a:r>
                    </a:p>
                  </a:txBody>
                  <a:tcPr marL="73152" marR="73152" marT="27432" marB="27432" anchor="ctr">
                    <a:solidFill>
                      <a:srgbClr val="FFFFFF"/>
                    </a:solidFill>
                  </a:tcPr>
                </a:tc>
              </a:tr>
              <a:tr h="438912">
                <a:tc>
                  <a:txBody>
                    <a:bodyPr wrap="square"/>
                    <a:lstStyle/>
                    <a:p>
                      <a:pPr algn="l"/>
                      <a:r>
                        <a:rPr sz="1300" b="0">
                          <a:solidFill>
                            <a:srgbClr val="0B0B0B"/>
                          </a:solidFill>
                          <a:latin typeface="Calibri"/>
                        </a:rPr>
                        <a:t>T1127</a:t>
                      </a:r>
                    </a:p>
                  </a:txBody>
                  <a:tcPr marL="73152" marR="73152" marT="27432" marB="27432" anchor="ctr">
                    <a:solidFill>
                      <a:srgbClr val="F5F4F1"/>
                    </a:solidFill>
                  </a:tcPr>
                </a:tc>
                <a:tc>
                  <a:txBody>
                    <a:bodyPr wrap="square"/>
                    <a:lstStyle/>
                    <a:p>
                      <a:pPr algn="ctr"/>
                      <a:r>
                        <a:rPr sz="1300" b="0">
                          <a:solidFill>
                            <a:srgbClr val="0B0B0B"/>
                          </a:solidFill>
                          <a:latin typeface="Calibri"/>
                        </a:rPr>
                        <a:t>3</a:t>
                      </a:r>
                    </a:p>
                  </a:txBody>
                  <a:tcPr marL="73152" marR="73152" marT="27432" marB="27432" anchor="ctr">
                    <a:solidFill>
                      <a:srgbClr val="F5F4F1"/>
                    </a:solidFill>
                  </a:tcPr>
                </a:tc>
                <a:tc>
                  <a:txBody>
                    <a:bodyPr wrap="square"/>
                    <a:lstStyle/>
                    <a:p>
                      <a:pPr algn="ctr"/>
                      <a:r>
                        <a:rPr sz="1300" b="0">
                          <a:solidFill>
                            <a:srgbClr val="0B0B0B"/>
                          </a:solidFill>
                          <a:latin typeface="Calibri"/>
                        </a:rPr>
                        <a:t>250</a:t>
                      </a:r>
                    </a:p>
                  </a:txBody>
                  <a:tcPr marL="73152" marR="73152" marT="27432" marB="27432" anchor="ctr">
                    <a:solidFill>
                      <a:srgbClr val="F5F4F1"/>
                    </a:solidFill>
                  </a:tcPr>
                </a:tc>
                <a:tc>
                  <a:txBody>
                    <a:bodyPr wrap="square"/>
                    <a:lstStyle/>
                    <a:p>
                      <a:pPr algn="ctr"/>
                      <a:r>
                        <a:rPr sz="1300" b="0">
                          <a:solidFill>
                            <a:srgbClr val="0B0B0B"/>
                          </a:solidFill>
                          <a:latin typeface="Calibri"/>
                        </a:rPr>
                        <a:t>2FE7:B</a:t>
                      </a:r>
                    </a:p>
                  </a:txBody>
                  <a:tcPr marL="73152" marR="73152" marT="27432" marB="27432" anchor="ctr">
                    <a:solidFill>
                      <a:srgbClr val="F5F4F1"/>
                    </a:solidFill>
                  </a:tcPr>
                </a:tc>
                <a:tc>
                  <a:txBody>
                    <a:bodyPr wrap="square"/>
                    <a:lstStyle/>
                    <a:p>
                      <a:pPr algn="ctr"/>
                      <a:r>
                        <a:rPr sz="1300" b="0">
                          <a:solidFill>
                            <a:srgbClr val="0B0B0B"/>
                          </a:solidFill>
                          <a:latin typeface="Calibri"/>
                        </a:rPr>
                        <a:t>3e-47</a:t>
                      </a:r>
                    </a:p>
                  </a:txBody>
                  <a:tcPr marL="73152" marR="73152" marT="27432" marB="27432" anchor="ctr">
                    <a:solidFill>
                      <a:srgbClr val="F5F4F1"/>
                    </a:solidFill>
                  </a:tcPr>
                </a:tc>
                <a:tc>
                  <a:txBody>
                    <a:bodyPr wrap="square"/>
                    <a:lstStyle/>
                    <a:p>
                      <a:pPr algn="ctr"/>
                      <a:r>
                        <a:rPr sz="1300" b="0">
                          <a:solidFill>
                            <a:srgbClr val="0B0B0B"/>
                          </a:solidFill>
                          <a:latin typeface="Calibri"/>
                        </a:rPr>
                        <a:t>40%</a:t>
                      </a:r>
                    </a:p>
                  </a:txBody>
                  <a:tcPr marL="73152" marR="73152" marT="27432" marB="27432" anchor="ctr">
                    <a:solidFill>
                      <a:srgbClr val="F5F4F1"/>
                    </a:solidFill>
                  </a:tcPr>
                </a:tc>
              </a:tr>
              <a:tr h="438912">
                <a:tc>
                  <a:txBody>
                    <a:bodyPr wrap="square"/>
                    <a:lstStyle/>
                    <a:p>
                      <a:pPr algn="l"/>
                      <a:r>
                        <a:rPr sz="1300" b="0">
                          <a:solidFill>
                            <a:srgbClr val="0B0B0B"/>
                          </a:solidFill>
                          <a:latin typeface="Calibri"/>
                        </a:rPr>
                        <a:t>T1151s2</a:t>
                      </a:r>
                    </a:p>
                  </a:txBody>
                  <a:tcPr marL="73152" marR="73152" marT="27432" marB="27432" anchor="ctr">
                    <a:solidFill>
                      <a:srgbClr val="FFFFFF"/>
                    </a:solidFill>
                  </a:tcPr>
                </a:tc>
                <a:tc>
                  <a:txBody>
                    <a:bodyPr wrap="square"/>
                    <a:lstStyle/>
                    <a:p>
                      <a:pPr algn="ctr"/>
                      <a:r>
                        <a:rPr sz="1300" b="0">
                          <a:solidFill>
                            <a:srgbClr val="0B0B0B"/>
                          </a:solidFill>
                          <a:latin typeface="Calibri"/>
                        </a:rPr>
                        <a:t>3 (conv.)</a:t>
                      </a:r>
                    </a:p>
                  </a:txBody>
                  <a:tcPr marL="73152" marR="73152" marT="27432" marB="27432" anchor="ctr">
                    <a:solidFill>
                      <a:srgbClr val="FFFFFF"/>
                    </a:solidFill>
                  </a:tcPr>
                </a:tc>
                <a:tc>
                  <a:txBody>
                    <a:bodyPr wrap="square"/>
                    <a:lstStyle/>
                    <a:p>
                      <a:pPr algn="ctr"/>
                      <a:r>
                        <a:rPr sz="1300" b="0">
                          <a:solidFill>
                            <a:srgbClr val="0B0B0B"/>
                          </a:solidFill>
                          <a:latin typeface="Calibri"/>
                        </a:rPr>
                        <a:t>8</a:t>
                      </a:r>
                    </a:p>
                  </a:txBody>
                  <a:tcPr marL="73152" marR="73152" marT="27432" marB="27432" anchor="ctr">
                    <a:solidFill>
                      <a:srgbClr val="FFFFFF"/>
                    </a:solidFill>
                  </a:tcPr>
                </a:tc>
                <a:tc>
                  <a:txBody>
                    <a:bodyPr wrap="square"/>
                    <a:lstStyle/>
                    <a:p>
                      <a:pPr algn="ctr"/>
                      <a:r>
                        <a:rPr sz="1300" b="0">
                          <a:solidFill>
                            <a:srgbClr val="0B0B0B"/>
                          </a:solidFill>
                          <a:latin typeface="Calibri"/>
                        </a:rPr>
                        <a:t>7KUG:A</a:t>
                      </a:r>
                    </a:p>
                  </a:txBody>
                  <a:tcPr marL="73152" marR="73152" marT="27432" marB="27432" anchor="ctr">
                    <a:solidFill>
                      <a:srgbClr val="FFFFFF"/>
                    </a:solidFill>
                  </a:tcPr>
                </a:tc>
                <a:tc>
                  <a:txBody>
                    <a:bodyPr wrap="square"/>
                    <a:lstStyle/>
                    <a:p>
                      <a:pPr algn="ctr"/>
                      <a:r>
                        <a:rPr sz="1300" b="0">
                          <a:solidFill>
                            <a:srgbClr val="0B0B0B"/>
                          </a:solidFill>
                          <a:latin typeface="Calibri"/>
                        </a:rPr>
                        <a:t>1e-22</a:t>
                      </a:r>
                    </a:p>
                  </a:txBody>
                  <a:tcPr marL="73152" marR="73152" marT="27432" marB="27432" anchor="ctr">
                    <a:solidFill>
                      <a:srgbClr val="FFFFFF"/>
                    </a:solidFill>
                  </a:tcPr>
                </a:tc>
                <a:tc>
                  <a:txBody>
                    <a:bodyPr wrap="square"/>
                    <a:lstStyle/>
                    <a:p>
                      <a:pPr algn="ctr"/>
                      <a:r>
                        <a:rPr sz="1300" b="0">
                          <a:solidFill>
                            <a:srgbClr val="0B0B0B"/>
                          </a:solidFill>
                          <a:latin typeface="Calibri"/>
                        </a:rPr>
                        <a:t>36%</a:t>
                      </a:r>
                    </a:p>
                  </a:txBody>
                  <a:tcPr marL="73152" marR="73152" marT="27432" marB="27432" anchor="ctr">
                    <a:solidFill>
                      <a:srgbClr val="FFFFFF"/>
                    </a:solidFill>
                  </a:tcPr>
                </a:tc>
              </a:tr>
            </a:tbl>
          </a:graphicData>
        </a:graphic>
      </p:graphicFrame>
      <p:sp>
        <p:nvSpPr>
          <p:cNvPr id="18" name="TextBox 17"/>
          <p:cNvSpPr txBox="1"/>
          <p:nvPr/>
        </p:nvSpPr>
        <p:spPr>
          <a:xfrm>
            <a:off x="4846320" y="5715000"/>
            <a:ext cx="6766560" cy="365760"/>
          </a:xfrm>
          <a:prstGeom prst="rect">
            <a:avLst/>
          </a:prstGeom>
          <a:noFill/>
        </p:spPr>
        <p:txBody>
          <a:bodyPr wrap="square" anchor="t" lIns="45720" rIns="45720" tIns="27432" bIns="27432">
            <a:spAutoFit/>
          </a:bodyPr>
          <a:lstStyle/>
          <a:p>
            <a:pPr algn="l">
              <a:spcAft>
                <a:spcPts val="600"/>
              </a:spcAft>
            </a:pPr>
            <a:r>
              <a:rPr sz="1100" b="0">
                <a:solidFill>
                  <a:srgbClr val="52514E"/>
                </a:solidFill>
                <a:latin typeface="Calibri"/>
              </a:rPr>
              <a:t>Identity over the profile alignment to the target.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What Claude decides, and what the code enforces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5</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ectangle 6"/>
          <p:cNvSpPr/>
          <p:nvPr/>
        </p:nvSpPr>
        <p:spPr>
          <a:xfrm>
            <a:off x="548640" y="1463040"/>
            <a:ext cx="3566160" cy="7315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2A78D6"/>
                </a:solidFill>
                <a:latin typeface="Calibri"/>
              </a:rPr>
              <a:t>Claude decides</a:t>
            </a:r>
          </a:p>
        </p:txBody>
      </p:sp>
      <p:sp>
        <p:nvSpPr>
          <p:cNvPr id="9" name="TextBox 8"/>
          <p:cNvSpPr txBox="1"/>
          <p:nvPr/>
        </p:nvSpPr>
        <p:spPr>
          <a:xfrm>
            <a:off x="548640"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search settings: profile rounds and inclusion E-value</a:t>
            </a:r>
          </a:p>
          <a:p>
            <a:pPr algn="l">
              <a:spcAft>
                <a:spcPts val="1000"/>
              </a:spcAft>
            </a:pPr>
            <a:r>
              <a:rPr sz="1400" b="0">
                <a:solidFill>
                  <a:srgbClr val="0B0B0B"/>
                </a:solidFill>
                <a:latin typeface="Calibri"/>
              </a:rPr>
              <a:t>•  which candidate templates to build (up to 4)</a:t>
            </a:r>
          </a:p>
          <a:p>
            <a:pPr algn="l">
              <a:spcAft>
                <a:spcPts val="1000"/>
              </a:spcAft>
            </a:pPr>
            <a:r>
              <a:rPr sz="1400" b="0">
                <a:solidFill>
                  <a:srgbClr val="0B0B0B"/>
                </a:solidFill>
                <a:latin typeface="Calibri"/>
              </a:rPr>
              <a:t>•  which build and model to keep, or no template at all</a:t>
            </a:r>
          </a:p>
          <a:p>
            <a:pPr algn="l">
              <a:spcAft>
                <a:spcPts val="1000"/>
              </a:spcAft>
            </a:pPr>
            <a:r>
              <a:rPr sz="1400" b="0">
                <a:solidFill>
                  <a:srgbClr val="0B0B0B"/>
                </a:solidFill>
                <a:latin typeface="Calibri"/>
              </a:rPr>
              <a:t>•  Agent 2: which errors to inspect and how to explain them</a:t>
            </a:r>
          </a:p>
          <a:p>
            <a:pPr algn="l">
              <a:spcAft>
                <a:spcPts val="1000"/>
              </a:spcAft>
            </a:pPr>
            <a:r>
              <a:rPr sz="1400" b="0">
                <a:solidFill>
                  <a:srgbClr val="0B0B0B"/>
                </a:solidFill>
                <a:latin typeface="Calibri"/>
              </a:rPr>
              <a:t>•  the draft interpretation of the whole comparison</a:t>
            </a:r>
          </a:p>
        </p:txBody>
      </p:sp>
      <p:sp>
        <p:nvSpPr>
          <p:cNvPr id="10" name="Rectangle 9"/>
          <p:cNvSpPr/>
          <p:nvPr/>
        </p:nvSpPr>
        <p:spPr>
          <a:xfrm>
            <a:off x="4297679" y="1463040"/>
            <a:ext cx="3566160" cy="73152"/>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79"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0B0B0B"/>
                </a:solidFill>
                <a:latin typeface="Calibri"/>
              </a:rPr>
              <a:t>Code enforces</a:t>
            </a:r>
          </a:p>
        </p:txBody>
      </p:sp>
      <p:sp>
        <p:nvSpPr>
          <p:cNvPr id="12" name="TextBox 11"/>
          <p:cNvSpPr txBox="1"/>
          <p:nvPr/>
        </p:nvSpPr>
        <p:spPr>
          <a:xfrm>
            <a:off x="4297679"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leakage control: target's own PDB entry and templates released after 2022-05-01 are excluded</a:t>
            </a:r>
          </a:p>
          <a:p>
            <a:pPr algn="l">
              <a:spcAft>
                <a:spcPts val="1000"/>
              </a:spcAft>
            </a:pPr>
            <a:r>
              <a:rPr sz="1400" b="0">
                <a:solidFill>
                  <a:srgbClr val="0B0B0B"/>
                </a:solidFill>
                <a:latin typeface="Calibri"/>
              </a:rPr>
              <a:t>•  Agent 1 never reads the experimental structure</a:t>
            </a:r>
          </a:p>
          <a:p>
            <a:pPr algn="l">
              <a:spcAft>
                <a:spcPts val="1000"/>
              </a:spcAft>
            </a:pPr>
            <a:r>
              <a:rPr sz="1400" b="0">
                <a:solidFill>
                  <a:srgbClr val="0B0B0B"/>
                </a:solidFill>
                <a:latin typeface="Calibri"/>
              </a:rPr>
              <a:t>•  metrics are computed by code and cross-checked with TMscore</a:t>
            </a:r>
          </a:p>
          <a:p>
            <a:pPr algn="l">
              <a:spcAft>
                <a:spcPts val="1000"/>
              </a:spcAft>
            </a:pPr>
            <a:r>
              <a:rPr sz="1400" b="0">
                <a:solidFill>
                  <a:srgbClr val="0B0B0B"/>
                </a:solidFill>
                <a:latin typeface="Calibri"/>
              </a:rPr>
              <a:t>•  Claude may only use the numbers the tools return</a:t>
            </a:r>
          </a:p>
        </p:txBody>
      </p:sp>
      <p:sp>
        <p:nvSpPr>
          <p:cNvPr id="13" name="Rectangle 12"/>
          <p:cNvSpPr/>
          <p:nvPr/>
        </p:nvSpPr>
        <p:spPr>
          <a:xfrm>
            <a:off x="8046719" y="1463040"/>
            <a:ext cx="3566160" cy="73152"/>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9"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9A9A96"/>
                </a:solidFill>
                <a:latin typeface="Calibri"/>
              </a:rPr>
              <a:t>Baseline (no AI)</a:t>
            </a:r>
          </a:p>
        </p:txBody>
      </p:sp>
      <p:sp>
        <p:nvSpPr>
          <p:cNvPr id="15" name="TextBox 14"/>
          <p:cNvSpPr txBox="1"/>
          <p:nvPr/>
        </p:nvSpPr>
        <p:spPr>
          <a:xfrm>
            <a:off x="8046719"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same search and MODELLER</a:t>
            </a:r>
          </a:p>
          <a:p>
            <a:pPr algn="l">
              <a:spcAft>
                <a:spcPts val="1000"/>
              </a:spcAft>
            </a:pPr>
            <a:r>
              <a:rPr sz="1400" b="0">
                <a:solidFill>
                  <a:srgbClr val="0B0B0B"/>
                </a:solidFill>
                <a:latin typeface="Calibri"/>
              </a:rPr>
              <a:t>•  top-ranked template by a fixed score (identity, coverage, E-value, resolution, completeness)</a:t>
            </a:r>
          </a:p>
          <a:p>
            <a:pPr algn="l">
              <a:spcAft>
                <a:spcPts val="1000"/>
              </a:spcAft>
            </a:pPr>
            <a:r>
              <a:rPr sz="1400" b="0">
                <a:solidFill>
                  <a:srgbClr val="0B0B0B"/>
                </a:solidFill>
                <a:latin typeface="Calibri"/>
              </a:rPr>
              <a:t>•  lowest-DOPE model</a:t>
            </a:r>
          </a:p>
          <a:p>
            <a:pPr algn="l">
              <a:spcAft>
                <a:spcPts val="1000"/>
              </a:spcAft>
            </a:pPr>
            <a:r>
              <a:rPr sz="1400" b="0">
                <a:solidFill>
                  <a:srgbClr val="0B0B0B"/>
                </a:solidFill>
                <a:latin typeface="Calibri"/>
              </a:rPr>
              <a:t>•  no second look: one search, no alternative builds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Agent 1: template decisions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6</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1188720"/>
                <a:gridCol w="2377440"/>
                <a:gridCol w="2103120"/>
                <a:gridCol w="1051560"/>
                <a:gridCol w="1188720"/>
                <a:gridCol w="1188720"/>
                <a:gridCol w="868680"/>
                <a:gridCol w="1097280"/>
              </a:tblGrid>
              <a:tr h="566928">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Searches</a:t>
                      </a:r>
                    </a:p>
                  </a:txBody>
                  <a:tcPr marL="73152" marR="73152" marT="27432" marB="27432" anchor="ctr">
                    <a:solidFill>
                      <a:srgbClr val="0B0B0B"/>
                    </a:solidFill>
                  </a:tcPr>
                </a:tc>
                <a:tc>
                  <a:txBody>
                    <a:bodyPr wrap="square"/>
                    <a:lstStyle/>
                    <a:p>
                      <a:pPr algn="ctr"/>
                      <a:r>
                        <a:rPr sz="1300" b="1">
                          <a:solidFill>
                            <a:srgbClr val="FFFFFF"/>
                          </a:solidFill>
                          <a:latin typeface="Calibri"/>
                        </a:rPr>
                        <a:t>Templates built</a:t>
                      </a:r>
                    </a:p>
                  </a:txBody>
                  <a:tcPr marL="73152" marR="73152" marT="27432" marB="27432" anchor="ctr">
                    <a:solidFill>
                      <a:srgbClr val="0B0B0B"/>
                    </a:solidFill>
                  </a:tcPr>
                </a:tc>
                <a:tc>
                  <a:txBody>
                    <a:bodyPr wrap="square"/>
                    <a:lstStyle/>
                    <a:p>
                      <a:pPr algn="ctr"/>
                      <a:r>
                        <a:rPr sz="1300" b="1">
                          <a:solidFill>
                            <a:srgbClr val="FFFFFF"/>
                          </a:solidFill>
                          <a:latin typeface="Calibri"/>
                        </a:rPr>
                        <a:t>Kept</a:t>
                      </a:r>
                    </a:p>
                  </a:txBody>
                  <a:tcPr marL="73152" marR="73152" marT="27432" marB="27432" anchor="ctr">
                    <a:solidFill>
                      <a:srgbClr val="0B0B0B"/>
                    </a:solidFill>
                  </a:tcPr>
                </a:tc>
                <a:tc>
                  <a:txBody>
                    <a:bodyPr wrap="square"/>
                    <a:lstStyle/>
                    <a:p>
                      <a:pPr algn="ctr"/>
                      <a:r>
                        <a:rPr sz="1300" b="1">
                          <a:solidFill>
                            <a:srgbClr val="FFFFFF"/>
                          </a:solidFill>
                          <a:latin typeface="Calibri"/>
                        </a:rPr>
                        <a:t>Alignment identity</a:t>
                      </a:r>
                    </a:p>
                  </a:txBody>
                  <a:tcPr marL="73152" marR="73152" marT="27432" marB="27432" anchor="ctr">
                    <a:solidFill>
                      <a:srgbClr val="0B0B0B"/>
                    </a:solidFill>
                  </a:tcPr>
                </a:tc>
                <a:tc>
                  <a:txBody>
                    <a:bodyPr wrap="square"/>
                    <a:lstStyle/>
                    <a:p>
                      <a:pPr algn="ctr"/>
                      <a:r>
                        <a:rPr sz="1300" b="1">
                          <a:solidFill>
                            <a:srgbClr val="FFFFFF"/>
                          </a:solidFill>
                          <a:latin typeface="Calibri"/>
                        </a:rPr>
                        <a:t>Alignment coverage</a:t>
                      </a:r>
                    </a:p>
                  </a:txBody>
                  <a:tcPr marL="73152" marR="73152" marT="27432" marB="27432" anchor="ctr">
                    <a:solidFill>
                      <a:srgbClr val="0B0B0B"/>
                    </a:solidFill>
                  </a:tcPr>
                </a:tc>
                <a:tc>
                  <a:txBody>
                    <a:bodyPr wrap="square"/>
                    <a:lstStyle/>
                    <a:p>
                      <a:pPr algn="ctr"/>
                      <a:r>
                        <a:rPr sz="1300" b="1">
                          <a:solidFill>
                            <a:srgbClr val="FFFFFF"/>
                          </a:solidFill>
                          <a:latin typeface="Calibri"/>
                        </a:rPr>
                        <a:t>GA341</a:t>
                      </a:r>
                    </a:p>
                  </a:txBody>
                  <a:tcPr marL="73152" marR="73152" marT="27432" marB="27432" anchor="ctr">
                    <a:solidFill>
                      <a:srgbClr val="0B0B0B"/>
                    </a:solidFill>
                  </a:tcPr>
                </a:tc>
                <a:tc>
                  <a:txBody>
                    <a:bodyPr wrap="square"/>
                    <a:lstStyle/>
                    <a:p>
                      <a:pPr algn="ctr"/>
                      <a:r>
                        <a:rPr sz="1300" b="1">
                          <a:solidFill>
                            <a:srgbClr val="FFFFFF"/>
                          </a:solidFill>
                          <a:latin typeface="Calibri"/>
                        </a:rPr>
                        <a:t>z-DOPE</a:t>
                      </a:r>
                    </a:p>
                  </a:txBody>
                  <a:tcPr marL="73152" marR="73152" marT="27432" marB="27432" anchor="ctr">
                    <a:solidFill>
                      <a:srgbClr val="0B0B0B"/>
                    </a:solidFill>
                  </a:tcPr>
                </a:tc>
              </a:tr>
              <a:tr h="566928">
                <a:tc>
                  <a:txBody>
                    <a:bodyPr wrap="square"/>
                    <a:lstStyle/>
                    <a:p>
                      <a:pPr algn="l"/>
                      <a:r>
                        <a:rPr sz="1300" b="0">
                          <a:solidFill>
                            <a:srgbClr val="0B0B0B"/>
                          </a:solidFill>
                          <a:latin typeface="Calibri"/>
                        </a:rPr>
                        <a:t>T1124
TBM-easy</a:t>
                      </a:r>
                    </a:p>
                  </a:txBody>
                  <a:tcPr marL="73152" marR="73152" marT="27432" marB="27432" anchor="ctr">
                    <a:solidFill>
                      <a:srgbClr val="FFFFFF"/>
                    </a:solidFill>
                  </a:tcPr>
                </a:tc>
                <a:tc>
                  <a:txBody>
                    <a:bodyPr wrap="square"/>
                    <a:lstStyle/>
                    <a:p>
                      <a:pPr algn="ctr"/>
                      <a:r>
                        <a:rPr sz="1300" b="0">
                          <a:solidFill>
                            <a:srgbClr val="0B0B0B"/>
                          </a:solidFill>
                          <a:latin typeface="Calibri"/>
                        </a:rPr>
                        <a:t>3 rounds, incl. E ≤ 0.001</a:t>
                      </a:r>
                    </a:p>
                  </a:txBody>
                  <a:tcPr marL="73152" marR="73152" marT="27432" marB="27432" anchor="ctr">
                    <a:solidFill>
                      <a:srgbClr val="FFFFFF"/>
                    </a:solidFill>
                  </a:tcPr>
                </a:tc>
                <a:tc>
                  <a:txBody>
                    <a:bodyPr wrap="square"/>
                    <a:lstStyle/>
                    <a:p>
                      <a:pPr algn="ctr"/>
                      <a:r>
                        <a:rPr sz="1300" b="0">
                          <a:solidFill>
                            <a:srgbClr val="0B0B0B"/>
                          </a:solidFill>
                          <a:latin typeface="Calibri"/>
                        </a:rPr>
                        <a:t>5I2H:A, 1QZZ:A, 3GWZ:A</a:t>
                      </a:r>
                    </a:p>
                  </a:txBody>
                  <a:tcPr marL="73152" marR="73152" marT="27432" marB="27432" anchor="ctr">
                    <a:solidFill>
                      <a:srgbClr val="FFFFFF"/>
                    </a:solidFill>
                  </a:tcPr>
                </a:tc>
                <a:tc>
                  <a:txBody>
                    <a:bodyPr wrap="square"/>
                    <a:lstStyle/>
                    <a:p>
                      <a:pPr algn="ctr"/>
                      <a:r>
                        <a:rPr sz="1300" b="0">
                          <a:solidFill>
                            <a:srgbClr val="0B0B0B"/>
                          </a:solidFill>
                          <a:latin typeface="Calibri"/>
                        </a:rPr>
                        <a:t>5I2H:A</a:t>
                      </a:r>
                    </a:p>
                  </a:txBody>
                  <a:tcPr marL="73152" marR="73152" marT="27432" marB="27432" anchor="ctr">
                    <a:solidFill>
                      <a:srgbClr val="FFFFFF"/>
                    </a:solidFill>
                  </a:tcPr>
                </a:tc>
                <a:tc>
                  <a:txBody>
                    <a:bodyPr wrap="square"/>
                    <a:lstStyle/>
                    <a:p>
                      <a:pPr algn="ctr"/>
                      <a:r>
                        <a:rPr sz="1300" b="0">
                          <a:solidFill>
                            <a:srgbClr val="0B0B0B"/>
                          </a:solidFill>
                          <a:latin typeface="Calibri"/>
                        </a:rPr>
                        <a:t>26.6%</a:t>
                      </a:r>
                    </a:p>
                  </a:txBody>
                  <a:tcPr marL="73152" marR="73152" marT="27432" marB="27432" anchor="ctr">
                    <a:solidFill>
                      <a:srgbClr val="FFFFFF"/>
                    </a:solidFill>
                  </a:tcPr>
                </a:tc>
                <a:tc>
                  <a:txBody>
                    <a:bodyPr wrap="square"/>
                    <a:lstStyle/>
                    <a:p>
                      <a:pPr algn="ctr"/>
                      <a:r>
                        <a:rPr sz="1300" b="0">
                          <a:solidFill>
                            <a:srgbClr val="0B0B0B"/>
                          </a:solidFill>
                          <a:latin typeface="Calibri"/>
                        </a:rPr>
                        <a:t>81.2%</a:t>
                      </a:r>
                    </a:p>
                  </a:txBody>
                  <a:tcPr marL="73152" marR="73152" marT="27432" marB="27432" anchor="ctr">
                    <a:solidFill>
                      <a:srgbClr val="FFFFFF"/>
                    </a:solidFill>
                  </a:tcPr>
                </a:tc>
                <a:tc>
                  <a:txBody>
                    <a:bodyPr wrap="square"/>
                    <a:lstStyle/>
                    <a:p>
                      <a:pPr algn="ctr"/>
                      <a:r>
                        <a:rPr sz="1300" b="0">
                          <a:solidFill>
                            <a:srgbClr val="0B0B0B"/>
                          </a:solidFill>
                          <a:latin typeface="Calibri"/>
                        </a:rPr>
                        <a:t>1.00</a:t>
                      </a:r>
                    </a:p>
                  </a:txBody>
                  <a:tcPr marL="73152" marR="73152" marT="27432" marB="27432" anchor="ctr">
                    <a:solidFill>
                      <a:srgbClr val="FFFFFF"/>
                    </a:solidFill>
                  </a:tcPr>
                </a:tc>
                <a:tc>
                  <a:txBody>
                    <a:bodyPr wrap="square"/>
                    <a:lstStyle/>
                    <a:p>
                      <a:pPr algn="ctr"/>
                      <a:r>
                        <a:rPr sz="1300" b="0">
                          <a:solidFill>
                            <a:srgbClr val="0B0B0B"/>
                          </a:solidFill>
                          <a:latin typeface="Calibri"/>
                        </a:rPr>
                        <a:t>+0.29</a:t>
                      </a:r>
                    </a:p>
                  </a:txBody>
                  <a:tcPr marL="73152" marR="73152" marT="27432" marB="27432" anchor="ctr">
                    <a:solidFill>
                      <a:srgbClr val="FFFFFF"/>
                    </a:solidFill>
                  </a:tcPr>
                </a:tc>
              </a:tr>
              <a:tr h="566928">
                <a:tc>
                  <a:txBody>
                    <a:bodyPr wrap="square"/>
                    <a:lstStyle/>
                    <a:p>
                      <a:pPr algn="l"/>
                      <a:r>
                        <a:rPr sz="1300" b="0">
                          <a:solidFill>
                            <a:srgbClr val="0B0B0B"/>
                          </a:solidFill>
                          <a:latin typeface="Calibri"/>
                        </a:rPr>
                        <a:t>T1127
TBM-hard</a:t>
                      </a:r>
                    </a:p>
                  </a:txBody>
                  <a:tcPr marL="73152" marR="73152" marT="27432" marB="27432" anchor="ctr">
                    <a:solidFill>
                      <a:srgbClr val="F5F4F1"/>
                    </a:solidFill>
                  </a:tcPr>
                </a:tc>
                <a:tc>
                  <a:txBody>
                    <a:bodyPr wrap="square"/>
                    <a:lstStyle/>
                    <a:p>
                      <a:pPr algn="ctr"/>
                      <a:r>
                        <a:rPr sz="1300" b="0">
                          <a:solidFill>
                            <a:srgbClr val="0B0B0B"/>
                          </a:solidFill>
                          <a:latin typeface="Calibri"/>
                        </a:rPr>
                        <a:t>3 rounds, incl. E ≤ 0.001</a:t>
                      </a:r>
                    </a:p>
                  </a:txBody>
                  <a:tcPr marL="73152" marR="73152" marT="27432" marB="27432" anchor="ctr">
                    <a:solidFill>
                      <a:srgbClr val="F5F4F1"/>
                    </a:solidFill>
                  </a:tcPr>
                </a:tc>
                <a:tc>
                  <a:txBody>
                    <a:bodyPr wrap="square"/>
                    <a:lstStyle/>
                    <a:p>
                      <a:pPr algn="ctr"/>
                      <a:r>
                        <a:rPr sz="1300" b="0">
                          <a:solidFill>
                            <a:srgbClr val="0B0B0B"/>
                          </a:solidFill>
                          <a:latin typeface="Calibri"/>
                        </a:rPr>
                        <a:t>4HNY:B, 2FE7:B, 2BEI:B</a:t>
                      </a:r>
                    </a:p>
                  </a:txBody>
                  <a:tcPr marL="73152" marR="73152" marT="27432" marB="27432" anchor="ctr">
                    <a:solidFill>
                      <a:srgbClr val="F5F4F1"/>
                    </a:solidFill>
                  </a:tcPr>
                </a:tc>
                <a:tc>
                  <a:txBody>
                    <a:bodyPr wrap="square"/>
                    <a:lstStyle/>
                    <a:p>
                      <a:pPr algn="ctr"/>
                      <a:r>
                        <a:rPr sz="1300" b="0">
                          <a:solidFill>
                            <a:srgbClr val="0B0B0B"/>
                          </a:solidFill>
                          <a:latin typeface="Calibri"/>
                        </a:rPr>
                        <a:t>2FE7:B</a:t>
                      </a:r>
                    </a:p>
                  </a:txBody>
                  <a:tcPr marL="73152" marR="73152" marT="27432" marB="27432" anchor="ctr">
                    <a:solidFill>
                      <a:srgbClr val="F5F4F1"/>
                    </a:solidFill>
                  </a:tcPr>
                </a:tc>
                <a:tc>
                  <a:txBody>
                    <a:bodyPr wrap="square"/>
                    <a:lstStyle/>
                    <a:p>
                      <a:pPr algn="ctr"/>
                      <a:r>
                        <a:rPr sz="1300" b="0">
                          <a:solidFill>
                            <a:srgbClr val="0B0B0B"/>
                          </a:solidFill>
                          <a:latin typeface="Calibri"/>
                        </a:rPr>
                        <a:t>35.8%</a:t>
                      </a:r>
                    </a:p>
                  </a:txBody>
                  <a:tcPr marL="73152" marR="73152" marT="27432" marB="27432" anchor="ctr">
                    <a:solidFill>
                      <a:srgbClr val="F5F4F1"/>
                    </a:solidFill>
                  </a:tcPr>
                </a:tc>
                <a:tc>
                  <a:txBody>
                    <a:bodyPr wrap="square"/>
                    <a:lstStyle/>
                    <a:p>
                      <a:pPr algn="ctr"/>
                      <a:r>
                        <a:rPr sz="1300" b="0">
                          <a:solidFill>
                            <a:srgbClr val="0B0B0B"/>
                          </a:solidFill>
                          <a:latin typeface="Calibri"/>
                        </a:rPr>
                        <a:t>75.4%</a:t>
                      </a:r>
                    </a:p>
                  </a:txBody>
                  <a:tcPr marL="73152" marR="73152" marT="27432" marB="27432" anchor="ctr">
                    <a:solidFill>
                      <a:srgbClr val="F5F4F1"/>
                    </a:solidFill>
                  </a:tcPr>
                </a:tc>
                <a:tc>
                  <a:txBody>
                    <a:bodyPr wrap="square"/>
                    <a:lstStyle/>
                    <a:p>
                      <a:pPr algn="ctr"/>
                      <a:r>
                        <a:rPr sz="1300" b="0">
                          <a:solidFill>
                            <a:srgbClr val="0B0B0B"/>
                          </a:solidFill>
                          <a:latin typeface="Calibri"/>
                        </a:rPr>
                        <a:t>0.93</a:t>
                      </a:r>
                    </a:p>
                  </a:txBody>
                  <a:tcPr marL="73152" marR="73152" marT="27432" marB="27432" anchor="ctr">
                    <a:solidFill>
                      <a:srgbClr val="F5F4F1"/>
                    </a:solidFill>
                  </a:tcPr>
                </a:tc>
                <a:tc>
                  <a:txBody>
                    <a:bodyPr wrap="square"/>
                    <a:lstStyle/>
                    <a:p>
                      <a:pPr algn="ctr"/>
                      <a:r>
                        <a:rPr sz="1300" b="0">
                          <a:solidFill>
                            <a:srgbClr val="0B0B0B"/>
                          </a:solidFill>
                          <a:latin typeface="Calibri"/>
                        </a:rPr>
                        <a:t>+1.24</a:t>
                      </a:r>
                    </a:p>
                  </a:txBody>
                  <a:tcPr marL="73152" marR="73152" marT="27432" marB="27432" anchor="ctr">
                    <a:solidFill>
                      <a:srgbClr val="F5F4F1"/>
                    </a:solidFill>
                  </a:tcPr>
                </a:tc>
              </a:tr>
              <a:tr h="566928">
                <a:tc>
                  <a:txBody>
                    <a:bodyPr wrap="square"/>
                    <a:lstStyle/>
                    <a:p>
                      <a:pPr algn="l"/>
                      <a:r>
                        <a:rPr sz="1300" b="0">
                          <a:solidFill>
                            <a:srgbClr val="0B0B0B"/>
                          </a:solidFill>
                          <a:latin typeface="Calibri"/>
                        </a:rPr>
                        <a:t>T1151s2
FM/TBM</a:t>
                      </a:r>
                    </a:p>
                  </a:txBody>
                  <a:tcPr marL="73152" marR="73152" marT="27432" marB="27432" anchor="ctr">
                    <a:solidFill>
                      <a:srgbClr val="FFFFFF"/>
                    </a:solidFill>
                  </a:tcPr>
                </a:tc>
                <a:tc>
                  <a:txBody>
                    <a:bodyPr wrap="square"/>
                    <a:lstStyle/>
                    <a:p>
                      <a:pPr algn="ctr"/>
                      <a:r>
                        <a:rPr sz="1300" b="0">
                          <a:solidFill>
                            <a:srgbClr val="0B0B0B"/>
                          </a:solidFill>
                          <a:latin typeface="Calibri"/>
                        </a:rPr>
                        <a:t>3 rounds, incl. E ≤ 0.001
5 rounds, incl. E ≤ 0.01</a:t>
                      </a:r>
                    </a:p>
                  </a:txBody>
                  <a:tcPr marL="73152" marR="73152" marT="27432" marB="27432" anchor="ctr">
                    <a:solidFill>
                      <a:srgbClr val="FFFFFF"/>
                    </a:solidFill>
                  </a:tcPr>
                </a:tc>
                <a:tc>
                  <a:txBody>
                    <a:bodyPr wrap="square"/>
                    <a:lstStyle/>
                    <a:p>
                      <a:pPr algn="ctr"/>
                      <a:r>
                        <a:rPr sz="1300" b="0">
                          <a:solidFill>
                            <a:srgbClr val="0B0B0B"/>
                          </a:solidFill>
                          <a:latin typeface="Calibri"/>
                        </a:rPr>
                        <a:t>7KUG:A, 6ONO:C, 7F7N:A</a:t>
                      </a:r>
                    </a:p>
                  </a:txBody>
                  <a:tcPr marL="73152" marR="73152" marT="27432" marB="27432" anchor="ctr">
                    <a:solidFill>
                      <a:srgbClr val="FFFFFF"/>
                    </a:solidFill>
                  </a:tcPr>
                </a:tc>
                <a:tc>
                  <a:txBody>
                    <a:bodyPr wrap="square"/>
                    <a:lstStyle/>
                    <a:p>
                      <a:pPr algn="ctr"/>
                      <a:r>
                        <a:rPr sz="1300" b="0">
                          <a:solidFill>
                            <a:srgbClr val="0B0B0B"/>
                          </a:solidFill>
                          <a:latin typeface="Calibri"/>
                        </a:rPr>
                        <a:t>7KUG:A</a:t>
                      </a:r>
                    </a:p>
                  </a:txBody>
                  <a:tcPr marL="73152" marR="73152" marT="27432" marB="27432" anchor="ctr">
                    <a:solidFill>
                      <a:srgbClr val="FFFFFF"/>
                    </a:solidFill>
                  </a:tcPr>
                </a:tc>
                <a:tc>
                  <a:txBody>
                    <a:bodyPr wrap="square"/>
                    <a:lstStyle/>
                    <a:p>
                      <a:pPr algn="ctr"/>
                      <a:r>
                        <a:rPr sz="1300" b="0">
                          <a:solidFill>
                            <a:srgbClr val="0B0B0B"/>
                          </a:solidFill>
                          <a:latin typeface="Calibri"/>
                        </a:rPr>
                        <a:t>38.2%</a:t>
                      </a:r>
                    </a:p>
                  </a:txBody>
                  <a:tcPr marL="73152" marR="73152" marT="27432" marB="27432" anchor="ctr">
                    <a:solidFill>
                      <a:srgbClr val="FFFFFF"/>
                    </a:solidFill>
                  </a:tcPr>
                </a:tc>
                <a:tc>
                  <a:txBody>
                    <a:bodyPr wrap="square"/>
                    <a:lstStyle/>
                    <a:p>
                      <a:pPr algn="ctr"/>
                      <a:r>
                        <a:rPr sz="1300" b="0">
                          <a:solidFill>
                            <a:srgbClr val="0B0B0B"/>
                          </a:solidFill>
                          <a:latin typeface="Calibri"/>
                        </a:rPr>
                        <a:t>47.4%</a:t>
                      </a:r>
                    </a:p>
                  </a:txBody>
                  <a:tcPr marL="73152" marR="73152" marT="27432" marB="27432" anchor="ctr">
                    <a:solidFill>
                      <a:srgbClr val="FFFFFF"/>
                    </a:solidFill>
                  </a:tcPr>
                </a:tc>
                <a:tc>
                  <a:txBody>
                    <a:bodyPr wrap="square"/>
                    <a:lstStyle/>
                    <a:p>
                      <a:pPr algn="ctr"/>
                      <a:r>
                        <a:rPr sz="1300" b="0">
                          <a:solidFill>
                            <a:srgbClr val="0B0B0B"/>
                          </a:solidFill>
                          <a:latin typeface="Calibri"/>
                        </a:rPr>
                        <a:t>0.60</a:t>
                      </a:r>
                    </a:p>
                  </a:txBody>
                  <a:tcPr marL="73152" marR="73152" marT="27432" marB="27432" anchor="ctr">
                    <a:solidFill>
                      <a:srgbClr val="FFFFFF"/>
                    </a:solidFill>
                  </a:tcPr>
                </a:tc>
                <a:tc>
                  <a:txBody>
                    <a:bodyPr wrap="square"/>
                    <a:lstStyle/>
                    <a:p>
                      <a:pPr algn="ctr"/>
                      <a:r>
                        <a:rPr sz="1300" b="0">
                          <a:solidFill>
                            <a:srgbClr val="0B0B0B"/>
                          </a:solidFill>
                          <a:latin typeface="Calibri"/>
                        </a:rPr>
                        <a:t>+2.04</a:t>
                      </a:r>
                    </a:p>
                  </a:txBody>
                  <a:tcPr marL="73152" marR="73152" marT="27432" marB="27432" anchor="ctr">
                    <a:solidFill>
                      <a:srgbClr val="FFFFFF"/>
                    </a:solidFill>
                  </a:tcPr>
                </a:tc>
              </a:tr>
            </a:tbl>
          </a:graphicData>
        </a:graphic>
      </p:graphicFrame>
      <p:sp>
        <p:nvSpPr>
          <p:cNvPr id="8" name="TextBox 7"/>
          <p:cNvSpPr txBox="1"/>
          <p:nvPr/>
        </p:nvSpPr>
        <p:spPr>
          <a:xfrm>
            <a:off x="548640" y="4023360"/>
            <a:ext cx="11064240" cy="2194560"/>
          </a:xfrm>
          <a:prstGeom prst="rect">
            <a:avLst/>
          </a:prstGeom>
          <a:noFill/>
        </p:spPr>
        <p:txBody>
          <a:bodyPr wrap="square" anchor="t" lIns="45720" rIns="45720" tIns="27432" bIns="27432">
            <a:spAutoFit/>
          </a:bodyPr>
          <a:lstStyle/>
          <a:p>
            <a:pPr algn="l">
              <a:spcAft>
                <a:spcPts val="800"/>
              </a:spcAft>
            </a:pPr>
            <a:r>
              <a:rPr sz="1400" b="0">
                <a:solidFill>
                  <a:srgbClr val="0B0B0B"/>
                </a:solidFill>
                <a:latin typeface="Calibri"/>
              </a:rPr>
              <a:t>•  T1124 and T1127: hundreds of family members (O-methyltransferases, GNAT acetyltransferases); Claude kept the build with the best z-DOPE / identity balance.</a:t>
            </a:r>
          </a:p>
          <a:p>
            <a:pPr algn="l">
              <a:spcAft>
                <a:spcPts val="800"/>
              </a:spcAft>
            </a:pPr>
            <a:r>
              <a:rPr sz="1400" b="0">
                <a:solidFill>
                  <a:srgbClr val="0B0B0B"/>
                </a:solidFill>
                <a:latin typeface="Calibri"/>
              </a:rPr>
              <a:t>•  T1151s2: only 8 hits, all WhiB-family regulators; Claude ran a looser second search (same 8 hits), built WhiB7, WhiB1 and WhiB4 templates and kept WhiB7 (7KUG:A, 38% identity). The WhiB4 NMR structure was clearly worst (GA341 ≤ 0.02).</a:t>
            </a:r>
          </a:p>
          <a:p>
            <a:pPr algn="l">
              <a:spcAft>
                <a:spcPts val="800"/>
              </a:spcAft>
            </a:pPr>
            <a:r>
              <a:rPr sz="1400" b="0">
                <a:solidFill>
                  <a:srgbClr val="0B0B0B"/>
                </a:solidFill>
                <a:latin typeface="Calibri"/>
              </a:rPr>
              <a:t>•  Predicted risks: T1124 domain orientation, T1127 insertion ~60–104, T1151s2 tail 85–111 without template — all confirmed by Agent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AlphaFold3 is more accurate on every target and metric</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7</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6766560" cy="3200400"/>
        </p:xfrm>
        <a:graphic>
          <a:graphicData uri="http://schemas.openxmlformats.org/drawingml/2006/table">
            <a:tbl>
              <a:tblPr firstRow="1" bandRow="1">
                <a:tableStyleId>{5C22544A-7EE6-4342-B048-85BDC9FD1C3A}</a:tableStyleId>
              </a:tblPr>
              <a:tblGrid>
                <a:gridCol w="1828800"/>
                <a:gridCol w="1188720"/>
                <a:gridCol w="914400"/>
                <a:gridCol w="914400"/>
                <a:gridCol w="822960"/>
                <a:gridCol w="1097280"/>
              </a:tblGrid>
              <a:tr h="457200">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Method</a:t>
                      </a:r>
                    </a:p>
                  </a:txBody>
                  <a:tcPr marL="73152" marR="73152" marT="27432" marB="27432" anchor="ctr">
                    <a:solidFill>
                      <a:srgbClr val="0B0B0B"/>
                    </a:solidFill>
                  </a:tcPr>
                </a:tc>
                <a:tc>
                  <a:txBody>
                    <a:bodyPr wrap="square"/>
                    <a:lstStyle/>
                    <a:p>
                      <a:pPr algn="ctr"/>
                      <a:r>
                        <a:rPr sz="1300" b="1">
                          <a:solidFill>
                            <a:srgbClr val="FFFFFF"/>
                          </a:solidFill>
                          <a:latin typeface="Calibri"/>
                        </a:rPr>
                        <a:t>TM-score ↑</a:t>
                      </a:r>
                    </a:p>
                  </a:txBody>
                  <a:tcPr marL="73152" marR="73152" marT="27432" marB="27432" anchor="ctr">
                    <a:solidFill>
                      <a:srgbClr val="0B0B0B"/>
                    </a:solidFill>
                  </a:tcPr>
                </a:tc>
                <a:tc>
                  <a:txBody>
                    <a:bodyPr wrap="square"/>
                    <a:lstStyle/>
                    <a:p>
                      <a:pPr algn="ctr"/>
                      <a:r>
                        <a:rPr sz="1300" b="1">
                          <a:solidFill>
                            <a:srgbClr val="FFFFFF"/>
                          </a:solidFill>
                          <a:latin typeface="Calibri"/>
                        </a:rPr>
                        <a:t>GDT-TS ↑</a:t>
                      </a:r>
                    </a:p>
                  </a:txBody>
                  <a:tcPr marL="73152" marR="73152" marT="27432" marB="27432" anchor="ctr">
                    <a:solidFill>
                      <a:srgbClr val="0B0B0B"/>
                    </a:solidFill>
                  </a:tcPr>
                </a:tc>
                <a:tc>
                  <a:txBody>
                    <a:bodyPr wrap="square"/>
                    <a:lstStyle/>
                    <a:p>
                      <a:pPr algn="ctr"/>
                      <a:r>
                        <a:rPr sz="1300" b="1">
                          <a:solidFill>
                            <a:srgbClr val="FFFFFF"/>
                          </a:solidFill>
                          <a:latin typeface="Calibri"/>
                        </a:rPr>
                        <a:t>lDDT ↑</a:t>
                      </a:r>
                    </a:p>
                  </a:txBody>
                  <a:tcPr marL="73152" marR="73152" marT="27432" marB="27432" anchor="ctr">
                    <a:solidFill>
                      <a:srgbClr val="0B0B0B"/>
                    </a:solidFill>
                  </a:tcPr>
                </a:tc>
                <a:tc>
                  <a:txBody>
                    <a:bodyPr wrap="square"/>
                    <a:lstStyle/>
                    <a:p>
                      <a:pPr algn="ctr"/>
                      <a:r>
                        <a:rPr sz="1300" b="1">
                          <a:solidFill>
                            <a:srgbClr val="FFFFFF"/>
                          </a:solidFill>
                          <a:latin typeface="Calibri"/>
                        </a:rPr>
                        <a:t>Cα RMSD (Å) ↓</a:t>
                      </a:r>
                    </a:p>
                  </a:txBody>
                  <a:tcPr marL="73152" marR="73152" marT="27432" marB="27432" anchor="ctr">
                    <a:solidFill>
                      <a:srgbClr val="0B0B0B"/>
                    </a:solidFill>
                  </a:tcPr>
                </a:tc>
              </a:tr>
              <a:tr h="457200">
                <a:tc>
                  <a:txBody>
                    <a:bodyPr wrap="square"/>
                    <a:lstStyle/>
                    <a:p>
                      <a:pPr algn="l"/>
                      <a:r>
                        <a:rPr sz="1300" b="0">
                          <a:solidFill>
                            <a:srgbClr val="0B0B0B"/>
                          </a:solidFill>
                          <a:latin typeface="Calibri"/>
                        </a:rPr>
                        <a:t>T1124 (TBM-easy)</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0.537</a:t>
                      </a:r>
                    </a:p>
                  </a:txBody>
                  <a:tcPr marL="73152" marR="73152" marT="27432" marB="27432" anchor="ctr">
                    <a:solidFill>
                      <a:srgbClr val="FFFFFF"/>
                    </a:solidFill>
                  </a:tcPr>
                </a:tc>
                <a:tc>
                  <a:txBody>
                    <a:bodyPr wrap="square"/>
                    <a:lstStyle/>
                    <a:p>
                      <a:pPr algn="ctr"/>
                      <a:r>
                        <a:rPr sz="1300" b="0">
                          <a:solidFill>
                            <a:srgbClr val="0B0B0B"/>
                          </a:solidFill>
                          <a:latin typeface="Calibri"/>
                        </a:rPr>
                        <a:t>41.3</a:t>
                      </a:r>
                    </a:p>
                  </a:txBody>
                  <a:tcPr marL="73152" marR="73152" marT="27432" marB="27432" anchor="ctr">
                    <a:solidFill>
                      <a:srgbClr val="FFFFFF"/>
                    </a:solidFill>
                  </a:tcPr>
                </a:tc>
                <a:tc>
                  <a:txBody>
                    <a:bodyPr wrap="square"/>
                    <a:lstStyle/>
                    <a:p>
                      <a:pPr algn="ctr"/>
                      <a:r>
                        <a:rPr sz="1300" b="0">
                          <a:solidFill>
                            <a:srgbClr val="0B0B0B"/>
                          </a:solidFill>
                          <a:latin typeface="Calibri"/>
                        </a:rPr>
                        <a:t>0.542</a:t>
                      </a:r>
                    </a:p>
                  </a:txBody>
                  <a:tcPr marL="73152" marR="73152" marT="27432" marB="27432" anchor="ctr">
                    <a:solidFill>
                      <a:srgbClr val="FFFFFF"/>
                    </a:solidFill>
                  </a:tcPr>
                </a:tc>
                <a:tc>
                  <a:txBody>
                    <a:bodyPr wrap="square"/>
                    <a:lstStyle/>
                    <a:p>
                      <a:pPr algn="ctr"/>
                      <a:r>
                        <a:rPr sz="1300" b="0">
                          <a:solidFill>
                            <a:srgbClr val="0B0B0B"/>
                          </a:solidFill>
                          <a:latin typeface="Calibri"/>
                        </a:rPr>
                        <a:t>21.29</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0.940</a:t>
                      </a:r>
                    </a:p>
                  </a:txBody>
                  <a:tcPr marL="73152" marR="73152" marT="27432" marB="27432" anchor="ctr">
                    <a:solidFill>
                      <a:srgbClr val="F5F4F1"/>
                    </a:solidFill>
                  </a:tcPr>
                </a:tc>
                <a:tc>
                  <a:txBody>
                    <a:bodyPr wrap="square"/>
                    <a:lstStyle/>
                    <a:p>
                      <a:pPr algn="ctr"/>
                      <a:r>
                        <a:rPr sz="1300" b="0">
                          <a:solidFill>
                            <a:srgbClr val="0B0B0B"/>
                          </a:solidFill>
                          <a:latin typeface="Calibri"/>
                        </a:rPr>
                        <a:t>90.8</a:t>
                      </a:r>
                    </a:p>
                  </a:txBody>
                  <a:tcPr marL="73152" marR="73152" marT="27432" marB="27432" anchor="ctr">
                    <a:solidFill>
                      <a:srgbClr val="F5F4F1"/>
                    </a:solidFill>
                  </a:tcPr>
                </a:tc>
                <a:tc>
                  <a:txBody>
                    <a:bodyPr wrap="square"/>
                    <a:lstStyle/>
                    <a:p>
                      <a:pPr algn="ctr"/>
                      <a:r>
                        <a:rPr sz="1300" b="0">
                          <a:solidFill>
                            <a:srgbClr val="0B0B0B"/>
                          </a:solidFill>
                          <a:latin typeface="Calibri"/>
                        </a:rPr>
                        <a:t>0.870</a:t>
                      </a:r>
                    </a:p>
                  </a:txBody>
                  <a:tcPr marL="73152" marR="73152" marT="27432" marB="27432" anchor="ctr">
                    <a:solidFill>
                      <a:srgbClr val="F5F4F1"/>
                    </a:solidFill>
                  </a:tcPr>
                </a:tc>
                <a:tc>
                  <a:txBody>
                    <a:bodyPr wrap="square"/>
                    <a:lstStyle/>
                    <a:p>
                      <a:pPr algn="ctr"/>
                      <a:r>
                        <a:rPr sz="1300" b="0">
                          <a:solidFill>
                            <a:srgbClr val="0B0B0B"/>
                          </a:solidFill>
                          <a:latin typeface="Calibri"/>
                        </a:rPr>
                        <a:t>6.59</a:t>
                      </a:r>
                    </a:p>
                  </a:txBody>
                  <a:tcPr marL="73152" marR="73152" marT="27432" marB="27432" anchor="ctr">
                    <a:solidFill>
                      <a:srgbClr val="F5F4F1"/>
                    </a:solidFill>
                  </a:tcPr>
                </a:tc>
              </a:tr>
              <a:tr h="457200">
                <a:tc>
                  <a:txBody>
                    <a:bodyPr wrap="square"/>
                    <a:lstStyle/>
                    <a:p>
                      <a:pPr algn="l"/>
                      <a:r>
                        <a:rPr sz="1300" b="0">
                          <a:solidFill>
                            <a:srgbClr val="0B0B0B"/>
                          </a:solidFill>
                          <a:latin typeface="Calibri"/>
                        </a:rPr>
                        <a:t>T1127 (TBM-hard)</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0.722</a:t>
                      </a:r>
                    </a:p>
                  </a:txBody>
                  <a:tcPr marL="73152" marR="73152" marT="27432" marB="27432" anchor="ctr">
                    <a:solidFill>
                      <a:srgbClr val="FFFFFF"/>
                    </a:solidFill>
                  </a:tcPr>
                </a:tc>
                <a:tc>
                  <a:txBody>
                    <a:bodyPr wrap="square"/>
                    <a:lstStyle/>
                    <a:p>
                      <a:pPr algn="ctr"/>
                      <a:r>
                        <a:rPr sz="1300" b="0">
                          <a:solidFill>
                            <a:srgbClr val="0B0B0B"/>
                          </a:solidFill>
                          <a:latin typeface="Calibri"/>
                        </a:rPr>
                        <a:t>65.5</a:t>
                      </a:r>
                    </a:p>
                  </a:txBody>
                  <a:tcPr marL="73152" marR="73152" marT="27432" marB="27432" anchor="ctr">
                    <a:solidFill>
                      <a:srgbClr val="FFFFFF"/>
                    </a:solidFill>
                  </a:tcPr>
                </a:tc>
                <a:tc>
                  <a:txBody>
                    <a:bodyPr wrap="square"/>
                    <a:lstStyle/>
                    <a:p>
                      <a:pPr algn="ctr"/>
                      <a:r>
                        <a:rPr sz="1300" b="0">
                          <a:solidFill>
                            <a:srgbClr val="0B0B0B"/>
                          </a:solidFill>
                          <a:latin typeface="Calibri"/>
                        </a:rPr>
                        <a:t>0.529</a:t>
                      </a:r>
                    </a:p>
                  </a:txBody>
                  <a:tcPr marL="73152" marR="73152" marT="27432" marB="27432" anchor="ctr">
                    <a:solidFill>
                      <a:srgbClr val="FFFFFF"/>
                    </a:solidFill>
                  </a:tcPr>
                </a:tc>
                <a:tc>
                  <a:txBody>
                    <a:bodyPr wrap="square"/>
                    <a:lstStyle/>
                    <a:p>
                      <a:pPr algn="ctr"/>
                      <a:r>
                        <a:rPr sz="1300" b="0">
                          <a:solidFill>
                            <a:srgbClr val="0B0B0B"/>
                          </a:solidFill>
                          <a:latin typeface="Calibri"/>
                        </a:rPr>
                        <a:t>11.47</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0.973</a:t>
                      </a:r>
                    </a:p>
                  </a:txBody>
                  <a:tcPr marL="73152" marR="73152" marT="27432" marB="27432" anchor="ctr">
                    <a:solidFill>
                      <a:srgbClr val="F5F4F1"/>
                    </a:solidFill>
                  </a:tcPr>
                </a:tc>
                <a:tc>
                  <a:txBody>
                    <a:bodyPr wrap="square"/>
                    <a:lstStyle/>
                    <a:p>
                      <a:pPr algn="ctr"/>
                      <a:r>
                        <a:rPr sz="1300" b="0">
                          <a:solidFill>
                            <a:srgbClr val="0B0B0B"/>
                          </a:solidFill>
                          <a:latin typeface="Calibri"/>
                        </a:rPr>
                        <a:t>95.5</a:t>
                      </a:r>
                    </a:p>
                  </a:txBody>
                  <a:tcPr marL="73152" marR="73152" marT="27432" marB="27432" anchor="ctr">
                    <a:solidFill>
                      <a:srgbClr val="F5F4F1"/>
                    </a:solidFill>
                  </a:tcPr>
                </a:tc>
                <a:tc>
                  <a:txBody>
                    <a:bodyPr wrap="square"/>
                    <a:lstStyle/>
                    <a:p>
                      <a:pPr algn="ctr"/>
                      <a:r>
                        <a:rPr sz="1300" b="0">
                          <a:solidFill>
                            <a:srgbClr val="0B0B0B"/>
                          </a:solidFill>
                          <a:latin typeface="Calibri"/>
                        </a:rPr>
                        <a:t>0.882</a:t>
                      </a:r>
                    </a:p>
                  </a:txBody>
                  <a:tcPr marL="73152" marR="73152" marT="27432" marB="27432" anchor="ctr">
                    <a:solidFill>
                      <a:srgbClr val="F5F4F1"/>
                    </a:solidFill>
                  </a:tcPr>
                </a:tc>
                <a:tc>
                  <a:txBody>
                    <a:bodyPr wrap="square"/>
                    <a:lstStyle/>
                    <a:p>
                      <a:pPr algn="ctr"/>
                      <a:r>
                        <a:rPr sz="1300" b="0">
                          <a:solidFill>
                            <a:srgbClr val="0B0B0B"/>
                          </a:solidFill>
                          <a:latin typeface="Calibri"/>
                        </a:rPr>
                        <a:t>0.92</a:t>
                      </a:r>
                    </a:p>
                  </a:txBody>
                  <a:tcPr marL="73152" marR="73152" marT="27432" marB="27432" anchor="ctr">
                    <a:solidFill>
                      <a:srgbClr val="F5F4F1"/>
                    </a:solidFill>
                  </a:tcPr>
                </a:tc>
              </a:tr>
              <a:tr h="457200">
                <a:tc>
                  <a:txBody>
                    <a:bodyPr wrap="square"/>
                    <a:lstStyle/>
                    <a:p>
                      <a:pPr algn="l"/>
                      <a:r>
                        <a:rPr sz="1300" b="0">
                          <a:solidFill>
                            <a:srgbClr val="0B0B0B"/>
                          </a:solidFill>
                          <a:latin typeface="Calibri"/>
                        </a:rPr>
                        <a:t>T1151s2 (FM/TBM)</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0.524</a:t>
                      </a:r>
                    </a:p>
                  </a:txBody>
                  <a:tcPr marL="73152" marR="73152" marT="27432" marB="27432" anchor="ctr">
                    <a:solidFill>
                      <a:srgbClr val="FFFFFF"/>
                    </a:solidFill>
                  </a:tcPr>
                </a:tc>
                <a:tc>
                  <a:txBody>
                    <a:bodyPr wrap="square"/>
                    <a:lstStyle/>
                    <a:p>
                      <a:pPr algn="ctr"/>
                      <a:r>
                        <a:rPr sz="1300" b="0">
                          <a:solidFill>
                            <a:srgbClr val="0B0B0B"/>
                          </a:solidFill>
                          <a:latin typeface="Calibri"/>
                        </a:rPr>
                        <a:t>52.7</a:t>
                      </a:r>
                    </a:p>
                  </a:txBody>
                  <a:tcPr marL="73152" marR="73152" marT="27432" marB="27432" anchor="ctr">
                    <a:solidFill>
                      <a:srgbClr val="FFFFFF"/>
                    </a:solidFill>
                  </a:tcPr>
                </a:tc>
                <a:tc>
                  <a:txBody>
                    <a:bodyPr wrap="square"/>
                    <a:lstStyle/>
                    <a:p>
                      <a:pPr algn="ctr"/>
                      <a:r>
                        <a:rPr sz="1300" b="0">
                          <a:solidFill>
                            <a:srgbClr val="0B0B0B"/>
                          </a:solidFill>
                          <a:latin typeface="Calibri"/>
                        </a:rPr>
                        <a:t>0.407</a:t>
                      </a:r>
                    </a:p>
                  </a:txBody>
                  <a:tcPr marL="73152" marR="73152" marT="27432" marB="27432" anchor="ctr">
                    <a:solidFill>
                      <a:srgbClr val="FFFFFF"/>
                    </a:solidFill>
                  </a:tcPr>
                </a:tc>
                <a:tc>
                  <a:txBody>
                    <a:bodyPr wrap="square"/>
                    <a:lstStyle/>
                    <a:p>
                      <a:pPr algn="ctr"/>
                      <a:r>
                        <a:rPr sz="1300" b="0">
                          <a:solidFill>
                            <a:srgbClr val="0B0B0B"/>
                          </a:solidFill>
                          <a:latin typeface="Calibri"/>
                        </a:rPr>
                        <a:t>17.33</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0.916</a:t>
                      </a:r>
                    </a:p>
                  </a:txBody>
                  <a:tcPr marL="73152" marR="73152" marT="27432" marB="27432" anchor="ctr">
                    <a:solidFill>
                      <a:srgbClr val="F5F4F1"/>
                    </a:solidFill>
                  </a:tcPr>
                </a:tc>
                <a:tc>
                  <a:txBody>
                    <a:bodyPr wrap="square"/>
                    <a:lstStyle/>
                    <a:p>
                      <a:pPr algn="ctr"/>
                      <a:r>
                        <a:rPr sz="1300" b="0">
                          <a:solidFill>
                            <a:srgbClr val="0B0B0B"/>
                          </a:solidFill>
                          <a:latin typeface="Calibri"/>
                        </a:rPr>
                        <a:t>92.9</a:t>
                      </a:r>
                    </a:p>
                  </a:txBody>
                  <a:tcPr marL="73152" marR="73152" marT="27432" marB="27432" anchor="ctr">
                    <a:solidFill>
                      <a:srgbClr val="F5F4F1"/>
                    </a:solidFill>
                  </a:tcPr>
                </a:tc>
                <a:tc>
                  <a:txBody>
                    <a:bodyPr wrap="square"/>
                    <a:lstStyle/>
                    <a:p>
                      <a:pPr algn="ctr"/>
                      <a:r>
                        <a:rPr sz="1300" b="0">
                          <a:solidFill>
                            <a:srgbClr val="0B0B0B"/>
                          </a:solidFill>
                          <a:latin typeface="Calibri"/>
                        </a:rPr>
                        <a:t>0.817</a:t>
                      </a:r>
                    </a:p>
                  </a:txBody>
                  <a:tcPr marL="73152" marR="73152" marT="27432" marB="27432" anchor="ctr">
                    <a:solidFill>
                      <a:srgbClr val="F5F4F1"/>
                    </a:solidFill>
                  </a:tcPr>
                </a:tc>
                <a:tc>
                  <a:txBody>
                    <a:bodyPr wrap="square"/>
                    <a:lstStyle/>
                    <a:p>
                      <a:pPr algn="ctr"/>
                      <a:r>
                        <a:rPr sz="1300" b="0">
                          <a:solidFill>
                            <a:srgbClr val="0B0B0B"/>
                          </a:solidFill>
                          <a:latin typeface="Calibri"/>
                        </a:rPr>
                        <a:t>1.53</a:t>
                      </a:r>
                    </a:p>
                  </a:txBody>
                  <a:tcPr marL="73152" marR="73152" marT="27432" marB="27432" anchor="ctr">
                    <a:solidFill>
                      <a:srgbClr val="F5F4F1"/>
                    </a:solidFill>
                  </a:tcPr>
                </a:tc>
              </a:tr>
            </a:tbl>
          </a:graphicData>
        </a:graphic>
      </p:graphicFrame>
      <p:sp>
        <p:nvSpPr>
          <p:cNvPr id="8" name="TextBox 7"/>
          <p:cNvSpPr txBox="1"/>
          <p:nvPr/>
        </p:nvSpPr>
        <p:spPr>
          <a:xfrm>
            <a:off x="7680960" y="1463040"/>
            <a:ext cx="3931920" cy="4389120"/>
          </a:xfrm>
          <a:prstGeom prst="rect">
            <a:avLst/>
          </a:prstGeom>
          <a:noFill/>
        </p:spPr>
        <p:txBody>
          <a:bodyPr wrap="square" anchor="t" lIns="45720" rIns="45720" tIns="27432" bIns="27432">
            <a:spAutoFit/>
          </a:bodyPr>
          <a:lstStyle/>
          <a:p>
            <a:pPr algn="l">
              <a:spcAft>
                <a:spcPts val="800"/>
              </a:spcAft>
            </a:pPr>
            <a:r>
              <a:rPr sz="1500" b="1">
                <a:solidFill>
                  <a:srgbClr val="0B0B0B"/>
                </a:solidFill>
                <a:latin typeface="Calibri"/>
              </a:rPr>
              <a:t>TM-score gap (AF3 − MODELLER)</a:t>
            </a:r>
          </a:p>
          <a:p>
            <a:pPr algn="l">
              <a:spcAft>
                <a:spcPts val="800"/>
              </a:spcAft>
            </a:pPr>
            <a:r>
              <a:rPr sz="1500" b="0">
                <a:solidFill>
                  <a:srgbClr val="0B0B0B"/>
                </a:solidFill>
                <a:latin typeface="Calibri"/>
              </a:rPr>
              <a:t>T1124: +0.40</a:t>
            </a:r>
          </a:p>
          <a:p>
            <a:pPr algn="l">
              <a:spcAft>
                <a:spcPts val="800"/>
              </a:spcAft>
            </a:pPr>
            <a:r>
              <a:rPr sz="1500" b="0">
                <a:solidFill>
                  <a:srgbClr val="0B0B0B"/>
                </a:solidFill>
                <a:latin typeface="Calibri"/>
              </a:rPr>
              <a:t>T1127: +0.25</a:t>
            </a:r>
          </a:p>
          <a:p>
            <a:pPr algn="l">
              <a:spcAft>
                <a:spcPts val="800"/>
              </a:spcAft>
            </a:pPr>
            <a:r>
              <a:rPr sz="1500" b="0">
                <a:solidFill>
                  <a:srgbClr val="0B0B0B"/>
                </a:solidFill>
                <a:latin typeface="Calibri"/>
              </a:rPr>
              <a:t>T1151s2: +0.39</a:t>
            </a:r>
          </a:p>
          <a:p>
            <a:pPr algn="l">
              <a:spcAft>
                <a:spcPts val="800"/>
              </a:spcAft>
            </a:pPr>
            <a:r>
              <a:rPr sz="1600" b="0">
                <a:solidFill>
                  <a:srgbClr val="0B0B0B"/>
                </a:solidFill>
                <a:latin typeface="Calibri"/>
              </a:rPr>
              <a:t/>
            </a:r>
          </a:p>
          <a:p>
            <a:pPr algn="l">
              <a:spcAft>
                <a:spcPts val="800"/>
              </a:spcAft>
            </a:pPr>
            <a:r>
              <a:rPr sz="1400" b="0">
                <a:solidFill>
                  <a:srgbClr val="0B0B0B"/>
                </a:solidFill>
                <a:latin typeface="Calibri"/>
              </a:rPr>
              <a:t>MODELLER is best on the TBM-hard target (TM 0.72), not the TBM-easy one: CASP difficulty labels did not predict MODELLER's accuracy here.</a:t>
            </a:r>
          </a:p>
          <a:p>
            <a:pPr algn="l">
              <a:spcAft>
                <a:spcPts val="800"/>
              </a:spcAft>
            </a:pPr>
            <a:r>
              <a:rPr sz="1400" b="0">
                <a:solidFill>
                  <a:srgbClr val="0B0B0B"/>
                </a:solidFill>
                <a:latin typeface="Calibri"/>
              </a:rPr>
              <a:t>Where MODELLER had a template, its core is close (T1127 1.9 Å, T1151s2 1.7 Å mean Cα error); the gap comes from what the template does not cover.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Scores at a glance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8</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Chart 6"/>
          <p:cNvGraphicFramePr>
            <a:graphicFrameLocks noGrp="1"/>
          </p:cNvGraphicFramePr>
          <p:nvPr/>
        </p:nvGraphicFramePr>
        <p:xfrm>
          <a:off x="457200" y="1371600"/>
          <a:ext cx="3749039" cy="475488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4251960" y="1371600"/>
          <a:ext cx="3749039" cy="4754880"/>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046720" y="1371600"/>
          <a:ext cx="3749039" cy="4754880"/>
        </p:xfrm>
        <a:graphic>
          <a:graphicData uri="http://schemas.openxmlformats.org/drawingml/2006/chart">
            <c:chart xmlns:c="http://schemas.openxmlformats.org/drawingml/2006/chart" r:id="rId5"/>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T1124</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T1124 (TBM-easy): right domains, wrong arrangement</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9</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24_3d_MODELLER.png"/>
          <p:cNvPicPr>
            <a:picLocks noChangeAspect="1"/>
          </p:cNvPicPr>
          <p:nvPr/>
        </p:nvPicPr>
        <p:blipFill>
          <a:blip r:embed="rId3"/>
          <a:stretch>
            <a:fillRect/>
          </a:stretch>
        </p:blipFill>
        <p:spPr>
          <a:xfrm>
            <a:off x="548640" y="1915637"/>
            <a:ext cx="2743200" cy="2066605"/>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0.537 · GDT-TS 41.3 · RMSD 21.3 Å</a:t>
            </a:r>
          </a:p>
        </p:txBody>
      </p:sp>
      <p:pic>
        <p:nvPicPr>
          <p:cNvPr id="10" name="Picture 9" descr="T1124_3d_AlphaFold3.png"/>
          <p:cNvPicPr>
            <a:picLocks noChangeAspect="1"/>
          </p:cNvPicPr>
          <p:nvPr/>
        </p:nvPicPr>
        <p:blipFill>
          <a:blip r:embed="rId4"/>
          <a:stretch>
            <a:fillRect/>
          </a:stretch>
        </p:blipFill>
        <p:spPr>
          <a:xfrm>
            <a:off x="3429000" y="2188798"/>
            <a:ext cx="2743200" cy="1520282"/>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0.940 · GDT-TS 90.8 · RMSD 6.6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5I2H:A (O-methyltransferase), 27% identity, 81% of the target aligned.</a:t>
            </a:r>
          </a:p>
          <a:p>
            <a:pPr algn="l">
              <a:spcAft>
                <a:spcPts val="600"/>
              </a:spcAft>
            </a:pPr>
            <a:r>
              <a:rPr sz="1300" b="0">
                <a:solidFill>
                  <a:srgbClr val="0B0B0B"/>
                </a:solidFill>
                <a:latin typeface="Calibri"/>
              </a:rPr>
              <a:t>•  Residues 7–135 are placed as a block in the wrong position: mean Cα error 38 Å, while local lDDT stays 0.64–0.71 → a domain-placement error, not a local-fold error.</a:t>
            </a:r>
          </a:p>
        </p:txBody>
      </p:sp>
      <p:pic>
        <p:nvPicPr>
          <p:cNvPr id="20" name="Picture 19" descr="T1124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The catalytic domain (~136–364) is mostly within 4 Å; z-DOPE and GA341 (1.0) cannot see a misplaced domain.</a:t>
            </a:r>
          </a:p>
          <a:p>
            <a:pPr algn="l">
              <a:spcAft>
                <a:spcPts val="600"/>
              </a:spcAft>
            </a:pPr>
            <a:r>
              <a:rPr sz="1300" b="0">
                <a:solidFill>
                  <a:srgbClr val="0B0B0B"/>
                </a:solidFill>
                <a:latin typeface="Calibri"/>
              </a:rPr>
              <a:t>•  AlphaFold3 places the N-terminal region correctly; its 6.6 Å RMSD comes from the C-terminal tail (369–384, linker and tag).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T1127</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T1127 (TBM-hard): core right, insertion missing</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10</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27_3d_MODELLER.png"/>
          <p:cNvPicPr>
            <a:picLocks noChangeAspect="1"/>
          </p:cNvPicPr>
          <p:nvPr/>
        </p:nvPicPr>
        <p:blipFill>
          <a:blip r:embed="rId3"/>
          <a:stretch>
            <a:fillRect/>
          </a:stretch>
        </p:blipFill>
        <p:spPr>
          <a:xfrm>
            <a:off x="548640" y="2397138"/>
            <a:ext cx="2743200" cy="1103603"/>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0.722 · GDT-TS 65.5 · RMSD 11.5 Å</a:t>
            </a:r>
          </a:p>
        </p:txBody>
      </p:sp>
      <p:pic>
        <p:nvPicPr>
          <p:cNvPr id="10" name="Picture 9" descr="T1127_3d_AlphaFold3.png"/>
          <p:cNvPicPr>
            <a:picLocks noChangeAspect="1"/>
          </p:cNvPicPr>
          <p:nvPr/>
        </p:nvPicPr>
        <p:blipFill>
          <a:blip r:embed="rId4"/>
          <a:stretch>
            <a:fillRect/>
          </a:stretch>
        </p:blipFill>
        <p:spPr>
          <a:xfrm>
            <a:off x="3429000" y="2124061"/>
            <a:ext cx="2743200" cy="1649756"/>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0.973 · GDT-TS 95.5 · RMSD 0.9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2FE7:B (GNAT acetyltransferase), 36% identity, 75% coverage.</a:t>
            </a:r>
          </a:p>
          <a:p>
            <a:pPr algn="l">
              <a:spcAft>
                <a:spcPts val="600"/>
              </a:spcAft>
            </a:pPr>
            <a:r>
              <a:rPr sz="1300" b="0">
                <a:solidFill>
                  <a:srgbClr val="0B0B0B"/>
                </a:solidFill>
                <a:latin typeface="Calibri"/>
              </a:rPr>
              <a:t>•  Template-covered residues: mean Cα error 1.9 Å, 80% within 2 Å; the 41 uncovered residues (insertion 60–104, C-terminus): 22.3 Å.</a:t>
            </a:r>
          </a:p>
        </p:txBody>
      </p:sp>
      <p:pic>
        <p:nvPicPr>
          <p:cNvPr id="20" name="Picture 19" descr="T1127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Missing template coverage explains nearly all of MODELLER's error (RMSD 11.5 Å).</a:t>
            </a:r>
          </a:p>
          <a:p>
            <a:pPr algn="l">
              <a:spcAft>
                <a:spcPts val="600"/>
              </a:spcAft>
            </a:pPr>
            <a:r>
              <a:rPr sz="1300" b="0">
                <a:solidFill>
                  <a:srgbClr val="0B0B0B"/>
                </a:solidFill>
                <a:latin typeface="Calibri"/>
              </a:rPr>
              <a:t>•  AlphaFold3 models the insertion correctly too (0.9 Å on uncovered residues).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T1151S2</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T1151s2 (FM/TBM): core right, tail missing</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11</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51s2_3d_MODELLER.png"/>
          <p:cNvPicPr>
            <a:picLocks noChangeAspect="1"/>
          </p:cNvPicPr>
          <p:nvPr/>
        </p:nvPicPr>
        <p:blipFill>
          <a:blip r:embed="rId3"/>
          <a:stretch>
            <a:fillRect/>
          </a:stretch>
        </p:blipFill>
        <p:spPr>
          <a:xfrm>
            <a:off x="1108671" y="1691639"/>
            <a:ext cx="1623136" cy="2514600"/>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0.524 · GDT-TS 52.7 · RMSD 17.3 Å</a:t>
            </a:r>
          </a:p>
        </p:txBody>
      </p:sp>
      <p:pic>
        <p:nvPicPr>
          <p:cNvPr id="10" name="Picture 9" descr="T1151s2_3d_AlphaFold3.png"/>
          <p:cNvPicPr>
            <a:picLocks noChangeAspect="1"/>
          </p:cNvPicPr>
          <p:nvPr/>
        </p:nvPicPr>
        <p:blipFill>
          <a:blip r:embed="rId4"/>
          <a:stretch>
            <a:fillRect/>
          </a:stretch>
        </p:blipFill>
        <p:spPr>
          <a:xfrm>
            <a:off x="3545932" y="1691640"/>
            <a:ext cx="2509335" cy="2514600"/>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0.916 · GDT-TS 92.9 · RMSD 1.5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7KUG:A (WhiB7), found by the profile search: 38% identity over residues 30–84, two thirds of the evaluation unit.</a:t>
            </a:r>
          </a:p>
          <a:p>
            <a:pPr algn="l">
              <a:spcAft>
                <a:spcPts val="600"/>
              </a:spcAft>
            </a:pPr>
            <a:r>
              <a:rPr sz="1300" b="0">
                <a:solidFill>
                  <a:srgbClr val="0B0B0B"/>
                </a:solidFill>
                <a:latin typeface="Calibri"/>
              </a:rPr>
              <a:t>•  The WhiB core is accurate: mean Cα error 1.7 Å, 71% within 2 Å.</a:t>
            </a:r>
          </a:p>
        </p:txBody>
      </p:sp>
      <p:pic>
        <p:nvPicPr>
          <p:cNvPr id="20" name="Picture 19" descr="T1151s2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The C-terminal tail 85–111 has no template and is placed ~35 Å away.</a:t>
            </a:r>
          </a:p>
          <a:p>
            <a:pPr algn="l">
              <a:spcAft>
                <a:spcPts val="600"/>
              </a:spcAft>
            </a:pPr>
            <a:r>
              <a:rPr sz="1300" b="0">
                <a:solidFill>
                  <a:srgbClr val="0B0B0B"/>
                </a:solidFill>
                <a:latin typeface="Calibri"/>
              </a:rPr>
              <a:t>•  AlphaFold3 gets the tail right too (1.5 Å) and the core slightly better (0.6 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AGENT VS BASELINE</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Did the Claude agent change the outcome?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12</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11064240" cy="2011680"/>
        </p:xfrm>
        <a:graphic>
          <a:graphicData uri="http://schemas.openxmlformats.org/drawingml/2006/table">
            <a:tbl>
              <a:tblPr firstRow="1" bandRow="1">
                <a:tableStyleId>{5C22544A-7EE6-4342-B048-85BDC9FD1C3A}</a:tableStyleId>
              </a:tblPr>
              <a:tblGrid>
                <a:gridCol w="1280160"/>
                <a:gridCol w="3108960"/>
                <a:gridCol w="3840480"/>
                <a:gridCol w="2834640"/>
              </a:tblGrid>
              <a:tr h="502920">
                <a:tc>
                  <a:txBody>
                    <a:bodyPr wrap="square"/>
                    <a:lstStyle/>
                    <a:p>
                      <a:pPr algn="l"/>
                      <a:r>
                        <a:rPr sz="1400" b="1">
                          <a:solidFill>
                            <a:srgbClr val="FFFFFF"/>
                          </a:solidFill>
                          <a:latin typeface="Calibri"/>
                        </a:rPr>
                        <a:t>Target</a:t>
                      </a:r>
                    </a:p>
                  </a:txBody>
                  <a:tcPr marL="73152" marR="73152" marT="27432" marB="27432" anchor="ctr">
                    <a:solidFill>
                      <a:srgbClr val="0B0B0B"/>
                    </a:solidFill>
                  </a:tcPr>
                </a:tc>
                <a:tc>
                  <a:txBody>
                    <a:bodyPr wrap="square"/>
                    <a:lstStyle/>
                    <a:p>
                      <a:pPr algn="ctr"/>
                      <a:r>
                        <a:rPr sz="1400" b="1">
                          <a:solidFill>
                            <a:srgbClr val="FFFFFF"/>
                          </a:solidFill>
                          <a:latin typeface="Calibri"/>
                        </a:rPr>
                        <a:t>Baseline (fixed rules)</a:t>
                      </a:r>
                    </a:p>
                  </a:txBody>
                  <a:tcPr marL="73152" marR="73152" marT="27432" marB="27432" anchor="ctr">
                    <a:solidFill>
                      <a:srgbClr val="0B0B0B"/>
                    </a:solidFill>
                  </a:tcPr>
                </a:tc>
                <a:tc>
                  <a:txBody>
                    <a:bodyPr wrap="square"/>
                    <a:lstStyle/>
                    <a:p>
                      <a:pPr algn="ctr"/>
                      <a:r>
                        <a:rPr sz="1400" b="1">
                          <a:solidFill>
                            <a:srgbClr val="FFFFFF"/>
                          </a:solidFill>
                          <a:latin typeface="Calibri"/>
                        </a:rPr>
                        <a:t>Claude agent</a:t>
                      </a:r>
                    </a:p>
                  </a:txBody>
                  <a:tcPr marL="73152" marR="73152" marT="27432" marB="27432" anchor="ctr">
                    <a:solidFill>
                      <a:srgbClr val="0B0B0B"/>
                    </a:solidFill>
                  </a:tcPr>
                </a:tc>
                <a:tc>
                  <a:txBody>
                    <a:bodyPr wrap="square"/>
                    <a:lstStyle/>
                    <a:p>
                      <a:pPr algn="ctr"/>
                      <a:r>
                        <a:rPr sz="1400" b="1">
                          <a:solidFill>
                            <a:srgbClr val="FFFFFF"/>
                          </a:solidFill>
                          <a:latin typeface="Calibri"/>
                        </a:rPr>
                        <a:t>TM (agent / baseline)</a:t>
                      </a:r>
                    </a:p>
                  </a:txBody>
                  <a:tcPr marL="73152" marR="73152" marT="27432" marB="27432" anchor="ctr">
                    <a:solidFill>
                      <a:srgbClr val="0B0B0B"/>
                    </a:solidFill>
                  </a:tcPr>
                </a:tc>
              </a:tr>
              <a:tr h="502920">
                <a:tc>
                  <a:txBody>
                    <a:bodyPr wrap="square"/>
                    <a:lstStyle/>
                    <a:p>
                      <a:pPr algn="l"/>
                      <a:r>
                        <a:rPr sz="1400" b="0">
                          <a:solidFill>
                            <a:srgbClr val="0B0B0B"/>
                          </a:solidFill>
                          <a:latin typeface="Calibri"/>
                        </a:rPr>
                        <a:t>T1124</a:t>
                      </a:r>
                    </a:p>
                  </a:txBody>
                  <a:tcPr marL="73152" marR="73152" marT="27432" marB="27432" anchor="ctr">
                    <a:solidFill>
                      <a:srgbClr val="FFFFFF"/>
                    </a:solidFill>
                  </a:tcPr>
                </a:tc>
                <a:tc>
                  <a:txBody>
                    <a:bodyPr wrap="square"/>
                    <a:lstStyle/>
                    <a:p>
                      <a:pPr algn="ctr"/>
                      <a:r>
                        <a:rPr sz="1400" b="0">
                          <a:solidFill>
                            <a:srgbClr val="0B0B0B"/>
                          </a:solidFill>
                          <a:latin typeface="Calibri"/>
                        </a:rPr>
                        <a:t>top-ranked 5I2H:A</a:t>
                      </a:r>
                    </a:p>
                  </a:txBody>
                  <a:tcPr marL="73152" marR="73152" marT="27432" marB="27432" anchor="ctr">
                    <a:solidFill>
                      <a:srgbClr val="FFFFFF"/>
                    </a:solidFill>
                  </a:tcPr>
                </a:tc>
                <a:tc>
                  <a:txBody>
                    <a:bodyPr wrap="square"/>
                    <a:lstStyle/>
                    <a:p>
                      <a:pPr algn="ctr"/>
                      <a:r>
                        <a:rPr sz="1400" b="0">
                          <a:solidFill>
                            <a:srgbClr val="0B0B0B"/>
                          </a:solidFill>
                          <a:latin typeface="Calibri"/>
                        </a:rPr>
                        <a:t>1 search, 3 builds → kept 5I2H:A</a:t>
                      </a:r>
                    </a:p>
                  </a:txBody>
                  <a:tcPr marL="73152" marR="73152" marT="27432" marB="27432" anchor="ctr">
                    <a:solidFill>
                      <a:srgbClr val="FFFFFF"/>
                    </a:solidFill>
                  </a:tcPr>
                </a:tc>
                <a:tc>
                  <a:txBody>
                    <a:bodyPr wrap="square"/>
                    <a:lstStyle/>
                    <a:p>
                      <a:pPr algn="ctr"/>
                      <a:r>
                        <a:rPr sz="1400" b="0">
                          <a:solidFill>
                            <a:srgbClr val="0B0B0B"/>
                          </a:solidFill>
                          <a:latin typeface="Calibri"/>
                        </a:rPr>
                        <a:t>0.537 / 0.537</a:t>
                      </a:r>
                    </a:p>
                  </a:txBody>
                  <a:tcPr marL="73152" marR="73152" marT="27432" marB="27432" anchor="ctr">
                    <a:solidFill>
                      <a:srgbClr val="FFFFFF"/>
                    </a:solidFill>
                  </a:tcPr>
                </a:tc>
              </a:tr>
              <a:tr h="502920">
                <a:tc>
                  <a:txBody>
                    <a:bodyPr wrap="square"/>
                    <a:lstStyle/>
                    <a:p>
                      <a:pPr algn="l"/>
                      <a:r>
                        <a:rPr sz="1400" b="0">
                          <a:solidFill>
                            <a:srgbClr val="0B0B0B"/>
                          </a:solidFill>
                          <a:latin typeface="Calibri"/>
                        </a:rPr>
                        <a:t>T1127</a:t>
                      </a:r>
                    </a:p>
                  </a:txBody>
                  <a:tcPr marL="73152" marR="73152" marT="27432" marB="27432" anchor="ctr">
                    <a:solidFill>
                      <a:srgbClr val="F5F4F1"/>
                    </a:solidFill>
                  </a:tcPr>
                </a:tc>
                <a:tc>
                  <a:txBody>
                    <a:bodyPr wrap="square"/>
                    <a:lstStyle/>
                    <a:p>
                      <a:pPr algn="ctr"/>
                      <a:r>
                        <a:rPr sz="1400" b="0">
                          <a:solidFill>
                            <a:srgbClr val="0B0B0B"/>
                          </a:solidFill>
                          <a:latin typeface="Calibri"/>
                        </a:rPr>
                        <a:t>top-ranked 2FE7:B</a:t>
                      </a:r>
                    </a:p>
                  </a:txBody>
                  <a:tcPr marL="73152" marR="73152" marT="27432" marB="27432" anchor="ctr">
                    <a:solidFill>
                      <a:srgbClr val="F5F4F1"/>
                    </a:solidFill>
                  </a:tcPr>
                </a:tc>
                <a:tc>
                  <a:txBody>
                    <a:bodyPr wrap="square"/>
                    <a:lstStyle/>
                    <a:p>
                      <a:pPr algn="ctr"/>
                      <a:r>
                        <a:rPr sz="1400" b="0">
                          <a:solidFill>
                            <a:srgbClr val="0B0B0B"/>
                          </a:solidFill>
                          <a:latin typeface="Calibri"/>
                        </a:rPr>
                        <a:t>1 search, 3 builds → kept 2FE7:B</a:t>
                      </a:r>
                    </a:p>
                  </a:txBody>
                  <a:tcPr marL="73152" marR="73152" marT="27432" marB="27432" anchor="ctr">
                    <a:solidFill>
                      <a:srgbClr val="F5F4F1"/>
                    </a:solidFill>
                  </a:tcPr>
                </a:tc>
                <a:tc>
                  <a:txBody>
                    <a:bodyPr wrap="square"/>
                    <a:lstStyle/>
                    <a:p>
                      <a:pPr algn="ctr"/>
                      <a:r>
                        <a:rPr sz="1400" b="0">
                          <a:solidFill>
                            <a:srgbClr val="0B0B0B"/>
                          </a:solidFill>
                          <a:latin typeface="Calibri"/>
                        </a:rPr>
                        <a:t>0.722 / 0.722</a:t>
                      </a:r>
                    </a:p>
                  </a:txBody>
                  <a:tcPr marL="73152" marR="73152" marT="27432" marB="27432" anchor="ctr">
                    <a:solidFill>
                      <a:srgbClr val="F5F4F1"/>
                    </a:solidFill>
                  </a:tcPr>
                </a:tc>
              </a:tr>
              <a:tr h="502920">
                <a:tc>
                  <a:txBody>
                    <a:bodyPr wrap="square"/>
                    <a:lstStyle/>
                    <a:p>
                      <a:pPr algn="l"/>
                      <a:r>
                        <a:rPr sz="1400" b="0">
                          <a:solidFill>
                            <a:srgbClr val="0B0B0B"/>
                          </a:solidFill>
                          <a:latin typeface="Calibri"/>
                        </a:rPr>
                        <a:t>T1151s2</a:t>
                      </a:r>
                    </a:p>
                  </a:txBody>
                  <a:tcPr marL="73152" marR="73152" marT="27432" marB="27432" anchor="ctr">
                    <a:solidFill>
                      <a:srgbClr val="FFFFFF"/>
                    </a:solidFill>
                  </a:tcPr>
                </a:tc>
                <a:tc>
                  <a:txBody>
                    <a:bodyPr wrap="square"/>
                    <a:lstStyle/>
                    <a:p>
                      <a:pPr algn="ctr"/>
                      <a:r>
                        <a:rPr sz="1400" b="0">
                          <a:solidFill>
                            <a:srgbClr val="0B0B0B"/>
                          </a:solidFill>
                          <a:latin typeface="Calibri"/>
                        </a:rPr>
                        <a:t>top-ranked 7KUG:A</a:t>
                      </a:r>
                    </a:p>
                  </a:txBody>
                  <a:tcPr marL="73152" marR="73152" marT="27432" marB="27432" anchor="ctr">
                    <a:solidFill>
                      <a:srgbClr val="FFFFFF"/>
                    </a:solidFill>
                  </a:tcPr>
                </a:tc>
                <a:tc>
                  <a:txBody>
                    <a:bodyPr wrap="square"/>
                    <a:lstStyle/>
                    <a:p>
                      <a:pPr algn="ctr"/>
                      <a:r>
                        <a:rPr sz="1400" b="0">
                          <a:solidFill>
                            <a:srgbClr val="0B0B0B"/>
                          </a:solidFill>
                          <a:latin typeface="Calibri"/>
                        </a:rPr>
                        <a:t>2 searches, 3 builds → kept 7KUG:A</a:t>
                      </a:r>
                    </a:p>
                  </a:txBody>
                  <a:tcPr marL="73152" marR="73152" marT="27432" marB="27432" anchor="ctr">
                    <a:solidFill>
                      <a:srgbClr val="FFFFFF"/>
                    </a:solidFill>
                  </a:tcPr>
                </a:tc>
                <a:tc>
                  <a:txBody>
                    <a:bodyPr wrap="square"/>
                    <a:lstStyle/>
                    <a:p>
                      <a:pPr algn="ctr"/>
                      <a:r>
                        <a:rPr sz="1400" b="0">
                          <a:solidFill>
                            <a:srgbClr val="0B0B0B"/>
                          </a:solidFill>
                          <a:latin typeface="Calibri"/>
                        </a:rPr>
                        <a:t>0.524 / 0.524</a:t>
                      </a:r>
                    </a:p>
                  </a:txBody>
                  <a:tcPr marL="73152" marR="73152" marT="27432" marB="27432" anchor="ctr">
                    <a:solidFill>
                      <a:srgbClr val="FFFFFF"/>
                    </a:solidFill>
                  </a:tcPr>
                </a:tc>
              </a:tr>
            </a:tbl>
          </a:graphicData>
        </a:graphic>
      </p:graphicFrame>
      <p:sp>
        <p:nvSpPr>
          <p:cNvPr id="8" name="TextBox 7"/>
          <p:cNvSpPr txBox="1"/>
          <p:nvPr/>
        </p:nvSpPr>
        <p:spPr>
          <a:xfrm>
            <a:off x="548640" y="3749039"/>
            <a:ext cx="11064240" cy="2377440"/>
          </a:xfrm>
          <a:prstGeom prst="rect">
            <a:avLst/>
          </a:prstGeom>
          <a:noFill/>
        </p:spPr>
        <p:txBody>
          <a:bodyPr wrap="square" anchor="t" lIns="45720" rIns="45720" tIns="27432" bIns="27432">
            <a:spAutoFit/>
          </a:bodyPr>
          <a:lstStyle/>
          <a:p>
            <a:pPr algn="l">
              <a:spcAft>
                <a:spcPts val="1000"/>
              </a:spcAft>
            </a:pPr>
            <a:r>
              <a:rPr sz="1500" b="0">
                <a:solidFill>
                  <a:srgbClr val="0B0B0B"/>
                </a:solidFill>
                <a:latin typeface="Calibri"/>
              </a:rPr>
              <a:t>•  Same final template on all three targets → identical scores. Claude's 6 alternative builds confirmed the top-ranked choice rather than beating it.</a:t>
            </a:r>
          </a:p>
          <a:p>
            <a:pPr algn="l">
              <a:spcAft>
                <a:spcPts val="1000"/>
              </a:spcAft>
            </a:pPr>
            <a:r>
              <a:rPr sz="1500" b="0">
                <a:solidFill>
                  <a:srgbClr val="0B0B0B"/>
                </a:solidFill>
                <a:latin typeface="Calibri"/>
              </a:rPr>
              <a:t>•  With a good search and ranking, the fixed rule is already strong; the agent did not improve accuracy here.</a:t>
            </a:r>
          </a:p>
          <a:p>
            <a:pPr algn="l">
              <a:spcAft>
                <a:spcPts val="1000"/>
              </a:spcAft>
            </a:pPr>
            <a:r>
              <a:rPr sz="1500" b="0">
                <a:solidFill>
                  <a:srgbClr val="0B0B0B"/>
                </a:solidFill>
                <a:latin typeface="Calibri"/>
              </a:rPr>
              <a:t>•  Where the agent helped: a written, checkable rationale for every choice, and risk predictions (domain orientation, insertion, uncovered tail) that Agent 2 confirmed.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DISCUSSION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Why is AlphaFold3 so much better?</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13</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6035040" cy="1828800"/>
        </p:xfrm>
        <a:graphic>
          <a:graphicData uri="http://schemas.openxmlformats.org/drawingml/2006/table">
            <a:tbl>
              <a:tblPr firstRow="1" bandRow="1">
                <a:tableStyleId>{5C22544A-7EE6-4342-B048-85BDC9FD1C3A}</a:tableStyleId>
              </a:tblPr>
              <a:tblGrid>
                <a:gridCol w="1097280"/>
                <a:gridCol w="1097280"/>
                <a:gridCol w="1005840"/>
                <a:gridCol w="1417320"/>
                <a:gridCol w="1417320"/>
              </a:tblGrid>
              <a:tr h="457200">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EU covered</a:t>
                      </a:r>
                    </a:p>
                  </a:txBody>
                  <a:tcPr marL="73152" marR="73152" marT="27432" marB="27432" anchor="ctr">
                    <a:solidFill>
                      <a:srgbClr val="0B0B0B"/>
                    </a:solidFill>
                  </a:tcPr>
                </a:tc>
                <a:tc>
                  <a:txBody>
                    <a:bodyPr wrap="square"/>
                    <a:lstStyle/>
                    <a:p>
                      <a:pPr algn="ctr"/>
                      <a:r>
                        <a:rPr sz="1300" b="1">
                          <a:solidFill>
                            <a:srgbClr val="FFFFFF"/>
                          </a:solidFill>
                          <a:latin typeface="Calibri"/>
                        </a:rPr>
                        <a:t>TM gap</a:t>
                      </a:r>
                    </a:p>
                  </a:txBody>
                  <a:tcPr marL="73152" marR="73152" marT="27432" marB="27432" anchor="ctr">
                    <a:solidFill>
                      <a:srgbClr val="0B0B0B"/>
                    </a:solidFill>
                  </a:tcPr>
                </a:tc>
                <a:tc>
                  <a:txBody>
                    <a:bodyPr wrap="square"/>
                    <a:lstStyle/>
                    <a:p>
                      <a:pPr algn="ctr"/>
                      <a:r>
                        <a:rPr sz="1300" b="1">
                          <a:solidFill>
                            <a:srgbClr val="FFFFFF"/>
                          </a:solidFill>
                          <a:latin typeface="Calibri"/>
                        </a:rPr>
                        <a:t>in covered residues</a:t>
                      </a:r>
                    </a:p>
                  </a:txBody>
                  <a:tcPr marL="73152" marR="73152" marT="27432" marB="27432" anchor="ctr">
                    <a:solidFill>
                      <a:srgbClr val="0B0B0B"/>
                    </a:solidFill>
                  </a:tcPr>
                </a:tc>
                <a:tc>
                  <a:txBody>
                    <a:bodyPr wrap="square"/>
                    <a:lstStyle/>
                    <a:p>
                      <a:pPr algn="ctr"/>
                      <a:r>
                        <a:rPr sz="1300" b="1">
                          <a:solidFill>
                            <a:srgbClr val="FFFFFF"/>
                          </a:solidFill>
                          <a:latin typeface="Calibri"/>
                        </a:rPr>
                        <a:t>in uncovered residues</a:t>
                      </a:r>
                    </a:p>
                  </a:txBody>
                  <a:tcPr marL="73152" marR="73152" marT="27432" marB="27432" anchor="ctr">
                    <a:solidFill>
                      <a:srgbClr val="0B0B0B"/>
                    </a:solidFill>
                  </a:tcPr>
                </a:tc>
              </a:tr>
              <a:tr h="457200">
                <a:tc>
                  <a:txBody>
                    <a:bodyPr wrap="square"/>
                    <a:lstStyle/>
                    <a:p>
                      <a:pPr algn="l"/>
                      <a:r>
                        <a:rPr sz="1300" b="0">
                          <a:solidFill>
                            <a:srgbClr val="0B0B0B"/>
                          </a:solidFill>
                          <a:latin typeface="Calibri"/>
                        </a:rPr>
                        <a:t>T1124</a:t>
                      </a:r>
                    </a:p>
                  </a:txBody>
                  <a:tcPr marL="73152" marR="73152" marT="27432" marB="27432" anchor="ctr">
                    <a:solidFill>
                      <a:srgbClr val="FFFFFF"/>
                    </a:solidFill>
                  </a:tcPr>
                </a:tc>
                <a:tc>
                  <a:txBody>
                    <a:bodyPr wrap="square"/>
                    <a:lstStyle/>
                    <a:p>
                      <a:pPr algn="ctr"/>
                      <a:r>
                        <a:rPr sz="1300" b="0">
                          <a:solidFill>
                            <a:srgbClr val="0B0B0B"/>
                          </a:solidFill>
                          <a:latin typeface="Calibri"/>
                        </a:rPr>
                        <a:t>83%</a:t>
                      </a:r>
                    </a:p>
                  </a:txBody>
                  <a:tcPr marL="73152" marR="73152" marT="27432" marB="27432" anchor="ctr">
                    <a:solidFill>
                      <a:srgbClr val="FFFFFF"/>
                    </a:solidFill>
                  </a:tcPr>
                </a:tc>
                <a:tc>
                  <a:txBody>
                    <a:bodyPr wrap="square"/>
                    <a:lstStyle/>
                    <a:p>
                      <a:pPr algn="ctr"/>
                      <a:r>
                        <a:rPr sz="1300" b="0">
                          <a:solidFill>
                            <a:srgbClr val="0B0B0B"/>
                          </a:solidFill>
                          <a:latin typeface="Calibri"/>
                        </a:rPr>
                        <a:t>+0.40</a:t>
                      </a:r>
                    </a:p>
                  </a:txBody>
                  <a:tcPr marL="73152" marR="73152" marT="27432" marB="27432" anchor="ctr">
                    <a:solidFill>
                      <a:srgbClr val="FFFFFF"/>
                    </a:solidFill>
                  </a:tcPr>
                </a:tc>
                <a:tc>
                  <a:txBody>
                    <a:bodyPr wrap="square"/>
                    <a:lstStyle/>
                    <a:p>
                      <a:pPr algn="ctr"/>
                      <a:r>
                        <a:rPr sz="1300" b="0">
                          <a:solidFill>
                            <a:srgbClr val="EB6834"/>
                          </a:solidFill>
                          <a:latin typeface="Calibri"/>
                        </a:rPr>
                        <a:t>+0.29</a:t>
                      </a:r>
                    </a:p>
                  </a:txBody>
                  <a:tcPr marL="73152" marR="73152" marT="27432" marB="27432" anchor="ctr">
                    <a:solidFill>
                      <a:srgbClr val="FFFFFF"/>
                    </a:solidFill>
                  </a:tcPr>
                </a:tc>
                <a:tc>
                  <a:txBody>
                    <a:bodyPr wrap="square"/>
                    <a:lstStyle/>
                    <a:p>
                      <a:pPr algn="ctr"/>
                      <a:r>
                        <a:rPr sz="1300" b="0">
                          <a:solidFill>
                            <a:srgbClr val="0B0B0B"/>
                          </a:solidFill>
                          <a:latin typeface="Calibri"/>
                        </a:rPr>
                        <a:t>+0.11</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T1127</a:t>
                      </a:r>
                    </a:p>
                  </a:txBody>
                  <a:tcPr marL="73152" marR="73152" marT="27432" marB="27432" anchor="ctr">
                    <a:solidFill>
                      <a:srgbClr val="F5F4F1"/>
                    </a:solidFill>
                  </a:tcPr>
                </a:tc>
                <a:tc>
                  <a:txBody>
                    <a:bodyPr wrap="square"/>
                    <a:lstStyle/>
                    <a:p>
                      <a:pPr algn="ctr"/>
                      <a:r>
                        <a:rPr sz="1300" b="0">
                          <a:solidFill>
                            <a:srgbClr val="0B0B0B"/>
                          </a:solidFill>
                          <a:latin typeface="Calibri"/>
                        </a:rPr>
                        <a:t>79%</a:t>
                      </a:r>
                    </a:p>
                  </a:txBody>
                  <a:tcPr marL="73152" marR="73152" marT="27432" marB="27432" anchor="ctr">
                    <a:solidFill>
                      <a:srgbClr val="F5F4F1"/>
                    </a:solidFill>
                  </a:tcPr>
                </a:tc>
                <a:tc>
                  <a:txBody>
                    <a:bodyPr wrap="square"/>
                    <a:lstStyle/>
                    <a:p>
                      <a:pPr algn="ctr"/>
                      <a:r>
                        <a:rPr sz="1300" b="0">
                          <a:solidFill>
                            <a:srgbClr val="0B0B0B"/>
                          </a:solidFill>
                          <a:latin typeface="Calibri"/>
                        </a:rPr>
                        <a:t>+0.25</a:t>
                      </a:r>
                    </a:p>
                  </a:txBody>
                  <a:tcPr marL="73152" marR="73152" marT="27432" marB="27432" anchor="ctr">
                    <a:solidFill>
                      <a:srgbClr val="F5F4F1"/>
                    </a:solidFill>
                  </a:tcPr>
                </a:tc>
                <a:tc>
                  <a:txBody>
                    <a:bodyPr wrap="square"/>
                    <a:lstStyle/>
                    <a:p>
                      <a:pPr algn="ctr"/>
                      <a:r>
                        <a:rPr sz="1300" b="0">
                          <a:solidFill>
                            <a:srgbClr val="0B0B0B"/>
                          </a:solidFill>
                          <a:latin typeface="Calibri"/>
                        </a:rPr>
                        <a:t>+0.08</a:t>
                      </a:r>
                    </a:p>
                  </a:txBody>
                  <a:tcPr marL="73152" marR="73152" marT="27432" marB="27432" anchor="ctr">
                    <a:solidFill>
                      <a:srgbClr val="F5F4F1"/>
                    </a:solidFill>
                  </a:tcPr>
                </a:tc>
                <a:tc>
                  <a:txBody>
                    <a:bodyPr wrap="square"/>
                    <a:lstStyle/>
                    <a:p>
                      <a:pPr algn="ctr"/>
                      <a:r>
                        <a:rPr sz="1300" b="0">
                          <a:solidFill>
                            <a:srgbClr val="EB6834"/>
                          </a:solidFill>
                          <a:latin typeface="Calibri"/>
                        </a:rPr>
                        <a:t>+0.17</a:t>
                      </a:r>
                    </a:p>
                  </a:txBody>
                  <a:tcPr marL="73152" marR="73152" marT="27432" marB="27432" anchor="ctr">
                    <a:solidFill>
                      <a:srgbClr val="F5F4F1"/>
                    </a:solidFill>
                  </a:tcPr>
                </a:tc>
              </a:tr>
              <a:tr h="457200">
                <a:tc>
                  <a:txBody>
                    <a:bodyPr wrap="square"/>
                    <a:lstStyle/>
                    <a:p>
                      <a:pPr algn="l"/>
                      <a:r>
                        <a:rPr sz="1300" b="0">
                          <a:solidFill>
                            <a:srgbClr val="0B0B0B"/>
                          </a:solidFill>
                          <a:latin typeface="Calibri"/>
                        </a:rPr>
                        <a:t>T1151s2</a:t>
                      </a:r>
                    </a:p>
                  </a:txBody>
                  <a:tcPr marL="73152" marR="73152" marT="27432" marB="27432" anchor="ctr">
                    <a:solidFill>
                      <a:srgbClr val="FFFFFF"/>
                    </a:solidFill>
                  </a:tcPr>
                </a:tc>
                <a:tc>
                  <a:txBody>
                    <a:bodyPr wrap="square"/>
                    <a:lstStyle/>
                    <a:p>
                      <a:pPr algn="ctr"/>
                      <a:r>
                        <a:rPr sz="1300" b="0">
                          <a:solidFill>
                            <a:srgbClr val="0B0B0B"/>
                          </a:solidFill>
                          <a:latin typeface="Calibri"/>
                        </a:rPr>
                        <a:t>65%</a:t>
                      </a:r>
                    </a:p>
                  </a:txBody>
                  <a:tcPr marL="73152" marR="73152" marT="27432" marB="27432" anchor="ctr">
                    <a:solidFill>
                      <a:srgbClr val="FFFFFF"/>
                    </a:solidFill>
                  </a:tcPr>
                </a:tc>
                <a:tc>
                  <a:txBody>
                    <a:bodyPr wrap="square"/>
                    <a:lstStyle/>
                    <a:p>
                      <a:pPr algn="ctr"/>
                      <a:r>
                        <a:rPr sz="1300" b="0">
                          <a:solidFill>
                            <a:srgbClr val="0B0B0B"/>
                          </a:solidFill>
                          <a:latin typeface="Calibri"/>
                        </a:rPr>
                        <a:t>+0.39</a:t>
                      </a:r>
                    </a:p>
                  </a:txBody>
                  <a:tcPr marL="73152" marR="73152" marT="27432" marB="27432" anchor="ctr">
                    <a:solidFill>
                      <a:srgbClr val="FFFFFF"/>
                    </a:solidFill>
                  </a:tcPr>
                </a:tc>
                <a:tc>
                  <a:txBody>
                    <a:bodyPr wrap="square"/>
                    <a:lstStyle/>
                    <a:p>
                      <a:pPr algn="ctr"/>
                      <a:r>
                        <a:rPr sz="1300" b="0">
                          <a:solidFill>
                            <a:srgbClr val="0B0B0B"/>
                          </a:solidFill>
                          <a:latin typeface="Calibri"/>
                        </a:rPr>
                        <a:t>+0.11</a:t>
                      </a:r>
                    </a:p>
                  </a:txBody>
                  <a:tcPr marL="73152" marR="73152" marT="27432" marB="27432" anchor="ctr">
                    <a:solidFill>
                      <a:srgbClr val="FFFFFF"/>
                    </a:solidFill>
                  </a:tcPr>
                </a:tc>
                <a:tc>
                  <a:txBody>
                    <a:bodyPr wrap="square"/>
                    <a:lstStyle/>
                    <a:p>
                      <a:pPr algn="ctr"/>
                      <a:r>
                        <a:rPr sz="1300" b="0">
                          <a:solidFill>
                            <a:srgbClr val="EB6834"/>
                          </a:solidFill>
                          <a:latin typeface="Calibri"/>
                        </a:rPr>
                        <a:t>+0.28</a:t>
                      </a:r>
                    </a:p>
                  </a:txBody>
                  <a:tcPr marL="73152" marR="73152" marT="27432" marB="27432" anchor="ctr">
                    <a:solidFill>
                      <a:srgbClr val="FFFFFF"/>
                    </a:solidFill>
                  </a:tcPr>
                </a:tc>
              </a:tr>
            </a:tbl>
          </a:graphicData>
        </a:graphic>
      </p:graphicFrame>
      <p:sp>
        <p:nvSpPr>
          <p:cNvPr id="8" name="TextBox 7"/>
          <p:cNvSpPr txBox="1"/>
          <p:nvPr/>
        </p:nvSpPr>
        <p:spPr>
          <a:xfrm>
            <a:off x="548640" y="3429000"/>
            <a:ext cx="6035040" cy="2926080"/>
          </a:xfrm>
          <a:prstGeom prst="rect">
            <a:avLst/>
          </a:prstGeom>
          <a:noFill/>
        </p:spPr>
        <p:txBody>
          <a:bodyPr wrap="square" anchor="t" lIns="45720" rIns="45720" tIns="27432" bIns="27432">
            <a:spAutoFit/>
          </a:bodyPr>
          <a:lstStyle/>
          <a:p>
            <a:pPr algn="l">
              <a:spcAft>
                <a:spcPts val="600"/>
              </a:spcAft>
            </a:pPr>
            <a:r>
              <a:rPr sz="1400" b="1">
                <a:solidFill>
                  <a:srgbClr val="0B0B0B"/>
                </a:solidFill>
                <a:latin typeface="Calibri"/>
              </a:rPr>
              <a:t>Where MODELLER loses (larger share in orange):</a:t>
            </a:r>
          </a:p>
          <a:p>
            <a:pPr algn="l">
              <a:spcAft>
                <a:spcPts val="600"/>
              </a:spcAft>
            </a:pPr>
            <a:r>
              <a:rPr sz="1300" b="0">
                <a:solidFill>
                  <a:srgbClr val="0B0B0B"/>
                </a:solidFill>
                <a:latin typeface="Calibri"/>
              </a:rPr>
              <a:t>No template, no structure: the T1127 insertion and the T1151s2 tail exist in no template, so MODELLER guesses them (22–35 Å off).</a:t>
            </a:r>
          </a:p>
          <a:p>
            <a:pPr algn="l">
              <a:spcAft>
                <a:spcPts val="600"/>
              </a:spcAft>
            </a:pPr>
            <a:r>
              <a:rPr sz="1300" b="0">
                <a:solidFill>
                  <a:srgbClr val="0B0B0B"/>
                </a:solidFill>
                <a:latin typeface="Calibri"/>
              </a:rPr>
              <a:t>Covered but misplaced: T1124's N-terminal domain is template-covered (27% identity) yet lands 38 Å from the native; the domain arrangement is wrong.</a:t>
            </a:r>
          </a:p>
          <a:p>
            <a:pPr algn="l">
              <a:spcAft>
                <a:spcPts val="600"/>
              </a:spcAft>
            </a:pPr>
            <a:r>
              <a:rPr sz="1300" b="0">
                <a:solidFill>
                  <a:srgbClr val="0B0B0B"/>
                </a:solidFill>
                <a:latin typeface="Calibri"/>
              </a:rPr>
              <a:t>Copying a relative caps accuracy: covered core 3.2 Å (T1127) and 2.2 Å (T1151s2) Cα RMSD vs 0.8 / 0.7 Å for AlphaFold3 on the same residues.</a:t>
            </a:r>
          </a:p>
        </p:txBody>
      </p:sp>
      <p:sp>
        <p:nvSpPr>
          <p:cNvPr id="9" name="Rectangle 8"/>
          <p:cNvSpPr/>
          <p:nvPr/>
        </p:nvSpPr>
        <p:spPr>
          <a:xfrm>
            <a:off x="6949440" y="1463040"/>
            <a:ext cx="4663440" cy="466344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949440" y="1463040"/>
            <a:ext cx="82296" cy="466344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1645920"/>
            <a:ext cx="4206240" cy="4389120"/>
          </a:xfrm>
          <a:prstGeom prst="rect">
            <a:avLst/>
          </a:prstGeom>
          <a:noFill/>
        </p:spPr>
        <p:txBody>
          <a:bodyPr wrap="square" anchor="t" lIns="45720" rIns="45720" tIns="27432" bIns="27432">
            <a:spAutoFit/>
          </a:bodyPr>
          <a:lstStyle/>
          <a:p>
            <a:pPr algn="l">
              <a:spcAft>
                <a:spcPts val="1000"/>
              </a:spcAft>
            </a:pPr>
            <a:r>
              <a:rPr sz="1700" b="1">
                <a:solidFill>
                  <a:srgbClr val="0B0B0B"/>
                </a:solidFill>
                <a:latin typeface="Calibri"/>
              </a:rPr>
              <a:t>Why AlphaFold3 avoids this</a:t>
            </a:r>
          </a:p>
          <a:p>
            <a:pPr algn="l">
              <a:spcAft>
                <a:spcPts val="1000"/>
              </a:spcAft>
            </a:pPr>
            <a:r>
              <a:rPr sz="1400" b="0">
                <a:solidFill>
                  <a:srgbClr val="0B0B0B"/>
                </a:solidFill>
                <a:latin typeface="Calibri"/>
              </a:rPr>
              <a:t>Learned from the whole PDB: it predicts this sequence's own structure instead of copying one relative's coordinates.</a:t>
            </a:r>
          </a:p>
          <a:p>
            <a:pPr algn="l">
              <a:spcAft>
                <a:spcPts val="1000"/>
              </a:spcAft>
            </a:pPr>
            <a:r>
              <a:rPr sz="1400" b="0">
                <a:solidFill>
                  <a:srgbClr val="0B0B0B"/>
                </a:solidFill>
                <a:latin typeface="Calibri"/>
              </a:rPr>
              <a:t>Co-evolution from deep sequence alignments: positions that mutate together are in contact, which constrains regions no template covers.</a:t>
            </a:r>
          </a:p>
          <a:p>
            <a:pPr algn="l">
              <a:spcAft>
                <a:spcPts val="1000"/>
              </a:spcAft>
            </a:pPr>
            <a:r>
              <a:rPr sz="1400" b="0">
                <a:solidFill>
                  <a:srgbClr val="0B0B0B"/>
                </a:solidFill>
                <a:latin typeface="Calibri"/>
              </a:rPr>
              <a:t>Templates are hints, not scaffolds: several are combined and adjusted to the target, so domain arrangement is not inherited from one homologue.</a:t>
            </a:r>
          </a:p>
          <a:p>
            <a:pPr algn="l">
              <a:spcAft>
                <a:spcPts val="1000"/>
              </a:spcAft>
            </a:pPr>
            <a:r>
              <a:rPr sz="1400" b="0">
                <a:solidFill>
                  <a:srgbClr val="52514E"/>
                </a:solidFill>
                <a:latin typeface="Calibri"/>
              </a:rPr>
              <a:t>Result: accurate even where MODELLER had nothing (T1127 insertion 0.9 Å, T1151s2 tail 1.5 Å).</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DISCUSSION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Key findings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14</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ectangle 6"/>
          <p:cNvSpPr/>
          <p:nvPr/>
        </p:nvSpPr>
        <p:spPr>
          <a:xfrm>
            <a:off x="548640" y="146304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63040"/>
            <a:ext cx="82296"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64592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Template coverage sets the ceiling</a:t>
            </a:r>
          </a:p>
        </p:txBody>
      </p:sp>
      <p:sp>
        <p:nvSpPr>
          <p:cNvPr id="10" name="TextBox 9"/>
          <p:cNvSpPr txBox="1"/>
          <p:nvPr/>
        </p:nvSpPr>
        <p:spPr>
          <a:xfrm>
            <a:off x="822959" y="219456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Covered residues: 1.9 Å (T1127), 1.7 Å (T1151s2) mean Cα error. Uncovered: 22–35 Å. Residues without a template are essentially guessed.</a:t>
            </a:r>
          </a:p>
        </p:txBody>
      </p:sp>
      <p:sp>
        <p:nvSpPr>
          <p:cNvPr id="11" name="Rectangle 10"/>
          <p:cNvSpPr/>
          <p:nvPr/>
        </p:nvSpPr>
        <p:spPr>
          <a:xfrm>
            <a:off x="6172200" y="146304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463040"/>
            <a:ext cx="82296"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64592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Coverage is not enough</a:t>
            </a:r>
          </a:p>
        </p:txBody>
      </p:sp>
      <p:sp>
        <p:nvSpPr>
          <p:cNvPr id="14" name="TextBox 13"/>
          <p:cNvSpPr txBox="1"/>
          <p:nvPr/>
        </p:nvSpPr>
        <p:spPr>
          <a:xfrm>
            <a:off x="6446520" y="219456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T1124: 81% aligned, but a whole domain is misplaced. At ~27% identity a single template can carry the wrong domain arrangement.</a:t>
            </a:r>
          </a:p>
        </p:txBody>
      </p:sp>
      <p:sp>
        <p:nvSpPr>
          <p:cNvPr id="15" name="Rectangle 14"/>
          <p:cNvSpPr/>
          <p:nvPr/>
        </p:nvSpPr>
        <p:spPr>
          <a:xfrm>
            <a:off x="548640" y="379476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794760"/>
            <a:ext cx="82296" cy="21031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7764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Profile search finds remote templates</a:t>
            </a:r>
          </a:p>
        </p:txBody>
      </p:sp>
      <p:sp>
        <p:nvSpPr>
          <p:cNvPr id="18" name="TextBox 17"/>
          <p:cNvSpPr txBox="1"/>
          <p:nvPr/>
        </p:nvSpPr>
        <p:spPr>
          <a:xfrm>
            <a:off x="822959" y="452628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T1151s2 (FM/TBM): WhiB-family templates at 38% identity over 55 residues (E ≈ 1e-22) give an accurate core, TM 0.52.</a:t>
            </a:r>
          </a:p>
        </p:txBody>
      </p:sp>
      <p:sp>
        <p:nvSpPr>
          <p:cNvPr id="19" name="Rectangle 18"/>
          <p:cNvSpPr/>
          <p:nvPr/>
        </p:nvSpPr>
        <p:spPr>
          <a:xfrm>
            <a:off x="6172200" y="379476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794760"/>
            <a:ext cx="82296" cy="21031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97764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AlphaFold3 fills the gaps</a:t>
            </a:r>
          </a:p>
        </p:txBody>
      </p:sp>
      <p:sp>
        <p:nvSpPr>
          <p:cNvPr id="22" name="TextBox 21"/>
          <p:cNvSpPr txBox="1"/>
          <p:nvPr/>
        </p:nvSpPr>
        <p:spPr>
          <a:xfrm>
            <a:off x="6446520" y="452628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TM 0.92–0.97 on all three, including the T1127 insertion and the T1151s2 tail. Remaining errors are at disordered termini.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DISCUSSION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Limitations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15</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63040"/>
            <a:ext cx="11064240" cy="4572000"/>
          </a:xfrm>
          <a:prstGeom prst="rect">
            <a:avLst/>
          </a:prstGeom>
          <a:noFill/>
        </p:spPr>
        <p:txBody>
          <a:bodyPr wrap="square" anchor="t" lIns="45720" rIns="45720" tIns="27432" bIns="27432">
            <a:spAutoFit/>
          </a:bodyPr>
          <a:lstStyle/>
          <a:p>
            <a:pPr algn="l">
              <a:spcAft>
                <a:spcPts val="1200"/>
              </a:spcAft>
            </a:pPr>
            <a:r>
              <a:rPr sz="1600" b="0">
                <a:solidFill>
                  <a:srgbClr val="0B0B0B"/>
                </a:solidFill>
                <a:latin typeface="Calibri"/>
              </a:rPr>
              <a:t>•  Three targets, one MODELLER and one AlphaFold3 model each: case studies, not trends.</a:t>
            </a:r>
          </a:p>
          <a:p>
            <a:pPr algn="l">
              <a:spcAft>
                <a:spcPts val="1200"/>
              </a:spcAft>
            </a:pPr>
            <a:r>
              <a:rPr sz="1600" b="0">
                <a:solidFill>
                  <a:srgbClr val="0B0B0B"/>
                </a:solidFill>
                <a:latin typeface="Calibri"/>
              </a:rPr>
              <a:t>•  Only single-template models; combining templates or modelling the T1124 dimer might fix part of the uncovered or misplaced regions.</a:t>
            </a:r>
          </a:p>
          <a:p>
            <a:pPr algn="l">
              <a:spcAft>
                <a:spcPts val="1200"/>
              </a:spcAft>
            </a:pPr>
            <a:r>
              <a:rPr sz="1600" b="0">
                <a:solidFill>
                  <a:srgbClr val="0B0B0B"/>
                </a:solidFill>
                <a:latin typeface="Calibri"/>
              </a:rPr>
              <a:t>•  Alternative builds Claude rejected were not scored against the experimental structure, so we cannot say whether they would have been better.</a:t>
            </a:r>
          </a:p>
          <a:p>
            <a:pPr algn="l">
              <a:spcAft>
                <a:spcPts val="1200"/>
              </a:spcAft>
            </a:pPr>
            <a:r>
              <a:rPr sz="1600" b="0">
                <a:solidFill>
                  <a:srgbClr val="0B0B0B"/>
                </a:solidFill>
                <a:latin typeface="Calibri"/>
              </a:rPr>
              <a:t>•  Evaluation is limited to the CASP evaluation units; T1127 has 7 unobserved EU residues, and T1151s2 is one chain of a complex (scored as a monomer).</a:t>
            </a:r>
          </a:p>
          <a:p>
            <a:pPr algn="l">
              <a:spcAft>
                <a:spcPts val="1200"/>
              </a:spcAft>
            </a:pPr>
            <a:r>
              <a:rPr sz="1600" b="0">
                <a:solidFill>
                  <a:srgbClr val="0B0B0B"/>
                </a:solidFill>
                <a:latin typeface="Calibri"/>
              </a:rPr>
              <a:t>•  AlphaFold Server also uses PDB templates (for T1151s2 the same WhiB family) plus large sequence alignments: the comparison is method vs method, not template vs no template.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SUMMARY</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Conclusion</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16</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63040"/>
            <a:ext cx="6949440" cy="4114800"/>
          </a:xfrm>
          <a:prstGeom prst="rect">
            <a:avLst/>
          </a:prstGeom>
          <a:noFill/>
        </p:spPr>
        <p:txBody>
          <a:bodyPr wrap="square" anchor="t" lIns="45720" rIns="45720" tIns="27432" bIns="27432">
            <a:spAutoFit/>
          </a:bodyPr>
          <a:lstStyle/>
          <a:p>
            <a:pPr algn="l">
              <a:spcAft>
                <a:spcPts val="1200"/>
              </a:spcAft>
            </a:pPr>
            <a:r>
              <a:rPr sz="1700" b="0">
                <a:solidFill>
                  <a:srgbClr val="0B0B0B"/>
                </a:solidFill>
                <a:latin typeface="Calibri"/>
              </a:rPr>
              <a:t>•  MODELLER is only as good as its template: accurate where the template covers (core within ~2 Å), wrong where it does not.</a:t>
            </a:r>
          </a:p>
          <a:p>
            <a:pPr algn="l">
              <a:spcAft>
                <a:spcPts val="1200"/>
              </a:spcAft>
            </a:pPr>
            <a:r>
              <a:rPr sz="1700" b="0">
                <a:solidFill>
                  <a:srgbClr val="0B0B0B"/>
                </a:solidFill>
                <a:latin typeface="Calibri"/>
              </a:rPr>
              <a:t>•  A profile search makes template-based modeling possible even for the FM/TBM target (T1151s2, TM 0.52).</a:t>
            </a:r>
          </a:p>
          <a:p>
            <a:pPr algn="l">
              <a:spcAft>
                <a:spcPts val="1200"/>
              </a:spcAft>
            </a:pPr>
            <a:r>
              <a:rPr sz="1700" b="0">
                <a:solidFill>
                  <a:srgbClr val="0B0B0B"/>
                </a:solidFill>
                <a:latin typeface="Calibri"/>
              </a:rPr>
              <a:t>•  AlphaFold3 outperforms MODELLER on all three targets (TM +0.25 to +0.40).</a:t>
            </a:r>
          </a:p>
          <a:p>
            <a:pPr algn="l">
              <a:spcAft>
                <a:spcPts val="1200"/>
              </a:spcAft>
            </a:pPr>
            <a:r>
              <a:rPr sz="1700" b="0">
                <a:solidFill>
                  <a:srgbClr val="0B0B0B"/>
                </a:solidFill>
                <a:latin typeface="Calibri"/>
              </a:rPr>
              <a:t>•  The Claude agent matched the fixed rule's choices and correctly predicted each failure mode, adding transparency rather than accuracy.</a:t>
            </a:r>
          </a:p>
        </p:txBody>
      </p:sp>
      <p:sp>
        <p:nvSpPr>
          <p:cNvPr id="8" name="Rectangle 7"/>
          <p:cNvSpPr/>
          <p:nvPr/>
        </p:nvSpPr>
        <p:spPr>
          <a:xfrm>
            <a:off x="7863840" y="1463040"/>
            <a:ext cx="3749039" cy="402336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1645920"/>
            <a:ext cx="3383280" cy="3749039"/>
          </a:xfrm>
          <a:prstGeom prst="rect">
            <a:avLst/>
          </a:prstGeom>
          <a:noFill/>
        </p:spPr>
        <p:txBody>
          <a:bodyPr wrap="square" anchor="t" lIns="45720" rIns="45720" tIns="27432" bIns="27432">
            <a:spAutoFit/>
          </a:bodyPr>
          <a:lstStyle/>
          <a:p>
            <a:pPr algn="l">
              <a:spcAft>
                <a:spcPts val="600"/>
              </a:spcAft>
            </a:pPr>
            <a:r>
              <a:rPr sz="1500" b="1">
                <a:solidFill>
                  <a:srgbClr val="0B0B0B"/>
                </a:solidFill>
                <a:latin typeface="Calibri"/>
              </a:rPr>
              <a:t>Reproduce</a:t>
            </a:r>
          </a:p>
          <a:p>
            <a:pPr algn="l">
              <a:spcAft>
                <a:spcPts val="600"/>
              </a:spcAft>
            </a:pPr>
            <a:r>
              <a:rPr sz="1200" b="0">
                <a:solidFill>
                  <a:srgbClr val="0B0B0B"/>
                </a:solidFill>
                <a:latin typeface="Calibri"/>
              </a:rPr>
              <a:t>conda env create -f environment.yml</a:t>
            </a:r>
          </a:p>
          <a:p>
            <a:pPr algn="l">
              <a:spcAft>
                <a:spcPts val="600"/>
              </a:spcAft>
            </a:pPr>
            <a:r>
              <a:rPr sz="1200" b="0">
                <a:solidFill>
                  <a:srgbClr val="0B0B0B"/>
                </a:solidFill>
                <a:latin typeface="Calibri"/>
              </a:rPr>
              <a:t>tbm run-all</a:t>
            </a:r>
          </a:p>
          <a:p>
            <a:pPr algn="l">
              <a:spcAft>
                <a:spcPts val="600"/>
              </a:spcAft>
            </a:pPr>
            <a:r>
              <a:rPr sz="1200" b="0">
                <a:solidFill>
                  <a:srgbClr val="0B0B0B"/>
                </a:solidFill>
                <a:latin typeface="Calibri"/>
              </a:rPr>
              <a:t>tbm --baseline run-all</a:t>
            </a:r>
          </a:p>
          <a:p>
            <a:pPr algn="l">
              <a:spcAft>
                <a:spcPts val="600"/>
              </a:spcAft>
            </a:pPr>
            <a:r>
              <a:rPr sz="1200" b="0">
                <a:solidFill>
                  <a:srgbClr val="0B0B0B"/>
                </a:solidFill>
                <a:latin typeface="Calibri"/>
              </a:rPr>
              <a:t>python scripts/make_slides.py</a:t>
            </a:r>
          </a:p>
          <a:p>
            <a:pPr algn="l">
              <a:spcAft>
                <a:spcPts val="600"/>
              </a:spcAft>
            </a:pPr>
            <a:r>
              <a:rPr sz="1600" b="0">
                <a:solidFill>
                  <a:srgbClr val="0B0B0B"/>
                </a:solidFill>
                <a:latin typeface="Calibri"/>
              </a:rPr>
              <a:t/>
            </a:r>
          </a:p>
          <a:p>
            <a:pPr algn="l">
              <a:spcAft>
                <a:spcPts val="600"/>
              </a:spcAft>
            </a:pPr>
            <a:r>
              <a:rPr sz="1200" b="0">
                <a:solidFill>
                  <a:srgbClr val="52514E"/>
                </a:solidFill>
                <a:latin typeface="Calibri"/>
              </a:rPr>
              <a:t>Outputs in results/: summary tables, figures, Claude transcripts and analyses.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