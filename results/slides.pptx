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600" b="1">
                <a:latin typeface="Calibri"/>
              </a:rPr>
              <a:t>TM-score</a:t>
            </a:r>
          </a:p>
        </c:rich>
      </c:tx>
      <c:layout/>
      <c:overlay val="0"/>
    </c:title>
    <c:autoTitleDeleted val="0"/>
    <c:plotArea>
      <c:barChart>
        <c:barDir val="col"/>
        <c:grouping val="clustered"/>
        <c:ser>
          <c:idx val="0"/>
          <c:order val="0"/>
          <c:tx>
            <c:strRef>
              <c:f>Sheet1!$B$1</c:f>
              <c:strCache>
                <c:ptCount val="1"/>
                <c:pt idx="0">
                  <c:v>MODELLER</c:v>
                </c:pt>
              </c:strCache>
            </c:strRef>
          </c:tx>
          <c:spPr>
            <a:solidFill>
              <a:srgbClr val="2A78D6"/>
            </a:solidFill>
          </c:spPr>
          <c:cat>
            <c:strRef>
              <c:f>Sheet1!$A$2:$A$4</c:f>
              <c:strCache>
                <c:ptCount val="3"/>
                <c:pt idx="0">
                  <c:v>T1124</c:v>
                </c:pt>
                <c:pt idx="1">
                  <c:v>T1127</c:v>
                </c:pt>
                <c:pt idx="2">
                  <c:v>T1151s2</c:v>
                </c:pt>
              </c:strCache>
            </c:strRef>
          </c:cat>
          <c:val>
            <c:numRef>
              <c:f>Sheet1!$B$2:$B$4</c:f>
              <c:numCache>
                <c:formatCode>General</c:formatCode>
                <c:ptCount val="3"/>
                <c:pt idx="0">
                  <c:v>0.537</c:v>
                </c:pt>
                <c:pt idx="1">
                  <c:v>0.722</c:v>
                </c:pt>
                <c:pt idx="2">
                  <c:v>0.524</c:v>
                </c:pt>
              </c:numCache>
            </c:numRef>
          </c:val>
        </c:ser>
        <c:ser>
          <c:idx val="1"/>
          <c:order val="1"/>
          <c:tx>
            <c:strRef>
              <c:f>Sheet1!$C$1</c:f>
              <c:strCache>
                <c:ptCount val="1"/>
                <c:pt idx="0">
                  <c:v>AlphaFold3</c:v>
                </c:pt>
              </c:strCache>
            </c:strRef>
          </c:tx>
          <c:spPr>
            <a:solidFill>
              <a:srgbClr val="EB6834"/>
            </a:solidFill>
          </c:spPr>
          <c:cat>
            <c:strRef>
              <c:f>Sheet1!$A$2:$A$4</c:f>
              <c:strCache>
                <c:ptCount val="3"/>
                <c:pt idx="0">
                  <c:v>T1124</c:v>
                </c:pt>
                <c:pt idx="1">
                  <c:v>T1127</c:v>
                </c:pt>
                <c:pt idx="2">
                  <c:v>T1151s2</c:v>
                </c:pt>
              </c:strCache>
            </c:strRef>
          </c:cat>
          <c:val>
            <c:numRef>
              <c:f>Sheet1!$C$2:$C$4</c:f>
              <c:numCache>
                <c:formatCode>General</c:formatCode>
                <c:ptCount val="3"/>
                <c:pt idx="0">
                  <c:v>0.94</c:v>
                </c:pt>
                <c:pt idx="1">
                  <c:v>0.973</c:v>
                </c:pt>
                <c:pt idx="2">
                  <c:v>0.916</c:v>
                </c:pt>
              </c:numCache>
            </c:numRef>
          </c:val>
        </c:ser>
        <c:dLbls>
          <c:numFmt formatCode="0.00" sourceLinked="0"/>
          <c:txPr>
            <a:bodyPr/>
            <a:lstStyle/>
            <a:p>
              <a:pPr>
                <a:defRPr sz="1100">
                  <a:latin typeface="Calibri"/>
                </a:defRPr>
              </a:pPr>
            </a:p>
          </c:txPr>
          <c:dLblPos val="outEnd"/>
          <c:showLegendKey val="0"/>
          <c:showVal val="1"/>
          <c:showCatName val="0"/>
          <c:showSerName val="0"/>
          <c:showPercent val="0"/>
          <c:showBubbleSize val="0"/>
          <c:showLeaderLines val="1"/>
        </c:dLbls>
        <c:gapWidth val="60"/>
        <c:overlap val="-5"/>
        <c:axId val="-2068027336"/>
        <c:axId val="-2113994440"/>
      </c:barChart>
      <c:catAx>
        <c:axId val="-2068027336"/>
        <c:scaling>
          <c:orientation val="minMax"/>
        </c:scaling>
        <c:delete val="0"/>
        <c:axPos val="b"/>
        <c:majorTickMark val="out"/>
        <c:minorTickMark val="none"/>
        <c:tickLblPos val="nextTo"/>
        <c:txPr>
          <a:bodyPr/>
          <a:lstStyle/>
          <a:p>
            <a:pPr>
              <a:defRPr sz="1200"/>
            </a:pPr>
          </a:p>
        </c:txPr>
        <c:crossAx val="-2113994440"/>
        <c:crosses val="autoZero"/>
        <c:auto val="1"/>
        <c:lblAlgn val="ctr"/>
        <c:lblOffset val="100"/>
        <c:noMultiLvlLbl val="0"/>
      </c:catAx>
      <c:valAx>
        <c:axId val="-2113994440"/>
        <c:scaling>
          <c:max val="1.0"/>
          <c:min val="0.0"/>
        </c:scaling>
        <c:delete val="0"/>
        <c:axPos val="l"/>
        <c:majorGridlines>
          <c:spPr>
            <a:ln>
              <a:solidFill>
                <a:srgbClr val="E4E3DF"/>
              </a:solidFill>
            </a:ln>
          </c:spPr>
        </c:majorGridlines>
        <c:majorTickMark val="out"/>
        <c:minorTickMark val="none"/>
        <c:tickLblPos val="nextTo"/>
        <c:spPr>
          <a:ln>
            <a:noFill/>
          </a:ln>
        </c:spPr>
        <c:txPr>
          <a:bodyPr/>
          <a:lstStyle/>
          <a:p>
            <a:pPr>
              <a:defRPr sz="1100"/>
            </a:pPr>
          </a:p>
        </c:txPr>
        <c:crossAx val="-2068027336"/>
        <c:crosses val="autoZero"/>
      </c:valAx>
    </c:plotArea>
    <c:legend>
      <c:legendPos val="b"/>
      <c:overlay val="0"/>
      <c:txPr>
        <a:bodyPr/>
        <a:lstStyle/>
        <a:p>
          <a:pPr>
            <a:defRPr sz="1200">
              <a:latin typeface="Calibri"/>
            </a:defRPr>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compare classical template-based modeling with MODELLER against AlphaFold3 on three CASP15 targets of increasing difficulty. Claude coordinates the MODELLER side and the evaluation.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CASP classes: TBM-easy has a clear template, TBM-hard a weak one, FM/TBM is borderline free modeling. Scores are computed over the CASP evaluation unit (EU) only. T1151s2 replaced T1123, for which the profile search finds no template.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 1 and Agent 2 are Claude tool-use loops. Claude decides search settings, which templates to build and which model to keep; the tools run HMMER, MODELLER and the metrics and enforce the rules. AlphaFold3 is run by hand on the AlphaFold Server with default settings. The baseline runs the same tools with fixed rules: top-ranked template, lowest-DOPE model.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jackhmmer round 1 compares the sequence itself; each further round builds a profile HMM from the confident hits (E ≤ 1e-3) and searches again. The profile knows which positions are conserved in the family, so it finds remote homologues such as the WhiB family for T1151s2. The same profile aligns target and template for MODELLER. GA341 near 1 means a reliable fold; lower z-DOPE is better.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Scores over the CASP evaluation unit. Our TM-score matches the TMscore program on all six models. MODELLER does best on the TBM-hard target, so CASP difficulty labels did not predict its accuracy. The chart is a native PowerPoint chart: right-click → Edit Data.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Grey is the experimental structure; each model is superposed with the TM-score superposition. T1124: the catalytic domain fits, the N-terminal domain is in a different place (Claude flagged this risk). T1127: the template-covered GNAT core fits; the insertion with no template does not. T1151s2: the WhiB core fits; the C-terminal tail beyond the template is placed ~35 Å away. AlphaFold3 matches the native in all three.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TM-score gap is split by template coverage: each model's TM-score is recomputed over template-covered residues only (normalised by the full EU); the rest of the gap is in uncovered residues. The two parts use separate superpositions, so the split is approximate. Homologues at 30–40% identity typically differ by 1.5–2.5 Å, which caps how close a copied template can be.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tools, same leakage rules; only the decisions differ. Claude built alternatives on every target but ended up with the fixed rule's template each time. Its value was the explicit, checkable reasoning and correct risk predictions.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Limitations: three targets, one model per method; single-template models; Claude's rejected builds were not scored; scores cover the CASP evaluation units only, and T1151s2 is one chain of a complex. Reproduce: conda env create -f environment.yml; tbm run-all; tbm --baseline run-all; python scripts/make_slides.py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56032" cy="68580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554480"/>
            <a:ext cx="10515600" cy="365760"/>
          </a:xfrm>
          <a:prstGeom prst="rect">
            <a:avLst/>
          </a:prstGeom>
          <a:noFill/>
        </p:spPr>
        <p:txBody>
          <a:bodyPr wrap="square" anchor="t" lIns="45720" rIns="45720" tIns="27432" bIns="27432">
            <a:spAutoFit/>
          </a:bodyPr>
          <a:lstStyle/>
          <a:p>
            <a:pPr algn="l">
              <a:spcAft>
                <a:spcPts val="600"/>
              </a:spcAft>
            </a:pPr>
            <a:r>
              <a:rPr sz="1400" b="1">
                <a:solidFill>
                  <a:srgbClr val="2A78D6"/>
                </a:solidFill>
                <a:latin typeface="Calibri"/>
              </a:rPr>
              <a:t>CMP_SC 8170 · PROJECT 2</a:t>
            </a:r>
          </a:p>
        </p:txBody>
      </p:sp>
      <p:sp>
        <p:nvSpPr>
          <p:cNvPr id="4" name="TextBox 3"/>
          <p:cNvSpPr txBox="1"/>
          <p:nvPr/>
        </p:nvSpPr>
        <p:spPr>
          <a:xfrm>
            <a:off x="822960" y="1965960"/>
            <a:ext cx="10515600" cy="1645920"/>
          </a:xfrm>
          <a:prstGeom prst="rect">
            <a:avLst/>
          </a:prstGeom>
          <a:noFill/>
        </p:spPr>
        <p:txBody>
          <a:bodyPr wrap="square" anchor="t" lIns="45720" rIns="45720" tIns="27432" bIns="27432">
            <a:spAutoFit/>
          </a:bodyPr>
          <a:lstStyle/>
          <a:p>
            <a:pPr algn="l">
              <a:spcAft>
                <a:spcPts val="600"/>
              </a:spcAft>
            </a:pPr>
            <a:r>
              <a:rPr sz="4000" b="1">
                <a:solidFill>
                  <a:srgbClr val="0B0B0B"/>
                </a:solidFill>
                <a:latin typeface="Calibri"/>
              </a:rPr>
              <a:t>Template-Based Modeling vs AlphaFold3 on CASP15 Targets</a:t>
            </a:r>
          </a:p>
        </p:txBody>
      </p:sp>
      <p:sp>
        <p:nvSpPr>
          <p:cNvPr id="5" name="TextBox 4"/>
          <p:cNvSpPr txBox="1"/>
          <p:nvPr/>
        </p:nvSpPr>
        <p:spPr>
          <a:xfrm>
            <a:off x="822960" y="3520440"/>
            <a:ext cx="10515600" cy="822960"/>
          </a:xfrm>
          <a:prstGeom prst="rect">
            <a:avLst/>
          </a:prstGeom>
          <a:noFill/>
        </p:spPr>
        <p:txBody>
          <a:bodyPr wrap="square" anchor="t" lIns="45720" rIns="45720" tIns="27432" bIns="27432">
            <a:spAutoFit/>
          </a:bodyPr>
          <a:lstStyle/>
          <a:p>
            <a:pPr algn="l">
              <a:spcAft>
                <a:spcPts val="600"/>
              </a:spcAft>
            </a:pPr>
            <a:r>
              <a:rPr sz="2000" b="0">
                <a:solidFill>
                  <a:srgbClr val="52514E"/>
                </a:solidFill>
                <a:latin typeface="Calibri"/>
              </a:rPr>
              <a:t>An AI-assisted MODELLER pipeline coordinated by Claude, evaluated against experimental structures</a:t>
            </a:r>
          </a:p>
        </p:txBody>
      </p:sp>
      <p:sp>
        <p:nvSpPr>
          <p:cNvPr id="6" name="TextBox 5"/>
          <p:cNvSpPr txBox="1"/>
          <p:nvPr/>
        </p:nvSpPr>
        <p:spPr>
          <a:xfrm>
            <a:off x="822960" y="4937760"/>
            <a:ext cx="10515600" cy="365760"/>
          </a:xfrm>
          <a:prstGeom prst="rect">
            <a:avLst/>
          </a:prstGeom>
          <a:noFill/>
        </p:spPr>
        <p:txBody>
          <a:bodyPr wrap="square" anchor="t" lIns="45720" rIns="45720" tIns="27432" bIns="27432">
            <a:spAutoFit/>
          </a:bodyPr>
          <a:lstStyle/>
          <a:p>
            <a:pPr algn="l">
              <a:spcAft>
                <a:spcPts val="600"/>
              </a:spcAft>
            </a:pPr>
            <a:r>
              <a:rPr sz="1600" b="0">
                <a:solidFill>
                  <a:srgbClr val="0B0B0B"/>
                </a:solidFill>
                <a:latin typeface="Calibri"/>
              </a:rPr>
              <a:t>Parthaw Goswami · Vinaya Santhosh Kumar · Weisi Liu · Arwa Mashaqbeh</a:t>
            </a:r>
          </a:p>
        </p:txBody>
      </p:sp>
      <p:sp>
        <p:nvSpPr>
          <p:cNvPr id="7" name="TextBox 6"/>
          <p:cNvSpPr txBox="1"/>
          <p:nvPr/>
        </p:nvSpPr>
        <p:spPr>
          <a:xfrm>
            <a:off x="822960" y="5349240"/>
            <a:ext cx="10515600" cy="365760"/>
          </a:xfrm>
          <a:prstGeom prst="rect">
            <a:avLst/>
          </a:prstGeom>
          <a:noFill/>
        </p:spPr>
        <p:txBody>
          <a:bodyPr wrap="square" anchor="t" lIns="45720" rIns="45720" tIns="27432" bIns="27432">
            <a:spAutoFit/>
          </a:bodyPr>
          <a:lstStyle/>
          <a:p>
            <a:pPr algn="l">
              <a:spcAft>
                <a:spcPts val="600"/>
              </a:spcAft>
            </a:pPr>
            <a:r>
              <a:rPr sz="1400" b="0">
                <a:solidFill>
                  <a:srgbClr val="52514E"/>
                </a:solidFill>
                <a:latin typeface="Calibri"/>
              </a:rPr>
              <a:t>Targets: T1124 (TBM-easy) · T1127 (TBM-hard) · T1151s2 (FM/TBM)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0972800" cy="274320"/>
          </a:xfrm>
          <a:prstGeom prst="rect">
            <a:avLst/>
          </a:prstGeom>
          <a:noFill/>
        </p:spPr>
        <p:txBody>
          <a:bodyPr wrap="square" anchor="t" lIns="45720" rIns="45720" tIns="27432" bIns="27432">
            <a:spAutoFit/>
          </a:bodyPr>
          <a:lstStyle/>
          <a:p>
            <a:pPr algn="l">
              <a:spcAft>
                <a:spcPts val="600"/>
              </a:spcAft>
            </a:pPr>
            <a:r>
              <a:rPr sz="1100" b="1">
                <a:solidFill>
                  <a:srgbClr val="2A78D6"/>
                </a:solidFill>
                <a:latin typeface="Calibri"/>
              </a:rPr>
              <a:t>RESEARCH QUESTION</a:t>
            </a:r>
          </a:p>
        </p:txBody>
      </p:sp>
      <p:sp>
        <p:nvSpPr>
          <p:cNvPr id="3" name="TextBox 2"/>
          <p:cNvSpPr txBox="1"/>
          <p:nvPr/>
        </p:nvSpPr>
        <p:spPr>
          <a:xfrm>
            <a:off x="548640" y="502920"/>
            <a:ext cx="11064240" cy="640080"/>
          </a:xfrm>
          <a:prstGeom prst="rect">
            <a:avLst/>
          </a:prstGeom>
          <a:noFill/>
        </p:spPr>
        <p:txBody>
          <a:bodyPr wrap="square" anchor="t" lIns="45720" rIns="45720" tIns="27432" bIns="27432">
            <a:spAutoFit/>
          </a:bodyPr>
          <a:lstStyle/>
          <a:p>
            <a:pPr algn="l">
              <a:spcAft>
                <a:spcPts val="600"/>
              </a:spcAft>
            </a:pPr>
            <a:r>
              <a:rPr sz="2800" b="1">
                <a:solidFill>
                  <a:srgbClr val="0B0B0B"/>
                </a:solidFill>
                <a:latin typeface="Calibri"/>
              </a:rPr>
              <a:t>Where does template-based modeling fail?</a:t>
            </a:r>
          </a:p>
        </p:txBody>
      </p:sp>
      <p:cxnSp>
        <p:nvCxnSpPr>
          <p:cNvPr id="4" name="Connector 3"/>
          <p:cNvCxnSpPr/>
          <p:nvPr/>
        </p:nvCxnSpPr>
        <p:spPr>
          <a:xfrm>
            <a:off x="548640" y="1170432"/>
            <a:ext cx="11094415" cy="0"/>
          </a:xfrm>
          <a:prstGeom prst="line">
            <a:avLst/>
          </a:prstGeom>
          <a:ln w="12700">
            <a:solidFill>
              <a:srgbClr val="E4E3DF"/>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1185855" y="6473952"/>
            <a:ext cx="548640" cy="274320"/>
          </a:xfrm>
          <a:prstGeom prst="rect">
            <a:avLst/>
          </a:prstGeom>
          <a:noFill/>
        </p:spPr>
        <p:txBody>
          <a:bodyPr wrap="square" anchor="t" lIns="45720" rIns="45720" tIns="27432" bIns="27432">
            <a:spAutoFit/>
          </a:bodyPr>
          <a:lstStyle/>
          <a:p>
            <a:pPr algn="r">
              <a:spcAft>
                <a:spcPts val="600"/>
              </a:spcAft>
            </a:pPr>
            <a:r>
              <a:rPr sz="1000" b="0">
                <a:solidFill>
                  <a:srgbClr val="52514E"/>
                </a:solidFill>
                <a:latin typeface="Calibri"/>
              </a:rPr>
              <a:t>2</a:t>
            </a:r>
          </a:p>
        </p:txBody>
      </p:sp>
      <p:sp>
        <p:nvSpPr>
          <p:cNvPr id="6" name="TextBox 5"/>
          <p:cNvSpPr txBox="1"/>
          <p:nvPr/>
        </p:nvSpPr>
        <p:spPr>
          <a:xfrm>
            <a:off x="548640" y="6473952"/>
            <a:ext cx="7315200" cy="274320"/>
          </a:xfrm>
          <a:prstGeom prst="rect">
            <a:avLst/>
          </a:prstGeom>
          <a:noFill/>
        </p:spPr>
        <p:txBody>
          <a:bodyPr wrap="square" anchor="t" lIns="45720" rIns="45720" tIns="27432" bIns="27432">
            <a:spAutoFit/>
          </a:bodyPr>
          <a:lstStyle/>
          <a:p>
            <a:pPr algn="l">
              <a:spcAft>
                <a:spcPts val="600"/>
              </a:spcAft>
            </a:pPr>
            <a:r>
              <a:rPr sz="1000" b="0">
                <a:solidFill>
                  <a:srgbClr val="52514E"/>
                </a:solidFill>
                <a:latin typeface="Calibri"/>
              </a:rPr>
              <a:t>CMP_SC 8170 · Project 2 · Template-based modeling vs AlphaFold3</a:t>
            </a:r>
          </a:p>
        </p:txBody>
      </p:sp>
      <p:sp>
        <p:nvSpPr>
          <p:cNvPr id="7" name="TextBox 6"/>
          <p:cNvSpPr txBox="1"/>
          <p:nvPr/>
        </p:nvSpPr>
        <p:spPr>
          <a:xfrm>
            <a:off x="548640" y="1417320"/>
            <a:ext cx="5120640" cy="4114800"/>
          </a:xfrm>
          <a:prstGeom prst="rect">
            <a:avLst/>
          </a:prstGeom>
          <a:noFill/>
        </p:spPr>
        <p:txBody>
          <a:bodyPr wrap="square" anchor="t" lIns="45720" rIns="45720" tIns="27432" bIns="27432">
            <a:spAutoFit/>
          </a:bodyPr>
          <a:lstStyle/>
          <a:p>
            <a:pPr algn="l">
              <a:spcAft>
                <a:spcPts val="1200"/>
              </a:spcAft>
            </a:pPr>
            <a:r>
              <a:rPr sz="1600" b="0">
                <a:solidFill>
                  <a:srgbClr val="0B0B0B"/>
                </a:solidFill>
                <a:latin typeface="Calibri"/>
              </a:rPr>
              <a:t>•  Compare MODELLER (template-based) with AlphaFold3 (deep learning) on three CASP15 targets of increasing difficulty.</a:t>
            </a:r>
          </a:p>
          <a:p>
            <a:pPr algn="l">
              <a:spcAft>
                <a:spcPts val="1200"/>
              </a:spcAft>
            </a:pPr>
            <a:r>
              <a:rPr sz="1600" b="0">
                <a:solidFill>
                  <a:srgbClr val="0B0B0B"/>
                </a:solidFill>
                <a:latin typeface="Calibri"/>
              </a:rPr>
              <a:t>•  Score both against the experimental structure over the CASP evaluation unit: TM-score, GDT-TS, lDDT, Cα RMSD.</a:t>
            </a:r>
          </a:p>
          <a:p>
            <a:pPr algn="l">
              <a:spcAft>
                <a:spcPts val="1200"/>
              </a:spcAft>
            </a:pPr>
            <a:r>
              <a:rPr sz="1600" b="0">
                <a:solidFill>
                  <a:srgbClr val="0B0B0B"/>
                </a:solidFill>
                <a:latin typeface="Calibri"/>
              </a:rPr>
              <a:t>•  Relate MODELLER's accuracy to template identity, coverage and alignment quality.</a:t>
            </a:r>
          </a:p>
          <a:p>
            <a:pPr algn="l">
              <a:spcAft>
                <a:spcPts val="1200"/>
              </a:spcAft>
            </a:pPr>
            <a:r>
              <a:rPr sz="1600" b="0">
                <a:solidFill>
                  <a:srgbClr val="0B0B0B"/>
                </a:solidFill>
                <a:latin typeface="Calibri"/>
              </a:rPr>
              <a:t>•  Test whether a Claude agent choosing templates changes the outcome versus a fixed-rule baseline.</a:t>
            </a:r>
          </a:p>
        </p:txBody>
      </p:sp>
      <p:graphicFrame>
        <p:nvGraphicFramePr>
          <p:cNvPr id="8" name="Table 7"/>
          <p:cNvGraphicFramePr>
            <a:graphicFrameLocks noGrp="1"/>
          </p:cNvGraphicFramePr>
          <p:nvPr/>
        </p:nvGraphicFramePr>
        <p:xfrm>
          <a:off x="6035040" y="1600200"/>
          <a:ext cx="5577840" cy="1755648"/>
        </p:xfrm>
        <a:graphic>
          <a:graphicData uri="http://schemas.openxmlformats.org/drawingml/2006/table">
            <a:tbl>
              <a:tblPr firstRow="1" bandRow="1">
                <a:tableStyleId>{5C22544A-7EE6-4342-B048-85BDC9FD1C3A}</a:tableStyleId>
              </a:tblPr>
              <a:tblGrid>
                <a:gridCol w="914400"/>
                <a:gridCol w="1143000"/>
                <a:gridCol w="822960"/>
                <a:gridCol w="1508760"/>
                <a:gridCol w="1188720"/>
              </a:tblGrid>
              <a:tr h="438912">
                <a:tc>
                  <a:txBody>
                    <a:bodyPr wrap="square"/>
                    <a:lstStyle/>
                    <a:p>
                      <a:pPr algn="l"/>
                      <a:r>
                        <a:rPr sz="1300" b="1">
                          <a:solidFill>
                            <a:srgbClr val="FFFFFF"/>
                          </a:solidFill>
                          <a:latin typeface="Calibri"/>
                        </a:rPr>
                        <a:t>Target</a:t>
                      </a:r>
                    </a:p>
                  </a:txBody>
                  <a:tcPr marL="73152" marR="73152" marT="27432" marB="27432" anchor="ctr">
                    <a:solidFill>
                      <a:srgbClr val="0B0B0B"/>
                    </a:solidFill>
                  </a:tcPr>
                </a:tc>
                <a:tc>
                  <a:txBody>
                    <a:bodyPr wrap="square"/>
                    <a:lstStyle/>
                    <a:p>
                      <a:pPr algn="ctr"/>
                      <a:r>
                        <a:rPr sz="1300" b="1">
                          <a:solidFill>
                            <a:srgbClr val="FFFFFF"/>
                          </a:solidFill>
                          <a:latin typeface="Calibri"/>
                        </a:rPr>
                        <a:t>CASP class</a:t>
                      </a:r>
                    </a:p>
                  </a:txBody>
                  <a:tcPr marL="73152" marR="73152" marT="27432" marB="27432" anchor="ctr">
                    <a:solidFill>
                      <a:srgbClr val="0B0B0B"/>
                    </a:solidFill>
                  </a:tcPr>
                </a:tc>
                <a:tc>
                  <a:txBody>
                    <a:bodyPr wrap="square"/>
                    <a:lstStyle/>
                    <a:p>
                      <a:pPr algn="ctr"/>
                      <a:r>
                        <a:rPr sz="1300" b="1">
                          <a:solidFill>
                            <a:srgbClr val="FFFFFF"/>
                          </a:solidFill>
                          <a:latin typeface="Calibri"/>
                        </a:rPr>
                        <a:t>Length</a:t>
                      </a:r>
                    </a:p>
                  </a:txBody>
                  <a:tcPr marL="73152" marR="73152" marT="27432" marB="27432" anchor="ctr">
                    <a:solidFill>
                      <a:srgbClr val="0B0B0B"/>
                    </a:solidFill>
                  </a:tcPr>
                </a:tc>
                <a:tc>
                  <a:txBody>
                    <a:bodyPr wrap="square"/>
                    <a:lstStyle/>
                    <a:p>
                      <a:pPr algn="ctr"/>
                      <a:r>
                        <a:rPr sz="1300" b="1">
                          <a:solidFill>
                            <a:srgbClr val="FFFFFF"/>
                          </a:solidFill>
                          <a:latin typeface="Calibri"/>
                        </a:rPr>
                        <a:t>PDB</a:t>
                      </a:r>
                    </a:p>
                  </a:txBody>
                  <a:tcPr marL="73152" marR="73152" marT="27432" marB="27432" anchor="ctr">
                    <a:solidFill>
                      <a:srgbClr val="0B0B0B"/>
                    </a:solidFill>
                  </a:tcPr>
                </a:tc>
                <a:tc>
                  <a:txBody>
                    <a:bodyPr wrap="square"/>
                    <a:lstStyle/>
                    <a:p>
                      <a:pPr algn="ctr"/>
                      <a:r>
                        <a:rPr sz="1300" b="1">
                          <a:solidFill>
                            <a:srgbClr val="FFFFFF"/>
                          </a:solidFill>
                          <a:latin typeface="Calibri"/>
                        </a:rPr>
                        <a:t>Evaluation unit</a:t>
                      </a:r>
                    </a:p>
                  </a:txBody>
                  <a:tcPr marL="73152" marR="73152" marT="27432" marB="27432" anchor="ctr">
                    <a:solidFill>
                      <a:srgbClr val="0B0B0B"/>
                    </a:solidFill>
                  </a:tcPr>
                </a:tc>
              </a:tr>
              <a:tr h="438912">
                <a:tc>
                  <a:txBody>
                    <a:bodyPr wrap="square"/>
                    <a:lstStyle/>
                    <a:p>
                      <a:pPr algn="l"/>
                      <a:r>
                        <a:rPr sz="1300" b="0">
                          <a:solidFill>
                            <a:srgbClr val="0B0B0B"/>
                          </a:solidFill>
                          <a:latin typeface="Calibri"/>
                        </a:rPr>
                        <a:t>T1124</a:t>
                      </a:r>
                    </a:p>
                  </a:txBody>
                  <a:tcPr marL="73152" marR="73152" marT="27432" marB="27432" anchor="ctr">
                    <a:solidFill>
                      <a:srgbClr val="FFFFFF"/>
                    </a:solidFill>
                  </a:tcPr>
                </a:tc>
                <a:tc>
                  <a:txBody>
                    <a:bodyPr wrap="square"/>
                    <a:lstStyle/>
                    <a:p>
                      <a:pPr algn="ctr"/>
                      <a:r>
                        <a:rPr sz="1300" b="0">
                          <a:solidFill>
                            <a:srgbClr val="0B0B0B"/>
                          </a:solidFill>
                          <a:latin typeface="Calibri"/>
                        </a:rPr>
                        <a:t>TBM-easy</a:t>
                      </a:r>
                    </a:p>
                  </a:txBody>
                  <a:tcPr marL="73152" marR="73152" marT="27432" marB="27432" anchor="ctr">
                    <a:solidFill>
                      <a:srgbClr val="FFFFFF"/>
                    </a:solidFill>
                  </a:tcPr>
                </a:tc>
                <a:tc>
                  <a:txBody>
                    <a:bodyPr wrap="square"/>
                    <a:lstStyle/>
                    <a:p>
                      <a:pPr algn="ctr"/>
                      <a:r>
                        <a:rPr sz="1300" b="0">
                          <a:solidFill>
                            <a:srgbClr val="0B0B0B"/>
                          </a:solidFill>
                          <a:latin typeface="Calibri"/>
                        </a:rPr>
                        <a:t>384</a:t>
                      </a:r>
                    </a:p>
                  </a:txBody>
                  <a:tcPr marL="73152" marR="73152" marT="27432" marB="27432" anchor="ctr">
                    <a:solidFill>
                      <a:srgbClr val="FFFFFF"/>
                    </a:solidFill>
                  </a:tcPr>
                </a:tc>
                <a:tc>
                  <a:txBody>
                    <a:bodyPr wrap="square"/>
                    <a:lstStyle/>
                    <a:p>
                      <a:pPr algn="ctr"/>
                      <a:r>
                        <a:rPr sz="1300" b="0">
                          <a:solidFill>
                            <a:srgbClr val="0B0B0B"/>
                          </a:solidFill>
                          <a:latin typeface="Calibri"/>
                        </a:rPr>
                        <a:t>7UX8</a:t>
                      </a:r>
                    </a:p>
                  </a:txBody>
                  <a:tcPr marL="73152" marR="73152" marT="27432" marB="27432" anchor="ctr">
                    <a:solidFill>
                      <a:srgbClr val="FFFFFF"/>
                    </a:solidFill>
                  </a:tcPr>
                </a:tc>
                <a:tc>
                  <a:txBody>
                    <a:bodyPr wrap="square"/>
                    <a:lstStyle/>
                    <a:p>
                      <a:pPr algn="ctr"/>
                      <a:r>
                        <a:rPr sz="1300" b="0">
                          <a:solidFill>
                            <a:srgbClr val="0B0B0B"/>
                          </a:solidFill>
                          <a:latin typeface="Calibri"/>
                        </a:rPr>
                        <a:t>7–384</a:t>
                      </a:r>
                    </a:p>
                  </a:txBody>
                  <a:tcPr marL="73152" marR="73152" marT="27432" marB="27432" anchor="ctr">
                    <a:solidFill>
                      <a:srgbClr val="FFFFFF"/>
                    </a:solidFill>
                  </a:tcPr>
                </a:tc>
              </a:tr>
              <a:tr h="438912">
                <a:tc>
                  <a:txBody>
                    <a:bodyPr wrap="square"/>
                    <a:lstStyle/>
                    <a:p>
                      <a:pPr algn="l"/>
                      <a:r>
                        <a:rPr sz="1300" b="0">
                          <a:solidFill>
                            <a:srgbClr val="0B0B0B"/>
                          </a:solidFill>
                          <a:latin typeface="Calibri"/>
                        </a:rPr>
                        <a:t>T1127</a:t>
                      </a:r>
                    </a:p>
                  </a:txBody>
                  <a:tcPr marL="73152" marR="73152" marT="27432" marB="27432" anchor="ctr">
                    <a:solidFill>
                      <a:srgbClr val="F5F4F1"/>
                    </a:solidFill>
                  </a:tcPr>
                </a:tc>
                <a:tc>
                  <a:txBody>
                    <a:bodyPr wrap="square"/>
                    <a:lstStyle/>
                    <a:p>
                      <a:pPr algn="ctr"/>
                      <a:r>
                        <a:rPr sz="1300" b="0">
                          <a:solidFill>
                            <a:srgbClr val="0B0B0B"/>
                          </a:solidFill>
                          <a:latin typeface="Calibri"/>
                        </a:rPr>
                        <a:t>TBM-hard</a:t>
                      </a:r>
                    </a:p>
                  </a:txBody>
                  <a:tcPr marL="73152" marR="73152" marT="27432" marB="27432" anchor="ctr">
                    <a:solidFill>
                      <a:srgbClr val="F5F4F1"/>
                    </a:solidFill>
                  </a:tcPr>
                </a:tc>
                <a:tc>
                  <a:txBody>
                    <a:bodyPr wrap="square"/>
                    <a:lstStyle/>
                    <a:p>
                      <a:pPr algn="ctr"/>
                      <a:r>
                        <a:rPr sz="1300" b="0">
                          <a:solidFill>
                            <a:srgbClr val="0B0B0B"/>
                          </a:solidFill>
                          <a:latin typeface="Calibri"/>
                        </a:rPr>
                        <a:t>211</a:t>
                      </a:r>
                    </a:p>
                  </a:txBody>
                  <a:tcPr marL="73152" marR="73152" marT="27432" marB="27432" anchor="ctr">
                    <a:solidFill>
                      <a:srgbClr val="F5F4F1"/>
                    </a:solidFill>
                  </a:tcPr>
                </a:tc>
                <a:tc>
                  <a:txBody>
                    <a:bodyPr wrap="square"/>
                    <a:lstStyle/>
                    <a:p>
                      <a:pPr algn="ctr"/>
                      <a:r>
                        <a:rPr sz="1300" b="0">
                          <a:solidFill>
                            <a:srgbClr val="0B0B0B"/>
                          </a:solidFill>
                          <a:latin typeface="Calibri"/>
                        </a:rPr>
                        <a:t>8XBP</a:t>
                      </a:r>
                    </a:p>
                  </a:txBody>
                  <a:tcPr marL="73152" marR="73152" marT="27432" marB="27432" anchor="ctr">
                    <a:solidFill>
                      <a:srgbClr val="F5F4F1"/>
                    </a:solidFill>
                  </a:tcPr>
                </a:tc>
                <a:tc>
                  <a:txBody>
                    <a:bodyPr wrap="square"/>
                    <a:lstStyle/>
                    <a:p>
                      <a:pPr algn="ctr"/>
                      <a:r>
                        <a:rPr sz="1300" b="0">
                          <a:solidFill>
                            <a:srgbClr val="0B0B0B"/>
                          </a:solidFill>
                          <a:latin typeface="Calibri"/>
                        </a:rPr>
                        <a:t>6–210</a:t>
                      </a:r>
                    </a:p>
                  </a:txBody>
                  <a:tcPr marL="73152" marR="73152" marT="27432" marB="27432" anchor="ctr">
                    <a:solidFill>
                      <a:srgbClr val="F5F4F1"/>
                    </a:solidFill>
                  </a:tcPr>
                </a:tc>
              </a:tr>
              <a:tr h="438912">
                <a:tc>
                  <a:txBody>
                    <a:bodyPr wrap="square"/>
                    <a:lstStyle/>
                    <a:p>
                      <a:pPr algn="l"/>
                      <a:r>
                        <a:rPr sz="1300" b="0">
                          <a:solidFill>
                            <a:srgbClr val="0B0B0B"/>
                          </a:solidFill>
                          <a:latin typeface="Calibri"/>
                        </a:rPr>
                        <a:t>T1151s2</a:t>
                      </a:r>
                    </a:p>
                  </a:txBody>
                  <a:tcPr marL="73152" marR="73152" marT="27432" marB="27432" anchor="ctr">
                    <a:solidFill>
                      <a:srgbClr val="FFFFFF"/>
                    </a:solidFill>
                  </a:tcPr>
                </a:tc>
                <a:tc>
                  <a:txBody>
                    <a:bodyPr wrap="square"/>
                    <a:lstStyle/>
                    <a:p>
                      <a:pPr algn="ctr"/>
                      <a:r>
                        <a:rPr sz="1300" b="0">
                          <a:solidFill>
                            <a:srgbClr val="0B0B0B"/>
                          </a:solidFill>
                          <a:latin typeface="Calibri"/>
                        </a:rPr>
                        <a:t>FM/TBM</a:t>
                      </a:r>
                    </a:p>
                  </a:txBody>
                  <a:tcPr marL="73152" marR="73152" marT="27432" marB="27432" anchor="ctr">
                    <a:solidFill>
                      <a:srgbClr val="FFFFFF"/>
                    </a:solidFill>
                  </a:tcPr>
                </a:tc>
                <a:tc>
                  <a:txBody>
                    <a:bodyPr wrap="square"/>
                    <a:lstStyle/>
                    <a:p>
                      <a:pPr algn="ctr"/>
                      <a:r>
                        <a:rPr sz="1300" b="0">
                          <a:solidFill>
                            <a:srgbClr val="0B0B0B"/>
                          </a:solidFill>
                          <a:latin typeface="Calibri"/>
                        </a:rPr>
                        <a:t>116</a:t>
                      </a:r>
                    </a:p>
                  </a:txBody>
                  <a:tcPr marL="73152" marR="73152" marT="27432" marB="27432" anchor="ctr">
                    <a:solidFill>
                      <a:srgbClr val="FFFFFF"/>
                    </a:solidFill>
                  </a:tcPr>
                </a:tc>
                <a:tc>
                  <a:txBody>
                    <a:bodyPr wrap="square"/>
                    <a:lstStyle/>
                    <a:p>
                      <a:pPr algn="ctr"/>
                      <a:r>
                        <a:rPr sz="1300" b="0">
                          <a:solidFill>
                            <a:srgbClr val="0B0B0B"/>
                          </a:solidFill>
                          <a:latin typeface="Calibri"/>
                        </a:rPr>
                        <a:t>8D5V (chain A)</a:t>
                      </a:r>
                    </a:p>
                  </a:txBody>
                  <a:tcPr marL="73152" marR="73152" marT="27432" marB="27432" anchor="ctr">
                    <a:solidFill>
                      <a:srgbClr val="FFFFFF"/>
                    </a:solidFill>
                  </a:tcPr>
                </a:tc>
                <a:tc>
                  <a:txBody>
                    <a:bodyPr wrap="square"/>
                    <a:lstStyle/>
                    <a:p>
                      <a:pPr algn="ctr"/>
                      <a:r>
                        <a:rPr sz="1300" b="0">
                          <a:solidFill>
                            <a:srgbClr val="0B0B0B"/>
                          </a:solidFill>
                          <a:latin typeface="Calibri"/>
                        </a:rPr>
                        <a:t>28–111</a:t>
                      </a:r>
                    </a:p>
                  </a:txBody>
                  <a:tcPr marL="73152" marR="73152" marT="27432" marB="27432" anchor="ctr">
                    <a:solidFill>
                      <a:srgbClr val="FFFFFF"/>
                    </a:solidFill>
                  </a:tcPr>
                </a:tc>
              </a:tr>
            </a:tbl>
          </a:graphicData>
        </a:graphic>
      </p:graphicFrame>
      <p:sp>
        <p:nvSpPr>
          <p:cNvPr id="9" name="TextBox 8"/>
          <p:cNvSpPr txBox="1"/>
          <p:nvPr/>
        </p:nvSpPr>
        <p:spPr>
          <a:xfrm>
            <a:off x="6035040" y="3611880"/>
            <a:ext cx="5577840" cy="1097280"/>
          </a:xfrm>
          <a:prstGeom prst="rect">
            <a:avLst/>
          </a:prstGeom>
          <a:noFill/>
        </p:spPr>
        <p:txBody>
          <a:bodyPr wrap="square" anchor="t" lIns="45720" rIns="45720" tIns="27432" bIns="27432">
            <a:spAutoFit/>
          </a:bodyPr>
          <a:lstStyle/>
          <a:p>
            <a:pPr algn="l">
              <a:spcAft>
                <a:spcPts val="600"/>
              </a:spcAft>
            </a:pPr>
            <a:r>
              <a:rPr sz="1200" b="0">
                <a:solidFill>
                  <a:srgbClr val="52514E"/>
                </a:solidFill>
                <a:latin typeface="Calibri"/>
              </a:rPr>
              <a:t>T1151s2 replaces the original FM/TBM target T1123, for which the profile search finds no template in the pre-2022 PDB (best E = 0.5).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0972800" cy="274320"/>
          </a:xfrm>
          <a:prstGeom prst="rect">
            <a:avLst/>
          </a:prstGeom>
          <a:noFill/>
        </p:spPr>
        <p:txBody>
          <a:bodyPr wrap="square" anchor="t" lIns="45720" rIns="45720" tIns="27432" bIns="27432">
            <a:spAutoFit/>
          </a:bodyPr>
          <a:lstStyle/>
          <a:p>
            <a:pPr algn="l">
              <a:spcAft>
                <a:spcPts val="600"/>
              </a:spcAft>
            </a:pPr>
            <a:r>
              <a:rPr sz="1100" b="1">
                <a:solidFill>
                  <a:srgbClr val="2A78D6"/>
                </a:solidFill>
                <a:latin typeface="Calibri"/>
              </a:rPr>
              <a:t>METHOD</a:t>
            </a:r>
          </a:p>
        </p:txBody>
      </p:sp>
      <p:sp>
        <p:nvSpPr>
          <p:cNvPr id="3" name="TextBox 2"/>
          <p:cNvSpPr txBox="1"/>
          <p:nvPr/>
        </p:nvSpPr>
        <p:spPr>
          <a:xfrm>
            <a:off x="548640" y="502920"/>
            <a:ext cx="11064240" cy="640080"/>
          </a:xfrm>
          <a:prstGeom prst="rect">
            <a:avLst/>
          </a:prstGeom>
          <a:noFill/>
        </p:spPr>
        <p:txBody>
          <a:bodyPr wrap="square" anchor="t" lIns="45720" rIns="45720" tIns="27432" bIns="27432">
            <a:spAutoFit/>
          </a:bodyPr>
          <a:lstStyle/>
          <a:p>
            <a:pPr algn="l">
              <a:spcAft>
                <a:spcPts val="600"/>
              </a:spcAft>
            </a:pPr>
            <a:r>
              <a:rPr sz="2800" b="1">
                <a:solidFill>
                  <a:srgbClr val="0B0B0B"/>
                </a:solidFill>
                <a:latin typeface="Calibri"/>
              </a:rPr>
              <a:t>Pipeline: Claude coordinates, tools compute</a:t>
            </a:r>
          </a:p>
        </p:txBody>
      </p:sp>
      <p:cxnSp>
        <p:nvCxnSpPr>
          <p:cNvPr id="4" name="Connector 3"/>
          <p:cNvCxnSpPr/>
          <p:nvPr/>
        </p:nvCxnSpPr>
        <p:spPr>
          <a:xfrm>
            <a:off x="548640" y="1170432"/>
            <a:ext cx="11094415" cy="0"/>
          </a:xfrm>
          <a:prstGeom prst="line">
            <a:avLst/>
          </a:prstGeom>
          <a:ln w="12700">
            <a:solidFill>
              <a:srgbClr val="E4E3DF"/>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1185855" y="6473952"/>
            <a:ext cx="548640" cy="274320"/>
          </a:xfrm>
          <a:prstGeom prst="rect">
            <a:avLst/>
          </a:prstGeom>
          <a:noFill/>
        </p:spPr>
        <p:txBody>
          <a:bodyPr wrap="square" anchor="t" lIns="45720" rIns="45720" tIns="27432" bIns="27432">
            <a:spAutoFit/>
          </a:bodyPr>
          <a:lstStyle/>
          <a:p>
            <a:pPr algn="r">
              <a:spcAft>
                <a:spcPts val="600"/>
              </a:spcAft>
            </a:pPr>
            <a:r>
              <a:rPr sz="1000" b="0">
                <a:solidFill>
                  <a:srgbClr val="52514E"/>
                </a:solidFill>
                <a:latin typeface="Calibri"/>
              </a:rPr>
              <a:t>3</a:t>
            </a:r>
          </a:p>
        </p:txBody>
      </p:sp>
      <p:sp>
        <p:nvSpPr>
          <p:cNvPr id="6" name="TextBox 5"/>
          <p:cNvSpPr txBox="1"/>
          <p:nvPr/>
        </p:nvSpPr>
        <p:spPr>
          <a:xfrm>
            <a:off x="548640" y="6473952"/>
            <a:ext cx="7315200" cy="274320"/>
          </a:xfrm>
          <a:prstGeom prst="rect">
            <a:avLst/>
          </a:prstGeom>
          <a:noFill/>
        </p:spPr>
        <p:txBody>
          <a:bodyPr wrap="square" anchor="t" lIns="45720" rIns="45720" tIns="27432" bIns="27432">
            <a:spAutoFit/>
          </a:bodyPr>
          <a:lstStyle/>
          <a:p>
            <a:pPr algn="l">
              <a:spcAft>
                <a:spcPts val="600"/>
              </a:spcAft>
            </a:pPr>
            <a:r>
              <a:rPr sz="1000" b="0">
                <a:solidFill>
                  <a:srgbClr val="52514E"/>
                </a:solidFill>
                <a:latin typeface="Calibri"/>
              </a:rPr>
              <a:t>CMP_SC 8170 · Project 2 · Template-based modeling vs AlphaFold3</a:t>
            </a:r>
          </a:p>
        </p:txBody>
      </p:sp>
      <p:sp>
        <p:nvSpPr>
          <p:cNvPr id="7" name="Rounded Rectangle 6"/>
          <p:cNvSpPr/>
          <p:nvPr/>
        </p:nvSpPr>
        <p:spPr>
          <a:xfrm>
            <a:off x="548640" y="2240280"/>
            <a:ext cx="1737360" cy="1051560"/>
          </a:xfrm>
          <a:prstGeom prst="roundRect">
            <a:avLst>
              <a:gd name="adj" fmla="val 8000"/>
            </a:avLst>
          </a:prstGeom>
          <a:solidFill>
            <a:srgbClr val="FFFFFF"/>
          </a:solidFill>
          <a:ln w="12700">
            <a:solidFill>
              <a:srgbClr val="E4E3D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500" b="1">
                <a:solidFill>
                  <a:srgbClr val="0B0B0B"/>
                </a:solidFill>
                <a:latin typeface="Calibri"/>
              </a:rPr>
              <a:t>Target FASTA</a:t>
            </a:r>
          </a:p>
          <a:p>
            <a:pPr algn="ctr"/>
            <a:r>
              <a:rPr sz="1150">
                <a:solidFill>
                  <a:srgbClr val="52514E"/>
                </a:solidFill>
                <a:latin typeface="Calibri"/>
              </a:rPr>
              <a:t>CASP15 sequence</a:t>
            </a:r>
          </a:p>
        </p:txBody>
      </p:sp>
      <p:sp>
        <p:nvSpPr>
          <p:cNvPr id="8" name="Rounded Rectangle 7"/>
          <p:cNvSpPr/>
          <p:nvPr/>
        </p:nvSpPr>
        <p:spPr>
          <a:xfrm>
            <a:off x="2926080" y="1463040"/>
            <a:ext cx="2834640" cy="1051560"/>
          </a:xfrm>
          <a:prstGeom prst="roundRect">
            <a:avLst>
              <a:gd name="adj" fmla="val 8000"/>
            </a:avLst>
          </a:prstGeom>
          <a:solidFill>
            <a:srgbClr val="FFFFFF"/>
          </a:solidFill>
          <a:ln w="12700">
            <a:solidFill>
              <a:srgbClr val="E4E3D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500" b="1">
                <a:solidFill>
                  <a:srgbClr val="2A78D6"/>
                </a:solidFill>
                <a:latin typeface="Calibri"/>
              </a:rPr>
              <a:t>Agent 1 · Claude</a:t>
            </a:r>
          </a:p>
          <a:p>
            <a:pPr algn="ctr"/>
            <a:r>
              <a:rPr sz="1150">
                <a:solidFill>
                  <a:srgbClr val="52514E"/>
                </a:solidFill>
                <a:latin typeface="Calibri"/>
              </a:rPr>
              <a:t>profile search → templates → MODELLER → pick model</a:t>
            </a:r>
          </a:p>
        </p:txBody>
      </p:sp>
      <p:sp>
        <p:nvSpPr>
          <p:cNvPr id="9" name="Rounded Rectangle 8"/>
          <p:cNvSpPr/>
          <p:nvPr/>
        </p:nvSpPr>
        <p:spPr>
          <a:xfrm>
            <a:off x="2926080" y="3063240"/>
            <a:ext cx="2834640" cy="1051560"/>
          </a:xfrm>
          <a:prstGeom prst="roundRect">
            <a:avLst>
              <a:gd name="adj" fmla="val 8000"/>
            </a:avLst>
          </a:prstGeom>
          <a:solidFill>
            <a:srgbClr val="FFFFFF"/>
          </a:solidFill>
          <a:ln w="12700">
            <a:solidFill>
              <a:srgbClr val="E4E3D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500" b="1">
                <a:solidFill>
                  <a:srgbClr val="EB6834"/>
                </a:solidFill>
                <a:latin typeface="Calibri"/>
              </a:rPr>
              <a:t>AlphaFold3 Server</a:t>
            </a:r>
          </a:p>
          <a:p>
            <a:pPr algn="ctr"/>
            <a:r>
              <a:rPr sz="1150">
                <a:solidFill>
                  <a:srgbClr val="52514E"/>
                </a:solidFill>
                <a:latin typeface="Calibri"/>
              </a:rPr>
              <a:t>default settings, top-ranked model</a:t>
            </a:r>
          </a:p>
        </p:txBody>
      </p:sp>
      <p:sp>
        <p:nvSpPr>
          <p:cNvPr id="10" name="Rounded Rectangle 9"/>
          <p:cNvSpPr/>
          <p:nvPr/>
        </p:nvSpPr>
        <p:spPr>
          <a:xfrm>
            <a:off x="6400800" y="2240280"/>
            <a:ext cx="2468880" cy="1051560"/>
          </a:xfrm>
          <a:prstGeom prst="roundRect">
            <a:avLst>
              <a:gd name="adj" fmla="val 8000"/>
            </a:avLst>
          </a:prstGeom>
          <a:solidFill>
            <a:srgbClr val="FFFFFF"/>
          </a:solidFill>
          <a:ln w="12700">
            <a:solidFill>
              <a:srgbClr val="E4E3D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500" b="1">
                <a:solidFill>
                  <a:srgbClr val="2A78D6"/>
                </a:solidFill>
                <a:latin typeface="Calibri"/>
              </a:rPr>
              <a:t>Agent 2 · Claude</a:t>
            </a:r>
          </a:p>
          <a:p>
            <a:pPr algn="ctr"/>
            <a:r>
              <a:rPr sz="1150">
                <a:solidFill>
                  <a:srgbClr val="52514E"/>
                </a:solidFill>
                <a:latin typeface="Calibri"/>
              </a:rPr>
              <a:t>TM, GDT-TS, lDDT, RMSD vs experimental structure</a:t>
            </a:r>
          </a:p>
        </p:txBody>
      </p:sp>
      <p:sp>
        <p:nvSpPr>
          <p:cNvPr id="11" name="Rounded Rectangle 10"/>
          <p:cNvSpPr/>
          <p:nvPr/>
        </p:nvSpPr>
        <p:spPr>
          <a:xfrm>
            <a:off x="9509760" y="2240280"/>
            <a:ext cx="2103120" cy="1051560"/>
          </a:xfrm>
          <a:prstGeom prst="roundRect">
            <a:avLst>
              <a:gd name="adj" fmla="val 8000"/>
            </a:avLst>
          </a:prstGeom>
          <a:solidFill>
            <a:srgbClr val="FFFFFF"/>
          </a:solidFill>
          <a:ln w="12700">
            <a:solidFill>
              <a:srgbClr val="E4E3D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500" b="1">
                <a:solidFill>
                  <a:srgbClr val="0B0B0B"/>
                </a:solidFill>
                <a:latin typeface="Calibri"/>
              </a:rPr>
              <a:t>Report</a:t>
            </a:r>
          </a:p>
          <a:p>
            <a:pPr algn="ctr"/>
            <a:r>
              <a:rPr sz="1150">
                <a:solidFill>
                  <a:srgbClr val="52514E"/>
                </a:solidFill>
                <a:latin typeface="Calibri"/>
              </a:rPr>
              <a:t>tables, figures, interpretation</a:t>
            </a:r>
          </a:p>
        </p:txBody>
      </p:sp>
      <p:cxnSp>
        <p:nvCxnSpPr>
          <p:cNvPr id="12" name="Connector 11"/>
          <p:cNvCxnSpPr/>
          <p:nvPr/>
        </p:nvCxnSpPr>
        <p:spPr>
          <a:xfrm flipV="1">
            <a:off x="2286000" y="1988819"/>
            <a:ext cx="640080" cy="571501"/>
          </a:xfrm>
          <a:prstGeom prst="line">
            <a:avLst/>
          </a:prstGeom>
          <a:ln w="22225">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2286000" y="2971800"/>
            <a:ext cx="640080" cy="617220"/>
          </a:xfrm>
          <a:prstGeom prst="line">
            <a:avLst/>
          </a:prstGeom>
          <a:ln w="22225">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760720" y="1988819"/>
            <a:ext cx="640080" cy="571501"/>
          </a:xfrm>
          <a:prstGeom prst="line">
            <a:avLst/>
          </a:prstGeom>
          <a:ln w="22225">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5760720" y="2971800"/>
            <a:ext cx="640080" cy="617220"/>
          </a:xfrm>
          <a:prstGeom prst="line">
            <a:avLst/>
          </a:prstGeom>
          <a:ln w="22225">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869680" y="2761488"/>
            <a:ext cx="640080" cy="0"/>
          </a:xfrm>
          <a:prstGeom prst="line">
            <a:avLst/>
          </a:prstGeom>
          <a:ln w="22225">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548640" y="4526280"/>
            <a:ext cx="3566160"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4663440"/>
            <a:ext cx="3566160" cy="365760"/>
          </a:xfrm>
          <a:prstGeom prst="rect">
            <a:avLst/>
          </a:prstGeom>
          <a:noFill/>
        </p:spPr>
        <p:txBody>
          <a:bodyPr wrap="square" anchor="t" lIns="45720" rIns="45720" tIns="27432" bIns="27432">
            <a:spAutoFit/>
          </a:bodyPr>
          <a:lstStyle/>
          <a:p>
            <a:pPr algn="l">
              <a:spcAft>
                <a:spcPts val="600"/>
              </a:spcAft>
            </a:pPr>
            <a:r>
              <a:rPr sz="1600" b="1">
                <a:solidFill>
                  <a:srgbClr val="2A78D6"/>
                </a:solidFill>
                <a:latin typeface="Calibri"/>
              </a:rPr>
              <a:t>Claude decides</a:t>
            </a:r>
          </a:p>
        </p:txBody>
      </p:sp>
      <p:sp>
        <p:nvSpPr>
          <p:cNvPr id="19" name="TextBox 18"/>
          <p:cNvSpPr txBox="1"/>
          <p:nvPr/>
        </p:nvSpPr>
        <p:spPr>
          <a:xfrm>
            <a:off x="548640" y="5029200"/>
            <a:ext cx="3566160" cy="1188720"/>
          </a:xfrm>
          <a:prstGeom prst="rect">
            <a:avLst/>
          </a:prstGeom>
          <a:noFill/>
        </p:spPr>
        <p:txBody>
          <a:bodyPr wrap="square" anchor="t" lIns="45720" rIns="45720" tIns="27432" bIns="27432">
            <a:spAutoFit/>
          </a:bodyPr>
          <a:lstStyle/>
          <a:p>
            <a:pPr algn="l">
              <a:spcAft>
                <a:spcPts val="600"/>
              </a:spcAft>
            </a:pPr>
            <a:r>
              <a:rPr sz="1300" b="0">
                <a:solidFill>
                  <a:srgbClr val="52514E"/>
                </a:solidFill>
                <a:latin typeface="Calibri"/>
              </a:rPr>
              <a:t>search settings · which templates to build (≤ 4) · which model to keep · error analysis</a:t>
            </a:r>
          </a:p>
        </p:txBody>
      </p:sp>
      <p:sp>
        <p:nvSpPr>
          <p:cNvPr id="20" name="Rectangle 19"/>
          <p:cNvSpPr/>
          <p:nvPr/>
        </p:nvSpPr>
        <p:spPr>
          <a:xfrm>
            <a:off x="4297679" y="4526280"/>
            <a:ext cx="3566160" cy="64008"/>
          </a:xfrm>
          <a:prstGeom prst="rect">
            <a:avLst/>
          </a:prstGeom>
          <a:solidFill>
            <a:srgbClr val="0B0B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97679" y="4663440"/>
            <a:ext cx="3566160" cy="365760"/>
          </a:xfrm>
          <a:prstGeom prst="rect">
            <a:avLst/>
          </a:prstGeom>
          <a:noFill/>
        </p:spPr>
        <p:txBody>
          <a:bodyPr wrap="square" anchor="t" lIns="45720" rIns="45720" tIns="27432" bIns="27432">
            <a:spAutoFit/>
          </a:bodyPr>
          <a:lstStyle/>
          <a:p>
            <a:pPr algn="l">
              <a:spcAft>
                <a:spcPts val="600"/>
              </a:spcAft>
            </a:pPr>
            <a:r>
              <a:rPr sz="1600" b="1">
                <a:solidFill>
                  <a:srgbClr val="0B0B0B"/>
                </a:solidFill>
                <a:latin typeface="Calibri"/>
              </a:rPr>
              <a:t>Code enforces</a:t>
            </a:r>
          </a:p>
        </p:txBody>
      </p:sp>
      <p:sp>
        <p:nvSpPr>
          <p:cNvPr id="22" name="TextBox 21"/>
          <p:cNvSpPr txBox="1"/>
          <p:nvPr/>
        </p:nvSpPr>
        <p:spPr>
          <a:xfrm>
            <a:off x="4297679" y="5029200"/>
            <a:ext cx="3566160" cy="1188720"/>
          </a:xfrm>
          <a:prstGeom prst="rect">
            <a:avLst/>
          </a:prstGeom>
          <a:noFill/>
        </p:spPr>
        <p:txBody>
          <a:bodyPr wrap="square" anchor="t" lIns="45720" rIns="45720" tIns="27432" bIns="27432">
            <a:spAutoFit/>
          </a:bodyPr>
          <a:lstStyle/>
          <a:p>
            <a:pPr algn="l">
              <a:spcAft>
                <a:spcPts val="600"/>
              </a:spcAft>
            </a:pPr>
            <a:r>
              <a:rPr sz="1300" b="0">
                <a:solidFill>
                  <a:srgbClr val="52514E"/>
                </a:solidFill>
                <a:latin typeface="Calibri"/>
              </a:rPr>
              <a:t>no templates released after 2022-05-01 or from the target entry · Agent 1 never sees the answer · metrics by code</a:t>
            </a:r>
          </a:p>
        </p:txBody>
      </p:sp>
      <p:sp>
        <p:nvSpPr>
          <p:cNvPr id="23" name="Rectangle 22"/>
          <p:cNvSpPr/>
          <p:nvPr/>
        </p:nvSpPr>
        <p:spPr>
          <a:xfrm>
            <a:off x="8046719" y="4526280"/>
            <a:ext cx="3566160" cy="64008"/>
          </a:xfrm>
          <a:prstGeom prst="rect">
            <a:avLst/>
          </a:prstGeom>
          <a:solidFill>
            <a:srgbClr val="9A9A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46719" y="4663440"/>
            <a:ext cx="3566160" cy="365760"/>
          </a:xfrm>
          <a:prstGeom prst="rect">
            <a:avLst/>
          </a:prstGeom>
          <a:noFill/>
        </p:spPr>
        <p:txBody>
          <a:bodyPr wrap="square" anchor="t" lIns="45720" rIns="45720" tIns="27432" bIns="27432">
            <a:spAutoFit/>
          </a:bodyPr>
          <a:lstStyle/>
          <a:p>
            <a:pPr algn="l">
              <a:spcAft>
                <a:spcPts val="600"/>
              </a:spcAft>
            </a:pPr>
            <a:r>
              <a:rPr sz="1600" b="1">
                <a:solidFill>
                  <a:srgbClr val="9A9A96"/>
                </a:solidFill>
                <a:latin typeface="Calibri"/>
              </a:rPr>
              <a:t>Baseline (no AI)</a:t>
            </a:r>
          </a:p>
        </p:txBody>
      </p:sp>
      <p:sp>
        <p:nvSpPr>
          <p:cNvPr id="25" name="TextBox 24"/>
          <p:cNvSpPr txBox="1"/>
          <p:nvPr/>
        </p:nvSpPr>
        <p:spPr>
          <a:xfrm>
            <a:off x="8046719" y="5029200"/>
            <a:ext cx="3566160" cy="1188720"/>
          </a:xfrm>
          <a:prstGeom prst="rect">
            <a:avLst/>
          </a:prstGeom>
          <a:noFill/>
        </p:spPr>
        <p:txBody>
          <a:bodyPr wrap="square" anchor="t" lIns="45720" rIns="45720" tIns="27432" bIns="27432">
            <a:spAutoFit/>
          </a:bodyPr>
          <a:lstStyle/>
          <a:p>
            <a:pPr algn="l">
              <a:spcAft>
                <a:spcPts val="600"/>
              </a:spcAft>
            </a:pPr>
            <a:r>
              <a:rPr sz="1300" b="0">
                <a:solidFill>
                  <a:srgbClr val="52514E"/>
                </a:solidFill>
                <a:latin typeface="Calibri"/>
              </a:rPr>
              <a:t>same tools, fixed rules: top-ranked template, lowest-DOPE model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0972800" cy="274320"/>
          </a:xfrm>
          <a:prstGeom prst="rect">
            <a:avLst/>
          </a:prstGeom>
          <a:noFill/>
        </p:spPr>
        <p:txBody>
          <a:bodyPr wrap="square" anchor="t" lIns="45720" rIns="45720" tIns="27432" bIns="27432">
            <a:spAutoFit/>
          </a:bodyPr>
          <a:lstStyle/>
          <a:p>
            <a:pPr algn="l">
              <a:spcAft>
                <a:spcPts val="600"/>
              </a:spcAft>
            </a:pPr>
            <a:r>
              <a:rPr sz="1100" b="1">
                <a:solidFill>
                  <a:srgbClr val="2A78D6"/>
                </a:solidFill>
                <a:latin typeface="Calibri"/>
              </a:rPr>
              <a:t>METHOD · AGENT 1</a:t>
            </a:r>
          </a:p>
        </p:txBody>
      </p:sp>
      <p:sp>
        <p:nvSpPr>
          <p:cNvPr id="3" name="TextBox 2"/>
          <p:cNvSpPr txBox="1"/>
          <p:nvPr/>
        </p:nvSpPr>
        <p:spPr>
          <a:xfrm>
            <a:off x="548640" y="502920"/>
            <a:ext cx="11064240" cy="640080"/>
          </a:xfrm>
          <a:prstGeom prst="rect">
            <a:avLst/>
          </a:prstGeom>
          <a:noFill/>
        </p:spPr>
        <p:txBody>
          <a:bodyPr wrap="square" anchor="t" lIns="45720" rIns="45720" tIns="27432" bIns="27432">
            <a:spAutoFit/>
          </a:bodyPr>
          <a:lstStyle/>
          <a:p>
            <a:pPr algn="l">
              <a:spcAft>
                <a:spcPts val="600"/>
              </a:spcAft>
            </a:pPr>
            <a:r>
              <a:rPr sz="2800" b="1">
                <a:solidFill>
                  <a:srgbClr val="0B0B0B"/>
                </a:solidFill>
                <a:latin typeface="Calibri"/>
              </a:rPr>
              <a:t>Template search: iterative profile HMM</a:t>
            </a:r>
          </a:p>
        </p:txBody>
      </p:sp>
      <p:cxnSp>
        <p:nvCxnSpPr>
          <p:cNvPr id="4" name="Connector 3"/>
          <p:cNvCxnSpPr/>
          <p:nvPr/>
        </p:nvCxnSpPr>
        <p:spPr>
          <a:xfrm>
            <a:off x="548640" y="1170432"/>
            <a:ext cx="11094415" cy="0"/>
          </a:xfrm>
          <a:prstGeom prst="line">
            <a:avLst/>
          </a:prstGeom>
          <a:ln w="12700">
            <a:solidFill>
              <a:srgbClr val="E4E3DF"/>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1185855" y="6473952"/>
            <a:ext cx="548640" cy="274320"/>
          </a:xfrm>
          <a:prstGeom prst="rect">
            <a:avLst/>
          </a:prstGeom>
          <a:noFill/>
        </p:spPr>
        <p:txBody>
          <a:bodyPr wrap="square" anchor="t" lIns="45720" rIns="45720" tIns="27432" bIns="27432">
            <a:spAutoFit/>
          </a:bodyPr>
          <a:lstStyle/>
          <a:p>
            <a:pPr algn="r">
              <a:spcAft>
                <a:spcPts val="600"/>
              </a:spcAft>
            </a:pPr>
            <a:r>
              <a:rPr sz="1000" b="0">
                <a:solidFill>
                  <a:srgbClr val="52514E"/>
                </a:solidFill>
                <a:latin typeface="Calibri"/>
              </a:rPr>
              <a:t>4</a:t>
            </a:r>
          </a:p>
        </p:txBody>
      </p:sp>
      <p:sp>
        <p:nvSpPr>
          <p:cNvPr id="6" name="TextBox 5"/>
          <p:cNvSpPr txBox="1"/>
          <p:nvPr/>
        </p:nvSpPr>
        <p:spPr>
          <a:xfrm>
            <a:off x="548640" y="6473952"/>
            <a:ext cx="7315200" cy="274320"/>
          </a:xfrm>
          <a:prstGeom prst="rect">
            <a:avLst/>
          </a:prstGeom>
          <a:noFill/>
        </p:spPr>
        <p:txBody>
          <a:bodyPr wrap="square" anchor="t" lIns="45720" rIns="45720" tIns="27432" bIns="27432">
            <a:spAutoFit/>
          </a:bodyPr>
          <a:lstStyle/>
          <a:p>
            <a:pPr algn="l">
              <a:spcAft>
                <a:spcPts val="600"/>
              </a:spcAft>
            </a:pPr>
            <a:r>
              <a:rPr sz="1000" b="0">
                <a:solidFill>
                  <a:srgbClr val="52514E"/>
                </a:solidFill>
                <a:latin typeface="Calibri"/>
              </a:rPr>
              <a:t>CMP_SC 8170 · Project 2 · Template-based modeling vs AlphaFold3</a:t>
            </a:r>
          </a:p>
        </p:txBody>
      </p:sp>
      <p:sp>
        <p:nvSpPr>
          <p:cNvPr id="7" name="Rounded Rectangle 6"/>
          <p:cNvSpPr/>
          <p:nvPr/>
        </p:nvSpPr>
        <p:spPr>
          <a:xfrm>
            <a:off x="548640" y="1463040"/>
            <a:ext cx="3291840" cy="713232"/>
          </a:xfrm>
          <a:prstGeom prst="roundRect">
            <a:avLst>
              <a:gd name="adj" fmla="val 8000"/>
            </a:avLst>
          </a:prstGeom>
          <a:solidFill>
            <a:srgbClr val="FFFFFF"/>
          </a:solidFill>
          <a:ln w="12700">
            <a:solidFill>
              <a:srgbClr val="E4E3D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500" b="1">
                <a:solidFill>
                  <a:srgbClr val="0B0B0B"/>
                </a:solidFill>
                <a:latin typeface="Calibri"/>
              </a:rPr>
              <a:t>Target sequence</a:t>
            </a:r>
          </a:p>
          <a:p>
            <a:pPr algn="ctr"/>
            <a:r>
              <a:rPr sz="1150">
                <a:solidFill>
                  <a:srgbClr val="52514E"/>
                </a:solidFill>
                <a:latin typeface="Calibri"/>
              </a:rPr>
              <a:t>expression tags masked</a:t>
            </a:r>
          </a:p>
        </p:txBody>
      </p:sp>
      <p:cxnSp>
        <p:nvCxnSpPr>
          <p:cNvPr id="8" name="Connector 7"/>
          <p:cNvCxnSpPr/>
          <p:nvPr/>
        </p:nvCxnSpPr>
        <p:spPr>
          <a:xfrm>
            <a:off x="2194560" y="2176272"/>
            <a:ext cx="0" cy="182880"/>
          </a:xfrm>
          <a:prstGeom prst="line">
            <a:avLst/>
          </a:prstGeom>
          <a:ln w="22225">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48640" y="2359152"/>
            <a:ext cx="3291840" cy="713232"/>
          </a:xfrm>
          <a:prstGeom prst="roundRect">
            <a:avLst>
              <a:gd name="adj" fmla="val 8000"/>
            </a:avLst>
          </a:prstGeom>
          <a:solidFill>
            <a:srgbClr val="FFFFFF"/>
          </a:solidFill>
          <a:ln w="12700">
            <a:solidFill>
              <a:srgbClr val="E4E3D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500" b="1">
                <a:solidFill>
                  <a:srgbClr val="2A78D6"/>
                </a:solidFill>
                <a:latin typeface="Calibri"/>
              </a:rPr>
              <a:t>Round 1</a:t>
            </a:r>
          </a:p>
          <a:p>
            <a:pPr algn="ctr"/>
            <a:r>
              <a:rPr sz="1150">
                <a:solidFill>
                  <a:srgbClr val="52514E"/>
                </a:solidFill>
                <a:latin typeface="Calibri"/>
              </a:rPr>
              <a:t>sequence vs pre-2022 PDB chains</a:t>
            </a:r>
          </a:p>
        </p:txBody>
      </p:sp>
      <p:cxnSp>
        <p:nvCxnSpPr>
          <p:cNvPr id="10" name="Connector 9"/>
          <p:cNvCxnSpPr/>
          <p:nvPr/>
        </p:nvCxnSpPr>
        <p:spPr>
          <a:xfrm>
            <a:off x="2194560" y="3072384"/>
            <a:ext cx="0" cy="182880"/>
          </a:xfrm>
          <a:prstGeom prst="line">
            <a:avLst/>
          </a:prstGeom>
          <a:ln w="22225">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48640" y="3255264"/>
            <a:ext cx="3291840" cy="713232"/>
          </a:xfrm>
          <a:prstGeom prst="roundRect">
            <a:avLst>
              <a:gd name="adj" fmla="val 8000"/>
            </a:avLst>
          </a:prstGeom>
          <a:solidFill>
            <a:srgbClr val="FFFFFF"/>
          </a:solidFill>
          <a:ln w="12700">
            <a:solidFill>
              <a:srgbClr val="E4E3D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500" b="1">
                <a:solidFill>
                  <a:srgbClr val="2A78D6"/>
                </a:solidFill>
                <a:latin typeface="Calibri"/>
              </a:rPr>
              <a:t>Rounds 2–3</a:t>
            </a:r>
          </a:p>
          <a:p>
            <a:pPr algn="ctr"/>
            <a:r>
              <a:rPr sz="1150">
                <a:solidFill>
                  <a:srgbClr val="52514E"/>
                </a:solidFill>
                <a:latin typeface="Calibri"/>
              </a:rPr>
              <a:t>profile HMM from hits (E ≤ 1e-3)</a:t>
            </a:r>
          </a:p>
        </p:txBody>
      </p:sp>
      <p:cxnSp>
        <p:nvCxnSpPr>
          <p:cNvPr id="12" name="Connector 11"/>
          <p:cNvCxnSpPr/>
          <p:nvPr/>
        </p:nvCxnSpPr>
        <p:spPr>
          <a:xfrm>
            <a:off x="2194560" y="3968496"/>
            <a:ext cx="0" cy="182880"/>
          </a:xfrm>
          <a:prstGeom prst="line">
            <a:avLst/>
          </a:prstGeom>
          <a:ln w="22225">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48640" y="4151376"/>
            <a:ext cx="3291840" cy="713232"/>
          </a:xfrm>
          <a:prstGeom prst="roundRect">
            <a:avLst>
              <a:gd name="adj" fmla="val 8000"/>
            </a:avLst>
          </a:prstGeom>
          <a:solidFill>
            <a:srgbClr val="FFFFFF"/>
          </a:solidFill>
          <a:ln w="12700">
            <a:solidFill>
              <a:srgbClr val="E4E3D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500" b="1">
                <a:solidFill>
                  <a:srgbClr val="2A78D6"/>
                </a:solidFill>
                <a:latin typeface="Calibri"/>
              </a:rPr>
              <a:t>MODELLER</a:t>
            </a:r>
          </a:p>
          <a:p>
            <a:pPr algn="ctr"/>
            <a:r>
              <a:rPr sz="1150">
                <a:solidFill>
                  <a:srgbClr val="52514E"/>
                </a:solidFill>
                <a:latin typeface="Calibri"/>
              </a:rPr>
              <a:t>profile alignment → 5 models</a:t>
            </a:r>
          </a:p>
        </p:txBody>
      </p:sp>
      <p:graphicFrame>
        <p:nvGraphicFramePr>
          <p:cNvPr id="14" name="Table 13"/>
          <p:cNvGraphicFramePr>
            <a:graphicFrameLocks noGrp="1"/>
          </p:cNvGraphicFramePr>
          <p:nvPr/>
        </p:nvGraphicFramePr>
        <p:xfrm>
          <a:off x="4206240" y="1463040"/>
          <a:ext cx="7406640" cy="1828800"/>
        </p:xfrm>
        <a:graphic>
          <a:graphicData uri="http://schemas.openxmlformats.org/drawingml/2006/table">
            <a:tbl>
              <a:tblPr firstRow="1" bandRow="1">
                <a:tableStyleId>{5C22544A-7EE6-4342-B048-85BDC9FD1C3A}</a:tableStyleId>
              </a:tblPr>
              <a:tblGrid>
                <a:gridCol w="1051560"/>
                <a:gridCol w="685800"/>
                <a:gridCol w="2011680"/>
                <a:gridCol w="1051560"/>
                <a:gridCol w="868680"/>
                <a:gridCol w="960120"/>
                <a:gridCol w="777240"/>
              </a:tblGrid>
              <a:tr h="457200">
                <a:tc>
                  <a:txBody>
                    <a:bodyPr wrap="square"/>
                    <a:lstStyle/>
                    <a:p>
                      <a:pPr algn="l"/>
                      <a:r>
                        <a:rPr sz="1300" b="1">
                          <a:solidFill>
                            <a:srgbClr val="FFFFFF"/>
                          </a:solidFill>
                          <a:latin typeface="Calibri"/>
                        </a:rPr>
                        <a:t>Target</a:t>
                      </a:r>
                    </a:p>
                  </a:txBody>
                  <a:tcPr marL="73152" marR="73152" marT="27432" marB="27432" anchor="ctr">
                    <a:solidFill>
                      <a:srgbClr val="0B0B0B"/>
                    </a:solidFill>
                  </a:tcPr>
                </a:tc>
                <a:tc>
                  <a:txBody>
                    <a:bodyPr wrap="square"/>
                    <a:lstStyle/>
                    <a:p>
                      <a:pPr algn="ctr"/>
                      <a:r>
                        <a:rPr sz="1300" b="1">
                          <a:solidFill>
                            <a:srgbClr val="FFFFFF"/>
                          </a:solidFill>
                          <a:latin typeface="Calibri"/>
                        </a:rPr>
                        <a:t>Hits</a:t>
                      </a:r>
                    </a:p>
                  </a:txBody>
                  <a:tcPr marL="73152" marR="73152" marT="27432" marB="27432" anchor="ctr">
                    <a:solidFill>
                      <a:srgbClr val="0B0B0B"/>
                    </a:solidFill>
                  </a:tcPr>
                </a:tc>
                <a:tc>
                  <a:txBody>
                    <a:bodyPr wrap="square"/>
                    <a:lstStyle/>
                    <a:p>
                      <a:pPr algn="ctr"/>
                      <a:r>
                        <a:rPr sz="1300" b="1">
                          <a:solidFill>
                            <a:srgbClr val="FFFFFF"/>
                          </a:solidFill>
                          <a:latin typeface="Calibri"/>
                        </a:rPr>
                        <a:t>Templates built</a:t>
                      </a:r>
                    </a:p>
                  </a:txBody>
                  <a:tcPr marL="73152" marR="73152" marT="27432" marB="27432" anchor="ctr">
                    <a:solidFill>
                      <a:srgbClr val="0B0B0B"/>
                    </a:solidFill>
                  </a:tcPr>
                </a:tc>
                <a:tc>
                  <a:txBody>
                    <a:bodyPr wrap="square"/>
                    <a:lstStyle/>
                    <a:p>
                      <a:pPr algn="ctr"/>
                      <a:r>
                        <a:rPr sz="1300" b="1">
                          <a:solidFill>
                            <a:srgbClr val="FFFFFF"/>
                          </a:solidFill>
                          <a:latin typeface="Calibri"/>
                        </a:rPr>
                        <a:t>Kept</a:t>
                      </a:r>
                    </a:p>
                  </a:txBody>
                  <a:tcPr marL="73152" marR="73152" marT="27432" marB="27432" anchor="ctr">
                    <a:solidFill>
                      <a:srgbClr val="0B0B0B"/>
                    </a:solidFill>
                  </a:tcPr>
                </a:tc>
                <a:tc>
                  <a:txBody>
                    <a:bodyPr wrap="square"/>
                    <a:lstStyle/>
                    <a:p>
                      <a:pPr algn="ctr"/>
                      <a:r>
                        <a:rPr sz="1300" b="1">
                          <a:solidFill>
                            <a:srgbClr val="FFFFFF"/>
                          </a:solidFill>
                          <a:latin typeface="Calibri"/>
                        </a:rPr>
                        <a:t>Identity</a:t>
                      </a:r>
                    </a:p>
                  </a:txBody>
                  <a:tcPr marL="73152" marR="73152" marT="27432" marB="27432" anchor="ctr">
                    <a:solidFill>
                      <a:srgbClr val="0B0B0B"/>
                    </a:solidFill>
                  </a:tcPr>
                </a:tc>
                <a:tc>
                  <a:txBody>
                    <a:bodyPr wrap="square"/>
                    <a:lstStyle/>
                    <a:p>
                      <a:pPr algn="ctr"/>
                      <a:r>
                        <a:rPr sz="1300" b="1">
                          <a:solidFill>
                            <a:srgbClr val="FFFFFF"/>
                          </a:solidFill>
                          <a:latin typeface="Calibri"/>
                        </a:rPr>
                        <a:t>Coverage</a:t>
                      </a:r>
                    </a:p>
                  </a:txBody>
                  <a:tcPr marL="73152" marR="73152" marT="27432" marB="27432" anchor="ctr">
                    <a:solidFill>
                      <a:srgbClr val="0B0B0B"/>
                    </a:solidFill>
                  </a:tcPr>
                </a:tc>
                <a:tc>
                  <a:txBody>
                    <a:bodyPr wrap="square"/>
                    <a:lstStyle/>
                    <a:p>
                      <a:pPr algn="ctr"/>
                      <a:r>
                        <a:rPr sz="1300" b="1">
                          <a:solidFill>
                            <a:srgbClr val="FFFFFF"/>
                          </a:solidFill>
                          <a:latin typeface="Calibri"/>
                        </a:rPr>
                        <a:t>GA341</a:t>
                      </a:r>
                    </a:p>
                  </a:txBody>
                  <a:tcPr marL="73152" marR="73152" marT="27432" marB="27432" anchor="ctr">
                    <a:solidFill>
                      <a:srgbClr val="0B0B0B"/>
                    </a:solidFill>
                  </a:tcPr>
                </a:tc>
              </a:tr>
              <a:tr h="457200">
                <a:tc>
                  <a:txBody>
                    <a:bodyPr wrap="square"/>
                    <a:lstStyle/>
                    <a:p>
                      <a:pPr algn="l"/>
                      <a:r>
                        <a:rPr sz="1300" b="0">
                          <a:solidFill>
                            <a:srgbClr val="0B0B0B"/>
                          </a:solidFill>
                          <a:latin typeface="Calibri"/>
                        </a:rPr>
                        <a:t>T1124</a:t>
                      </a:r>
                    </a:p>
                  </a:txBody>
                  <a:tcPr marL="73152" marR="73152" marT="27432" marB="27432" anchor="ctr">
                    <a:solidFill>
                      <a:srgbClr val="FFFFFF"/>
                    </a:solidFill>
                  </a:tcPr>
                </a:tc>
                <a:tc>
                  <a:txBody>
                    <a:bodyPr wrap="square"/>
                    <a:lstStyle/>
                    <a:p>
                      <a:pPr algn="ctr"/>
                      <a:r>
                        <a:rPr sz="1300" b="0">
                          <a:solidFill>
                            <a:srgbClr val="0B0B0B"/>
                          </a:solidFill>
                          <a:latin typeface="Calibri"/>
                        </a:rPr>
                        <a:t>250</a:t>
                      </a:r>
                    </a:p>
                  </a:txBody>
                  <a:tcPr marL="73152" marR="73152" marT="27432" marB="27432" anchor="ctr">
                    <a:solidFill>
                      <a:srgbClr val="FFFFFF"/>
                    </a:solidFill>
                  </a:tcPr>
                </a:tc>
                <a:tc>
                  <a:txBody>
                    <a:bodyPr wrap="square"/>
                    <a:lstStyle/>
                    <a:p>
                      <a:pPr algn="ctr"/>
                      <a:r>
                        <a:rPr sz="1300" b="0">
                          <a:solidFill>
                            <a:srgbClr val="0B0B0B"/>
                          </a:solidFill>
                          <a:latin typeface="Calibri"/>
                        </a:rPr>
                        <a:t>5I2H, 1QZZ, 3GWZ</a:t>
                      </a:r>
                    </a:p>
                  </a:txBody>
                  <a:tcPr marL="73152" marR="73152" marT="27432" marB="27432" anchor="ctr">
                    <a:solidFill>
                      <a:srgbClr val="FFFFFF"/>
                    </a:solidFill>
                  </a:tcPr>
                </a:tc>
                <a:tc>
                  <a:txBody>
                    <a:bodyPr wrap="square"/>
                    <a:lstStyle/>
                    <a:p>
                      <a:pPr algn="ctr"/>
                      <a:r>
                        <a:rPr sz="1300" b="0">
                          <a:solidFill>
                            <a:srgbClr val="0B0B0B"/>
                          </a:solidFill>
                          <a:latin typeface="Calibri"/>
                        </a:rPr>
                        <a:t>5I2H:A</a:t>
                      </a:r>
                    </a:p>
                  </a:txBody>
                  <a:tcPr marL="73152" marR="73152" marT="27432" marB="27432" anchor="ctr">
                    <a:solidFill>
                      <a:srgbClr val="FFFFFF"/>
                    </a:solidFill>
                  </a:tcPr>
                </a:tc>
                <a:tc>
                  <a:txBody>
                    <a:bodyPr wrap="square"/>
                    <a:lstStyle/>
                    <a:p>
                      <a:pPr algn="ctr"/>
                      <a:r>
                        <a:rPr sz="1300" b="0">
                          <a:solidFill>
                            <a:srgbClr val="0B0B0B"/>
                          </a:solidFill>
                          <a:latin typeface="Calibri"/>
                        </a:rPr>
                        <a:t>27%</a:t>
                      </a:r>
                    </a:p>
                  </a:txBody>
                  <a:tcPr marL="73152" marR="73152" marT="27432" marB="27432" anchor="ctr">
                    <a:solidFill>
                      <a:srgbClr val="FFFFFF"/>
                    </a:solidFill>
                  </a:tcPr>
                </a:tc>
                <a:tc>
                  <a:txBody>
                    <a:bodyPr wrap="square"/>
                    <a:lstStyle/>
                    <a:p>
                      <a:pPr algn="ctr"/>
                      <a:r>
                        <a:rPr sz="1300" b="0">
                          <a:solidFill>
                            <a:srgbClr val="0B0B0B"/>
                          </a:solidFill>
                          <a:latin typeface="Calibri"/>
                        </a:rPr>
                        <a:t>81%</a:t>
                      </a:r>
                    </a:p>
                  </a:txBody>
                  <a:tcPr marL="73152" marR="73152" marT="27432" marB="27432" anchor="ctr">
                    <a:solidFill>
                      <a:srgbClr val="FFFFFF"/>
                    </a:solidFill>
                  </a:tcPr>
                </a:tc>
                <a:tc>
                  <a:txBody>
                    <a:bodyPr wrap="square"/>
                    <a:lstStyle/>
                    <a:p>
                      <a:pPr algn="ctr"/>
                      <a:r>
                        <a:rPr sz="1300" b="0">
                          <a:solidFill>
                            <a:srgbClr val="0B0B0B"/>
                          </a:solidFill>
                          <a:latin typeface="Calibri"/>
                        </a:rPr>
                        <a:t>1.00</a:t>
                      </a:r>
                    </a:p>
                  </a:txBody>
                  <a:tcPr marL="73152" marR="73152" marT="27432" marB="27432" anchor="ctr">
                    <a:solidFill>
                      <a:srgbClr val="FFFFFF"/>
                    </a:solidFill>
                  </a:tcPr>
                </a:tc>
              </a:tr>
              <a:tr h="457200">
                <a:tc>
                  <a:txBody>
                    <a:bodyPr wrap="square"/>
                    <a:lstStyle/>
                    <a:p>
                      <a:pPr algn="l"/>
                      <a:r>
                        <a:rPr sz="1300" b="0">
                          <a:solidFill>
                            <a:srgbClr val="0B0B0B"/>
                          </a:solidFill>
                          <a:latin typeface="Calibri"/>
                        </a:rPr>
                        <a:t>T1127</a:t>
                      </a:r>
                    </a:p>
                  </a:txBody>
                  <a:tcPr marL="73152" marR="73152" marT="27432" marB="27432" anchor="ctr">
                    <a:solidFill>
                      <a:srgbClr val="F5F4F1"/>
                    </a:solidFill>
                  </a:tcPr>
                </a:tc>
                <a:tc>
                  <a:txBody>
                    <a:bodyPr wrap="square"/>
                    <a:lstStyle/>
                    <a:p>
                      <a:pPr algn="ctr"/>
                      <a:r>
                        <a:rPr sz="1300" b="0">
                          <a:solidFill>
                            <a:srgbClr val="0B0B0B"/>
                          </a:solidFill>
                          <a:latin typeface="Calibri"/>
                        </a:rPr>
                        <a:t>250</a:t>
                      </a:r>
                    </a:p>
                  </a:txBody>
                  <a:tcPr marL="73152" marR="73152" marT="27432" marB="27432" anchor="ctr">
                    <a:solidFill>
                      <a:srgbClr val="F5F4F1"/>
                    </a:solidFill>
                  </a:tcPr>
                </a:tc>
                <a:tc>
                  <a:txBody>
                    <a:bodyPr wrap="square"/>
                    <a:lstStyle/>
                    <a:p>
                      <a:pPr algn="ctr"/>
                      <a:r>
                        <a:rPr sz="1300" b="0">
                          <a:solidFill>
                            <a:srgbClr val="0B0B0B"/>
                          </a:solidFill>
                          <a:latin typeface="Calibri"/>
                        </a:rPr>
                        <a:t>4HNY, 2FE7, 2BEI</a:t>
                      </a:r>
                    </a:p>
                  </a:txBody>
                  <a:tcPr marL="73152" marR="73152" marT="27432" marB="27432" anchor="ctr">
                    <a:solidFill>
                      <a:srgbClr val="F5F4F1"/>
                    </a:solidFill>
                  </a:tcPr>
                </a:tc>
                <a:tc>
                  <a:txBody>
                    <a:bodyPr wrap="square"/>
                    <a:lstStyle/>
                    <a:p>
                      <a:pPr algn="ctr"/>
                      <a:r>
                        <a:rPr sz="1300" b="0">
                          <a:solidFill>
                            <a:srgbClr val="0B0B0B"/>
                          </a:solidFill>
                          <a:latin typeface="Calibri"/>
                        </a:rPr>
                        <a:t>2FE7:B</a:t>
                      </a:r>
                    </a:p>
                  </a:txBody>
                  <a:tcPr marL="73152" marR="73152" marT="27432" marB="27432" anchor="ctr">
                    <a:solidFill>
                      <a:srgbClr val="F5F4F1"/>
                    </a:solidFill>
                  </a:tcPr>
                </a:tc>
                <a:tc>
                  <a:txBody>
                    <a:bodyPr wrap="square"/>
                    <a:lstStyle/>
                    <a:p>
                      <a:pPr algn="ctr"/>
                      <a:r>
                        <a:rPr sz="1300" b="0">
                          <a:solidFill>
                            <a:srgbClr val="0B0B0B"/>
                          </a:solidFill>
                          <a:latin typeface="Calibri"/>
                        </a:rPr>
                        <a:t>36%</a:t>
                      </a:r>
                    </a:p>
                  </a:txBody>
                  <a:tcPr marL="73152" marR="73152" marT="27432" marB="27432" anchor="ctr">
                    <a:solidFill>
                      <a:srgbClr val="F5F4F1"/>
                    </a:solidFill>
                  </a:tcPr>
                </a:tc>
                <a:tc>
                  <a:txBody>
                    <a:bodyPr wrap="square"/>
                    <a:lstStyle/>
                    <a:p>
                      <a:pPr algn="ctr"/>
                      <a:r>
                        <a:rPr sz="1300" b="0">
                          <a:solidFill>
                            <a:srgbClr val="0B0B0B"/>
                          </a:solidFill>
                          <a:latin typeface="Calibri"/>
                        </a:rPr>
                        <a:t>75%</a:t>
                      </a:r>
                    </a:p>
                  </a:txBody>
                  <a:tcPr marL="73152" marR="73152" marT="27432" marB="27432" anchor="ctr">
                    <a:solidFill>
                      <a:srgbClr val="F5F4F1"/>
                    </a:solidFill>
                  </a:tcPr>
                </a:tc>
                <a:tc>
                  <a:txBody>
                    <a:bodyPr wrap="square"/>
                    <a:lstStyle/>
                    <a:p>
                      <a:pPr algn="ctr"/>
                      <a:r>
                        <a:rPr sz="1300" b="0">
                          <a:solidFill>
                            <a:srgbClr val="0B0B0B"/>
                          </a:solidFill>
                          <a:latin typeface="Calibri"/>
                        </a:rPr>
                        <a:t>0.93</a:t>
                      </a:r>
                    </a:p>
                  </a:txBody>
                  <a:tcPr marL="73152" marR="73152" marT="27432" marB="27432" anchor="ctr">
                    <a:solidFill>
                      <a:srgbClr val="F5F4F1"/>
                    </a:solidFill>
                  </a:tcPr>
                </a:tc>
              </a:tr>
              <a:tr h="457200">
                <a:tc>
                  <a:txBody>
                    <a:bodyPr wrap="square"/>
                    <a:lstStyle/>
                    <a:p>
                      <a:pPr algn="l"/>
                      <a:r>
                        <a:rPr sz="1300" b="0">
                          <a:solidFill>
                            <a:srgbClr val="0B0B0B"/>
                          </a:solidFill>
                          <a:latin typeface="Calibri"/>
                        </a:rPr>
                        <a:t>T1151s2</a:t>
                      </a:r>
                    </a:p>
                  </a:txBody>
                  <a:tcPr marL="73152" marR="73152" marT="27432" marB="27432" anchor="ctr">
                    <a:solidFill>
                      <a:srgbClr val="FFFFFF"/>
                    </a:solidFill>
                  </a:tcPr>
                </a:tc>
                <a:tc>
                  <a:txBody>
                    <a:bodyPr wrap="square"/>
                    <a:lstStyle/>
                    <a:p>
                      <a:pPr algn="ctr"/>
                      <a:r>
                        <a:rPr sz="1300" b="0">
                          <a:solidFill>
                            <a:srgbClr val="0B0B0B"/>
                          </a:solidFill>
                          <a:latin typeface="Calibri"/>
                        </a:rPr>
                        <a:t>8</a:t>
                      </a:r>
                    </a:p>
                  </a:txBody>
                  <a:tcPr marL="73152" marR="73152" marT="27432" marB="27432" anchor="ctr">
                    <a:solidFill>
                      <a:srgbClr val="FFFFFF"/>
                    </a:solidFill>
                  </a:tcPr>
                </a:tc>
                <a:tc>
                  <a:txBody>
                    <a:bodyPr wrap="square"/>
                    <a:lstStyle/>
                    <a:p>
                      <a:pPr algn="ctr"/>
                      <a:r>
                        <a:rPr sz="1300" b="0">
                          <a:solidFill>
                            <a:srgbClr val="0B0B0B"/>
                          </a:solidFill>
                          <a:latin typeface="Calibri"/>
                        </a:rPr>
                        <a:t>7KUG, 6ONO, 7F7N</a:t>
                      </a:r>
                    </a:p>
                  </a:txBody>
                  <a:tcPr marL="73152" marR="73152" marT="27432" marB="27432" anchor="ctr">
                    <a:solidFill>
                      <a:srgbClr val="FFFFFF"/>
                    </a:solidFill>
                  </a:tcPr>
                </a:tc>
                <a:tc>
                  <a:txBody>
                    <a:bodyPr wrap="square"/>
                    <a:lstStyle/>
                    <a:p>
                      <a:pPr algn="ctr"/>
                      <a:r>
                        <a:rPr sz="1300" b="0">
                          <a:solidFill>
                            <a:srgbClr val="0B0B0B"/>
                          </a:solidFill>
                          <a:latin typeface="Calibri"/>
                        </a:rPr>
                        <a:t>7KUG:A</a:t>
                      </a:r>
                    </a:p>
                  </a:txBody>
                  <a:tcPr marL="73152" marR="73152" marT="27432" marB="27432" anchor="ctr">
                    <a:solidFill>
                      <a:srgbClr val="FFFFFF"/>
                    </a:solidFill>
                  </a:tcPr>
                </a:tc>
                <a:tc>
                  <a:txBody>
                    <a:bodyPr wrap="square"/>
                    <a:lstStyle/>
                    <a:p>
                      <a:pPr algn="ctr"/>
                      <a:r>
                        <a:rPr sz="1300" b="0">
                          <a:solidFill>
                            <a:srgbClr val="0B0B0B"/>
                          </a:solidFill>
                          <a:latin typeface="Calibri"/>
                        </a:rPr>
                        <a:t>38%</a:t>
                      </a:r>
                    </a:p>
                  </a:txBody>
                  <a:tcPr marL="73152" marR="73152" marT="27432" marB="27432" anchor="ctr">
                    <a:solidFill>
                      <a:srgbClr val="FFFFFF"/>
                    </a:solidFill>
                  </a:tcPr>
                </a:tc>
                <a:tc>
                  <a:txBody>
                    <a:bodyPr wrap="square"/>
                    <a:lstStyle/>
                    <a:p>
                      <a:pPr algn="ctr"/>
                      <a:r>
                        <a:rPr sz="1300" b="0">
                          <a:solidFill>
                            <a:srgbClr val="0B0B0B"/>
                          </a:solidFill>
                          <a:latin typeface="Calibri"/>
                        </a:rPr>
                        <a:t>47%</a:t>
                      </a:r>
                    </a:p>
                  </a:txBody>
                  <a:tcPr marL="73152" marR="73152" marT="27432" marB="27432" anchor="ctr">
                    <a:solidFill>
                      <a:srgbClr val="FFFFFF"/>
                    </a:solidFill>
                  </a:tcPr>
                </a:tc>
                <a:tc>
                  <a:txBody>
                    <a:bodyPr wrap="square"/>
                    <a:lstStyle/>
                    <a:p>
                      <a:pPr algn="ctr"/>
                      <a:r>
                        <a:rPr sz="1300" b="0">
                          <a:solidFill>
                            <a:srgbClr val="0B0B0B"/>
                          </a:solidFill>
                          <a:latin typeface="Calibri"/>
                        </a:rPr>
                        <a:t>0.60</a:t>
                      </a:r>
                    </a:p>
                  </a:txBody>
                  <a:tcPr marL="73152" marR="73152" marT="27432" marB="27432" anchor="ctr">
                    <a:solidFill>
                      <a:srgbClr val="FFFFFF"/>
                    </a:solidFill>
                  </a:tcPr>
                </a:tc>
              </a:tr>
            </a:tbl>
          </a:graphicData>
        </a:graphic>
      </p:graphicFrame>
      <p:sp>
        <p:nvSpPr>
          <p:cNvPr id="15" name="TextBox 14"/>
          <p:cNvSpPr txBox="1"/>
          <p:nvPr/>
        </p:nvSpPr>
        <p:spPr>
          <a:xfrm>
            <a:off x="4206240" y="3520440"/>
            <a:ext cx="7406640" cy="2651760"/>
          </a:xfrm>
          <a:prstGeom prst="rect">
            <a:avLst/>
          </a:prstGeom>
          <a:noFill/>
        </p:spPr>
        <p:txBody>
          <a:bodyPr wrap="square" anchor="t" lIns="45720" rIns="45720" tIns="27432" bIns="27432">
            <a:spAutoFit/>
          </a:bodyPr>
          <a:lstStyle/>
          <a:p>
            <a:pPr algn="l">
              <a:spcAft>
                <a:spcPts val="800"/>
              </a:spcAft>
            </a:pPr>
            <a:r>
              <a:rPr sz="1400" b="0">
                <a:solidFill>
                  <a:srgbClr val="0B0B0B"/>
                </a:solidFill>
                <a:latin typeface="Calibri"/>
              </a:rPr>
              <a:t>•  T1124, T1127: hundreds of family members (methyltransferases, acetyltransferases).</a:t>
            </a:r>
          </a:p>
          <a:p>
            <a:pPr algn="l">
              <a:spcAft>
                <a:spcPts val="800"/>
              </a:spcAft>
            </a:pPr>
            <a:r>
              <a:rPr sz="1400" b="0">
                <a:solidFill>
                  <a:srgbClr val="0B0B0B"/>
                </a:solidFill>
                <a:latin typeface="Calibri"/>
              </a:rPr>
              <a:t>•  T1151s2 (FM/TBM): only 8 hits, all WhiB-family regulators, at ~38% identity over 55 residues — a remote template the profile still finds.</a:t>
            </a:r>
          </a:p>
          <a:p>
            <a:pPr algn="l">
              <a:spcAft>
                <a:spcPts val="800"/>
              </a:spcAft>
            </a:pPr>
            <a:r>
              <a:rPr sz="1400" b="0">
                <a:solidFill>
                  <a:srgbClr val="0B0B0B"/>
                </a:solidFill>
                <a:latin typeface="Calibri"/>
              </a:rPr>
              <a:t>•  Claude built 3 templates per target and named the risky region before evaluation: T1124 domain orientation, T1127 insertion 60–104, T1151s2 tail 85–111.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0972800" cy="274320"/>
          </a:xfrm>
          <a:prstGeom prst="rect">
            <a:avLst/>
          </a:prstGeom>
          <a:noFill/>
        </p:spPr>
        <p:txBody>
          <a:bodyPr wrap="square" anchor="t" lIns="45720" rIns="45720" tIns="27432" bIns="27432">
            <a:spAutoFit/>
          </a:bodyPr>
          <a:lstStyle/>
          <a:p>
            <a:pPr algn="l">
              <a:spcAft>
                <a:spcPts val="600"/>
              </a:spcAft>
            </a:pPr>
            <a:r>
              <a:rPr sz="1100" b="1">
                <a:solidFill>
                  <a:srgbClr val="2A78D6"/>
                </a:solidFill>
                <a:latin typeface="Calibri"/>
              </a:rPr>
              <a:t>RESULTS</a:t>
            </a:r>
          </a:p>
        </p:txBody>
      </p:sp>
      <p:sp>
        <p:nvSpPr>
          <p:cNvPr id="3" name="TextBox 2"/>
          <p:cNvSpPr txBox="1"/>
          <p:nvPr/>
        </p:nvSpPr>
        <p:spPr>
          <a:xfrm>
            <a:off x="548640" y="502920"/>
            <a:ext cx="11064240" cy="640080"/>
          </a:xfrm>
          <a:prstGeom prst="rect">
            <a:avLst/>
          </a:prstGeom>
          <a:noFill/>
        </p:spPr>
        <p:txBody>
          <a:bodyPr wrap="square" anchor="t" lIns="45720" rIns="45720" tIns="27432" bIns="27432">
            <a:spAutoFit/>
          </a:bodyPr>
          <a:lstStyle/>
          <a:p>
            <a:pPr algn="l">
              <a:spcAft>
                <a:spcPts val="600"/>
              </a:spcAft>
            </a:pPr>
            <a:r>
              <a:rPr sz="2800" b="1">
                <a:solidFill>
                  <a:srgbClr val="0B0B0B"/>
                </a:solidFill>
                <a:latin typeface="Calibri"/>
              </a:rPr>
              <a:t>AlphaFold3 is more accurate on every target</a:t>
            </a:r>
          </a:p>
        </p:txBody>
      </p:sp>
      <p:cxnSp>
        <p:nvCxnSpPr>
          <p:cNvPr id="4" name="Connector 3"/>
          <p:cNvCxnSpPr/>
          <p:nvPr/>
        </p:nvCxnSpPr>
        <p:spPr>
          <a:xfrm>
            <a:off x="548640" y="1170432"/>
            <a:ext cx="11094415" cy="0"/>
          </a:xfrm>
          <a:prstGeom prst="line">
            <a:avLst/>
          </a:prstGeom>
          <a:ln w="12700">
            <a:solidFill>
              <a:srgbClr val="E4E3DF"/>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1185855" y="6473952"/>
            <a:ext cx="548640" cy="274320"/>
          </a:xfrm>
          <a:prstGeom prst="rect">
            <a:avLst/>
          </a:prstGeom>
          <a:noFill/>
        </p:spPr>
        <p:txBody>
          <a:bodyPr wrap="square" anchor="t" lIns="45720" rIns="45720" tIns="27432" bIns="27432">
            <a:spAutoFit/>
          </a:bodyPr>
          <a:lstStyle/>
          <a:p>
            <a:pPr algn="r">
              <a:spcAft>
                <a:spcPts val="600"/>
              </a:spcAft>
            </a:pPr>
            <a:r>
              <a:rPr sz="1000" b="0">
                <a:solidFill>
                  <a:srgbClr val="52514E"/>
                </a:solidFill>
                <a:latin typeface="Calibri"/>
              </a:rPr>
              <a:t>5</a:t>
            </a:r>
          </a:p>
        </p:txBody>
      </p:sp>
      <p:sp>
        <p:nvSpPr>
          <p:cNvPr id="6" name="TextBox 5"/>
          <p:cNvSpPr txBox="1"/>
          <p:nvPr/>
        </p:nvSpPr>
        <p:spPr>
          <a:xfrm>
            <a:off x="548640" y="6473952"/>
            <a:ext cx="7315200" cy="274320"/>
          </a:xfrm>
          <a:prstGeom prst="rect">
            <a:avLst/>
          </a:prstGeom>
          <a:noFill/>
        </p:spPr>
        <p:txBody>
          <a:bodyPr wrap="square" anchor="t" lIns="45720" rIns="45720" tIns="27432" bIns="27432">
            <a:spAutoFit/>
          </a:bodyPr>
          <a:lstStyle/>
          <a:p>
            <a:pPr algn="l">
              <a:spcAft>
                <a:spcPts val="600"/>
              </a:spcAft>
            </a:pPr>
            <a:r>
              <a:rPr sz="1000" b="0">
                <a:solidFill>
                  <a:srgbClr val="52514E"/>
                </a:solidFill>
                <a:latin typeface="Calibri"/>
              </a:rPr>
              <a:t>CMP_SC 8170 · Project 2 · Template-based modeling vs AlphaFold3</a:t>
            </a:r>
          </a:p>
        </p:txBody>
      </p:sp>
      <p:graphicFrame>
        <p:nvGraphicFramePr>
          <p:cNvPr id="7" name="Table 6"/>
          <p:cNvGraphicFramePr>
            <a:graphicFrameLocks noGrp="1"/>
          </p:cNvGraphicFramePr>
          <p:nvPr/>
        </p:nvGraphicFramePr>
        <p:xfrm>
          <a:off x="548640" y="1463040"/>
          <a:ext cx="6400800" cy="3200400"/>
        </p:xfrm>
        <a:graphic>
          <a:graphicData uri="http://schemas.openxmlformats.org/drawingml/2006/table">
            <a:tbl>
              <a:tblPr firstRow="1" bandRow="1">
                <a:tableStyleId>{5C22544A-7EE6-4342-B048-85BDC9FD1C3A}</a:tableStyleId>
              </a:tblPr>
              <a:tblGrid>
                <a:gridCol w="1828800"/>
                <a:gridCol w="1188720"/>
                <a:gridCol w="731520"/>
                <a:gridCol w="914400"/>
                <a:gridCol w="777240"/>
                <a:gridCol w="960120"/>
              </a:tblGrid>
              <a:tr h="457200">
                <a:tc>
                  <a:txBody>
                    <a:bodyPr wrap="square"/>
                    <a:lstStyle/>
                    <a:p>
                      <a:pPr algn="l"/>
                      <a:r>
                        <a:rPr sz="1300" b="1">
                          <a:solidFill>
                            <a:srgbClr val="FFFFFF"/>
                          </a:solidFill>
                          <a:latin typeface="Calibri"/>
                        </a:rPr>
                        <a:t>Target</a:t>
                      </a:r>
                    </a:p>
                  </a:txBody>
                  <a:tcPr marL="73152" marR="73152" marT="27432" marB="27432" anchor="ctr">
                    <a:solidFill>
                      <a:srgbClr val="0B0B0B"/>
                    </a:solidFill>
                  </a:tcPr>
                </a:tc>
                <a:tc>
                  <a:txBody>
                    <a:bodyPr wrap="square"/>
                    <a:lstStyle/>
                    <a:p>
                      <a:pPr algn="ctr"/>
                      <a:r>
                        <a:rPr sz="1300" b="1">
                          <a:solidFill>
                            <a:srgbClr val="FFFFFF"/>
                          </a:solidFill>
                          <a:latin typeface="Calibri"/>
                        </a:rPr>
                        <a:t>Method</a:t>
                      </a:r>
                    </a:p>
                  </a:txBody>
                  <a:tcPr marL="73152" marR="73152" marT="27432" marB="27432" anchor="ctr">
                    <a:solidFill>
                      <a:srgbClr val="0B0B0B"/>
                    </a:solidFill>
                  </a:tcPr>
                </a:tc>
                <a:tc>
                  <a:txBody>
                    <a:bodyPr wrap="square"/>
                    <a:lstStyle/>
                    <a:p>
                      <a:pPr algn="ctr"/>
                      <a:r>
                        <a:rPr sz="1300" b="1">
                          <a:solidFill>
                            <a:srgbClr val="FFFFFF"/>
                          </a:solidFill>
                          <a:latin typeface="Calibri"/>
                        </a:rPr>
                        <a:t>TM ↑</a:t>
                      </a:r>
                    </a:p>
                  </a:txBody>
                  <a:tcPr marL="73152" marR="73152" marT="27432" marB="27432" anchor="ctr">
                    <a:solidFill>
                      <a:srgbClr val="0B0B0B"/>
                    </a:solidFill>
                  </a:tcPr>
                </a:tc>
                <a:tc>
                  <a:txBody>
                    <a:bodyPr wrap="square"/>
                    <a:lstStyle/>
                    <a:p>
                      <a:pPr algn="ctr"/>
                      <a:r>
                        <a:rPr sz="1300" b="1">
                          <a:solidFill>
                            <a:srgbClr val="FFFFFF"/>
                          </a:solidFill>
                          <a:latin typeface="Calibri"/>
                        </a:rPr>
                        <a:t>GDT-TS ↑</a:t>
                      </a:r>
                    </a:p>
                  </a:txBody>
                  <a:tcPr marL="73152" marR="73152" marT="27432" marB="27432" anchor="ctr">
                    <a:solidFill>
                      <a:srgbClr val="0B0B0B"/>
                    </a:solidFill>
                  </a:tcPr>
                </a:tc>
                <a:tc>
                  <a:txBody>
                    <a:bodyPr wrap="square"/>
                    <a:lstStyle/>
                    <a:p>
                      <a:pPr algn="ctr"/>
                      <a:r>
                        <a:rPr sz="1300" b="1">
                          <a:solidFill>
                            <a:srgbClr val="FFFFFF"/>
                          </a:solidFill>
                          <a:latin typeface="Calibri"/>
                        </a:rPr>
                        <a:t>lDDT ↑</a:t>
                      </a:r>
                    </a:p>
                  </a:txBody>
                  <a:tcPr marL="73152" marR="73152" marT="27432" marB="27432" anchor="ctr">
                    <a:solidFill>
                      <a:srgbClr val="0B0B0B"/>
                    </a:solidFill>
                  </a:tcPr>
                </a:tc>
                <a:tc>
                  <a:txBody>
                    <a:bodyPr wrap="square"/>
                    <a:lstStyle/>
                    <a:p>
                      <a:pPr algn="ctr"/>
                      <a:r>
                        <a:rPr sz="1300" b="1">
                          <a:solidFill>
                            <a:srgbClr val="FFFFFF"/>
                          </a:solidFill>
                          <a:latin typeface="Calibri"/>
                        </a:rPr>
                        <a:t>RMSD (Å) ↓</a:t>
                      </a:r>
                    </a:p>
                  </a:txBody>
                  <a:tcPr marL="73152" marR="73152" marT="27432" marB="27432" anchor="ctr">
                    <a:solidFill>
                      <a:srgbClr val="0B0B0B"/>
                    </a:solidFill>
                  </a:tcPr>
                </a:tc>
              </a:tr>
              <a:tr h="457200">
                <a:tc>
                  <a:txBody>
                    <a:bodyPr wrap="square"/>
                    <a:lstStyle/>
                    <a:p>
                      <a:pPr algn="l"/>
                      <a:r>
                        <a:rPr sz="1300" b="0">
                          <a:solidFill>
                            <a:srgbClr val="0B0B0B"/>
                          </a:solidFill>
                          <a:latin typeface="Calibri"/>
                        </a:rPr>
                        <a:t>T1124 (TBM-easy)</a:t>
                      </a:r>
                    </a:p>
                  </a:txBody>
                  <a:tcPr marL="73152" marR="73152" marT="27432" marB="27432" anchor="ctr">
                    <a:solidFill>
                      <a:srgbClr val="FFFFFF"/>
                    </a:solidFill>
                  </a:tcPr>
                </a:tc>
                <a:tc>
                  <a:txBody>
                    <a:bodyPr wrap="square"/>
                    <a:lstStyle/>
                    <a:p>
                      <a:pPr algn="ctr"/>
                      <a:r>
                        <a:rPr sz="1300" b="0">
                          <a:solidFill>
                            <a:srgbClr val="2A78D6"/>
                          </a:solidFill>
                          <a:latin typeface="Calibri"/>
                        </a:rPr>
                        <a:t>MODELLER</a:t>
                      </a:r>
                    </a:p>
                  </a:txBody>
                  <a:tcPr marL="73152" marR="73152" marT="27432" marB="27432" anchor="ctr">
                    <a:solidFill>
                      <a:srgbClr val="FFFFFF"/>
                    </a:solidFill>
                  </a:tcPr>
                </a:tc>
                <a:tc>
                  <a:txBody>
                    <a:bodyPr wrap="square"/>
                    <a:lstStyle/>
                    <a:p>
                      <a:pPr algn="ctr"/>
                      <a:r>
                        <a:rPr sz="1300" b="0">
                          <a:solidFill>
                            <a:srgbClr val="0B0B0B"/>
                          </a:solidFill>
                          <a:latin typeface="Calibri"/>
                        </a:rPr>
                        <a:t>0.537</a:t>
                      </a:r>
                    </a:p>
                  </a:txBody>
                  <a:tcPr marL="73152" marR="73152" marT="27432" marB="27432" anchor="ctr">
                    <a:solidFill>
                      <a:srgbClr val="FFFFFF"/>
                    </a:solidFill>
                  </a:tcPr>
                </a:tc>
                <a:tc>
                  <a:txBody>
                    <a:bodyPr wrap="square"/>
                    <a:lstStyle/>
                    <a:p>
                      <a:pPr algn="ctr"/>
                      <a:r>
                        <a:rPr sz="1300" b="0">
                          <a:solidFill>
                            <a:srgbClr val="0B0B0B"/>
                          </a:solidFill>
                          <a:latin typeface="Calibri"/>
                        </a:rPr>
                        <a:t>41.3</a:t>
                      </a:r>
                    </a:p>
                  </a:txBody>
                  <a:tcPr marL="73152" marR="73152" marT="27432" marB="27432" anchor="ctr">
                    <a:solidFill>
                      <a:srgbClr val="FFFFFF"/>
                    </a:solidFill>
                  </a:tcPr>
                </a:tc>
                <a:tc>
                  <a:txBody>
                    <a:bodyPr wrap="square"/>
                    <a:lstStyle/>
                    <a:p>
                      <a:pPr algn="ctr"/>
                      <a:r>
                        <a:rPr sz="1300" b="0">
                          <a:solidFill>
                            <a:srgbClr val="0B0B0B"/>
                          </a:solidFill>
                          <a:latin typeface="Calibri"/>
                        </a:rPr>
                        <a:t>0.542</a:t>
                      </a:r>
                    </a:p>
                  </a:txBody>
                  <a:tcPr marL="73152" marR="73152" marT="27432" marB="27432" anchor="ctr">
                    <a:solidFill>
                      <a:srgbClr val="FFFFFF"/>
                    </a:solidFill>
                  </a:tcPr>
                </a:tc>
                <a:tc>
                  <a:txBody>
                    <a:bodyPr wrap="square"/>
                    <a:lstStyle/>
                    <a:p>
                      <a:pPr algn="ctr"/>
                      <a:r>
                        <a:rPr sz="1300" b="0">
                          <a:solidFill>
                            <a:srgbClr val="0B0B0B"/>
                          </a:solidFill>
                          <a:latin typeface="Calibri"/>
                        </a:rPr>
                        <a:t>21.3</a:t>
                      </a:r>
                    </a:p>
                  </a:txBody>
                  <a:tcPr marL="73152" marR="73152" marT="27432" marB="27432" anchor="ctr">
                    <a:solidFill>
                      <a:srgbClr val="FFFFFF"/>
                    </a:solidFill>
                  </a:tcPr>
                </a:tc>
              </a:tr>
              <a:tr h="457200">
                <a:tc>
                  <a:txBody>
                    <a:bodyPr wrap="square"/>
                    <a:lstStyle/>
                    <a:p>
                      <a:pPr algn="l"/>
                      <a:r>
                        <a:rPr sz="1300" b="0">
                          <a:solidFill>
                            <a:srgbClr val="0B0B0B"/>
                          </a:solidFill>
                          <a:latin typeface="Calibri"/>
                        </a:rPr>
                        <a:t/>
                      </a:r>
                    </a:p>
                  </a:txBody>
                  <a:tcPr marL="73152" marR="73152" marT="27432" marB="27432" anchor="ctr">
                    <a:solidFill>
                      <a:srgbClr val="F5F4F1"/>
                    </a:solidFill>
                  </a:tcPr>
                </a:tc>
                <a:tc>
                  <a:txBody>
                    <a:bodyPr wrap="square"/>
                    <a:lstStyle/>
                    <a:p>
                      <a:pPr algn="ctr"/>
                      <a:r>
                        <a:rPr sz="1300" b="0">
                          <a:solidFill>
                            <a:srgbClr val="EB6834"/>
                          </a:solidFill>
                          <a:latin typeface="Calibri"/>
                        </a:rPr>
                        <a:t>AlphaFold3</a:t>
                      </a:r>
                    </a:p>
                  </a:txBody>
                  <a:tcPr marL="73152" marR="73152" marT="27432" marB="27432" anchor="ctr">
                    <a:solidFill>
                      <a:srgbClr val="F5F4F1"/>
                    </a:solidFill>
                  </a:tcPr>
                </a:tc>
                <a:tc>
                  <a:txBody>
                    <a:bodyPr wrap="square"/>
                    <a:lstStyle/>
                    <a:p>
                      <a:pPr algn="ctr"/>
                      <a:r>
                        <a:rPr sz="1300" b="0">
                          <a:solidFill>
                            <a:srgbClr val="0B0B0B"/>
                          </a:solidFill>
                          <a:latin typeface="Calibri"/>
                        </a:rPr>
                        <a:t>0.940</a:t>
                      </a:r>
                    </a:p>
                  </a:txBody>
                  <a:tcPr marL="73152" marR="73152" marT="27432" marB="27432" anchor="ctr">
                    <a:solidFill>
                      <a:srgbClr val="F5F4F1"/>
                    </a:solidFill>
                  </a:tcPr>
                </a:tc>
                <a:tc>
                  <a:txBody>
                    <a:bodyPr wrap="square"/>
                    <a:lstStyle/>
                    <a:p>
                      <a:pPr algn="ctr"/>
                      <a:r>
                        <a:rPr sz="1300" b="0">
                          <a:solidFill>
                            <a:srgbClr val="0B0B0B"/>
                          </a:solidFill>
                          <a:latin typeface="Calibri"/>
                        </a:rPr>
                        <a:t>90.8</a:t>
                      </a:r>
                    </a:p>
                  </a:txBody>
                  <a:tcPr marL="73152" marR="73152" marT="27432" marB="27432" anchor="ctr">
                    <a:solidFill>
                      <a:srgbClr val="F5F4F1"/>
                    </a:solidFill>
                  </a:tcPr>
                </a:tc>
                <a:tc>
                  <a:txBody>
                    <a:bodyPr wrap="square"/>
                    <a:lstStyle/>
                    <a:p>
                      <a:pPr algn="ctr"/>
                      <a:r>
                        <a:rPr sz="1300" b="0">
                          <a:solidFill>
                            <a:srgbClr val="0B0B0B"/>
                          </a:solidFill>
                          <a:latin typeface="Calibri"/>
                        </a:rPr>
                        <a:t>0.870</a:t>
                      </a:r>
                    </a:p>
                  </a:txBody>
                  <a:tcPr marL="73152" marR="73152" marT="27432" marB="27432" anchor="ctr">
                    <a:solidFill>
                      <a:srgbClr val="F5F4F1"/>
                    </a:solidFill>
                  </a:tcPr>
                </a:tc>
                <a:tc>
                  <a:txBody>
                    <a:bodyPr wrap="square"/>
                    <a:lstStyle/>
                    <a:p>
                      <a:pPr algn="ctr"/>
                      <a:r>
                        <a:rPr sz="1300" b="0">
                          <a:solidFill>
                            <a:srgbClr val="0B0B0B"/>
                          </a:solidFill>
                          <a:latin typeface="Calibri"/>
                        </a:rPr>
                        <a:t>6.6</a:t>
                      </a:r>
                    </a:p>
                  </a:txBody>
                  <a:tcPr marL="73152" marR="73152" marT="27432" marB="27432" anchor="ctr">
                    <a:solidFill>
                      <a:srgbClr val="F5F4F1"/>
                    </a:solidFill>
                  </a:tcPr>
                </a:tc>
              </a:tr>
              <a:tr h="457200">
                <a:tc>
                  <a:txBody>
                    <a:bodyPr wrap="square"/>
                    <a:lstStyle/>
                    <a:p>
                      <a:pPr algn="l"/>
                      <a:r>
                        <a:rPr sz="1300" b="0">
                          <a:solidFill>
                            <a:srgbClr val="0B0B0B"/>
                          </a:solidFill>
                          <a:latin typeface="Calibri"/>
                        </a:rPr>
                        <a:t>T1127 (TBM-hard)</a:t>
                      </a:r>
                    </a:p>
                  </a:txBody>
                  <a:tcPr marL="73152" marR="73152" marT="27432" marB="27432" anchor="ctr">
                    <a:solidFill>
                      <a:srgbClr val="FFFFFF"/>
                    </a:solidFill>
                  </a:tcPr>
                </a:tc>
                <a:tc>
                  <a:txBody>
                    <a:bodyPr wrap="square"/>
                    <a:lstStyle/>
                    <a:p>
                      <a:pPr algn="ctr"/>
                      <a:r>
                        <a:rPr sz="1300" b="0">
                          <a:solidFill>
                            <a:srgbClr val="2A78D6"/>
                          </a:solidFill>
                          <a:latin typeface="Calibri"/>
                        </a:rPr>
                        <a:t>MODELLER</a:t>
                      </a:r>
                    </a:p>
                  </a:txBody>
                  <a:tcPr marL="73152" marR="73152" marT="27432" marB="27432" anchor="ctr">
                    <a:solidFill>
                      <a:srgbClr val="FFFFFF"/>
                    </a:solidFill>
                  </a:tcPr>
                </a:tc>
                <a:tc>
                  <a:txBody>
                    <a:bodyPr wrap="square"/>
                    <a:lstStyle/>
                    <a:p>
                      <a:pPr algn="ctr"/>
                      <a:r>
                        <a:rPr sz="1300" b="0">
                          <a:solidFill>
                            <a:srgbClr val="0B0B0B"/>
                          </a:solidFill>
                          <a:latin typeface="Calibri"/>
                        </a:rPr>
                        <a:t>0.722</a:t>
                      </a:r>
                    </a:p>
                  </a:txBody>
                  <a:tcPr marL="73152" marR="73152" marT="27432" marB="27432" anchor="ctr">
                    <a:solidFill>
                      <a:srgbClr val="FFFFFF"/>
                    </a:solidFill>
                  </a:tcPr>
                </a:tc>
                <a:tc>
                  <a:txBody>
                    <a:bodyPr wrap="square"/>
                    <a:lstStyle/>
                    <a:p>
                      <a:pPr algn="ctr"/>
                      <a:r>
                        <a:rPr sz="1300" b="0">
                          <a:solidFill>
                            <a:srgbClr val="0B0B0B"/>
                          </a:solidFill>
                          <a:latin typeface="Calibri"/>
                        </a:rPr>
                        <a:t>65.5</a:t>
                      </a:r>
                    </a:p>
                  </a:txBody>
                  <a:tcPr marL="73152" marR="73152" marT="27432" marB="27432" anchor="ctr">
                    <a:solidFill>
                      <a:srgbClr val="FFFFFF"/>
                    </a:solidFill>
                  </a:tcPr>
                </a:tc>
                <a:tc>
                  <a:txBody>
                    <a:bodyPr wrap="square"/>
                    <a:lstStyle/>
                    <a:p>
                      <a:pPr algn="ctr"/>
                      <a:r>
                        <a:rPr sz="1300" b="0">
                          <a:solidFill>
                            <a:srgbClr val="0B0B0B"/>
                          </a:solidFill>
                          <a:latin typeface="Calibri"/>
                        </a:rPr>
                        <a:t>0.529</a:t>
                      </a:r>
                    </a:p>
                  </a:txBody>
                  <a:tcPr marL="73152" marR="73152" marT="27432" marB="27432" anchor="ctr">
                    <a:solidFill>
                      <a:srgbClr val="FFFFFF"/>
                    </a:solidFill>
                  </a:tcPr>
                </a:tc>
                <a:tc>
                  <a:txBody>
                    <a:bodyPr wrap="square"/>
                    <a:lstStyle/>
                    <a:p>
                      <a:pPr algn="ctr"/>
                      <a:r>
                        <a:rPr sz="1300" b="0">
                          <a:solidFill>
                            <a:srgbClr val="0B0B0B"/>
                          </a:solidFill>
                          <a:latin typeface="Calibri"/>
                        </a:rPr>
                        <a:t>11.5</a:t>
                      </a:r>
                    </a:p>
                  </a:txBody>
                  <a:tcPr marL="73152" marR="73152" marT="27432" marB="27432" anchor="ctr">
                    <a:solidFill>
                      <a:srgbClr val="FFFFFF"/>
                    </a:solidFill>
                  </a:tcPr>
                </a:tc>
              </a:tr>
              <a:tr h="457200">
                <a:tc>
                  <a:txBody>
                    <a:bodyPr wrap="square"/>
                    <a:lstStyle/>
                    <a:p>
                      <a:pPr algn="l"/>
                      <a:r>
                        <a:rPr sz="1300" b="0">
                          <a:solidFill>
                            <a:srgbClr val="0B0B0B"/>
                          </a:solidFill>
                          <a:latin typeface="Calibri"/>
                        </a:rPr>
                        <a:t/>
                      </a:r>
                    </a:p>
                  </a:txBody>
                  <a:tcPr marL="73152" marR="73152" marT="27432" marB="27432" anchor="ctr">
                    <a:solidFill>
                      <a:srgbClr val="F5F4F1"/>
                    </a:solidFill>
                  </a:tcPr>
                </a:tc>
                <a:tc>
                  <a:txBody>
                    <a:bodyPr wrap="square"/>
                    <a:lstStyle/>
                    <a:p>
                      <a:pPr algn="ctr"/>
                      <a:r>
                        <a:rPr sz="1300" b="0">
                          <a:solidFill>
                            <a:srgbClr val="EB6834"/>
                          </a:solidFill>
                          <a:latin typeface="Calibri"/>
                        </a:rPr>
                        <a:t>AlphaFold3</a:t>
                      </a:r>
                    </a:p>
                  </a:txBody>
                  <a:tcPr marL="73152" marR="73152" marT="27432" marB="27432" anchor="ctr">
                    <a:solidFill>
                      <a:srgbClr val="F5F4F1"/>
                    </a:solidFill>
                  </a:tcPr>
                </a:tc>
                <a:tc>
                  <a:txBody>
                    <a:bodyPr wrap="square"/>
                    <a:lstStyle/>
                    <a:p>
                      <a:pPr algn="ctr"/>
                      <a:r>
                        <a:rPr sz="1300" b="0">
                          <a:solidFill>
                            <a:srgbClr val="0B0B0B"/>
                          </a:solidFill>
                          <a:latin typeface="Calibri"/>
                        </a:rPr>
                        <a:t>0.973</a:t>
                      </a:r>
                    </a:p>
                  </a:txBody>
                  <a:tcPr marL="73152" marR="73152" marT="27432" marB="27432" anchor="ctr">
                    <a:solidFill>
                      <a:srgbClr val="F5F4F1"/>
                    </a:solidFill>
                  </a:tcPr>
                </a:tc>
                <a:tc>
                  <a:txBody>
                    <a:bodyPr wrap="square"/>
                    <a:lstStyle/>
                    <a:p>
                      <a:pPr algn="ctr"/>
                      <a:r>
                        <a:rPr sz="1300" b="0">
                          <a:solidFill>
                            <a:srgbClr val="0B0B0B"/>
                          </a:solidFill>
                          <a:latin typeface="Calibri"/>
                        </a:rPr>
                        <a:t>95.5</a:t>
                      </a:r>
                    </a:p>
                  </a:txBody>
                  <a:tcPr marL="73152" marR="73152" marT="27432" marB="27432" anchor="ctr">
                    <a:solidFill>
                      <a:srgbClr val="F5F4F1"/>
                    </a:solidFill>
                  </a:tcPr>
                </a:tc>
                <a:tc>
                  <a:txBody>
                    <a:bodyPr wrap="square"/>
                    <a:lstStyle/>
                    <a:p>
                      <a:pPr algn="ctr"/>
                      <a:r>
                        <a:rPr sz="1300" b="0">
                          <a:solidFill>
                            <a:srgbClr val="0B0B0B"/>
                          </a:solidFill>
                          <a:latin typeface="Calibri"/>
                        </a:rPr>
                        <a:t>0.882</a:t>
                      </a:r>
                    </a:p>
                  </a:txBody>
                  <a:tcPr marL="73152" marR="73152" marT="27432" marB="27432" anchor="ctr">
                    <a:solidFill>
                      <a:srgbClr val="F5F4F1"/>
                    </a:solidFill>
                  </a:tcPr>
                </a:tc>
                <a:tc>
                  <a:txBody>
                    <a:bodyPr wrap="square"/>
                    <a:lstStyle/>
                    <a:p>
                      <a:pPr algn="ctr"/>
                      <a:r>
                        <a:rPr sz="1300" b="0">
                          <a:solidFill>
                            <a:srgbClr val="0B0B0B"/>
                          </a:solidFill>
                          <a:latin typeface="Calibri"/>
                        </a:rPr>
                        <a:t>0.9</a:t>
                      </a:r>
                    </a:p>
                  </a:txBody>
                  <a:tcPr marL="73152" marR="73152" marT="27432" marB="27432" anchor="ctr">
                    <a:solidFill>
                      <a:srgbClr val="F5F4F1"/>
                    </a:solidFill>
                  </a:tcPr>
                </a:tc>
              </a:tr>
              <a:tr h="457200">
                <a:tc>
                  <a:txBody>
                    <a:bodyPr wrap="square"/>
                    <a:lstStyle/>
                    <a:p>
                      <a:pPr algn="l"/>
                      <a:r>
                        <a:rPr sz="1300" b="0">
                          <a:solidFill>
                            <a:srgbClr val="0B0B0B"/>
                          </a:solidFill>
                          <a:latin typeface="Calibri"/>
                        </a:rPr>
                        <a:t>T1151s2 (FM/TBM)</a:t>
                      </a:r>
                    </a:p>
                  </a:txBody>
                  <a:tcPr marL="73152" marR="73152" marT="27432" marB="27432" anchor="ctr">
                    <a:solidFill>
                      <a:srgbClr val="FFFFFF"/>
                    </a:solidFill>
                  </a:tcPr>
                </a:tc>
                <a:tc>
                  <a:txBody>
                    <a:bodyPr wrap="square"/>
                    <a:lstStyle/>
                    <a:p>
                      <a:pPr algn="ctr"/>
                      <a:r>
                        <a:rPr sz="1300" b="0">
                          <a:solidFill>
                            <a:srgbClr val="2A78D6"/>
                          </a:solidFill>
                          <a:latin typeface="Calibri"/>
                        </a:rPr>
                        <a:t>MODELLER</a:t>
                      </a:r>
                    </a:p>
                  </a:txBody>
                  <a:tcPr marL="73152" marR="73152" marT="27432" marB="27432" anchor="ctr">
                    <a:solidFill>
                      <a:srgbClr val="FFFFFF"/>
                    </a:solidFill>
                  </a:tcPr>
                </a:tc>
                <a:tc>
                  <a:txBody>
                    <a:bodyPr wrap="square"/>
                    <a:lstStyle/>
                    <a:p>
                      <a:pPr algn="ctr"/>
                      <a:r>
                        <a:rPr sz="1300" b="0">
                          <a:solidFill>
                            <a:srgbClr val="0B0B0B"/>
                          </a:solidFill>
                          <a:latin typeface="Calibri"/>
                        </a:rPr>
                        <a:t>0.524</a:t>
                      </a:r>
                    </a:p>
                  </a:txBody>
                  <a:tcPr marL="73152" marR="73152" marT="27432" marB="27432" anchor="ctr">
                    <a:solidFill>
                      <a:srgbClr val="FFFFFF"/>
                    </a:solidFill>
                  </a:tcPr>
                </a:tc>
                <a:tc>
                  <a:txBody>
                    <a:bodyPr wrap="square"/>
                    <a:lstStyle/>
                    <a:p>
                      <a:pPr algn="ctr"/>
                      <a:r>
                        <a:rPr sz="1300" b="0">
                          <a:solidFill>
                            <a:srgbClr val="0B0B0B"/>
                          </a:solidFill>
                          <a:latin typeface="Calibri"/>
                        </a:rPr>
                        <a:t>52.7</a:t>
                      </a:r>
                    </a:p>
                  </a:txBody>
                  <a:tcPr marL="73152" marR="73152" marT="27432" marB="27432" anchor="ctr">
                    <a:solidFill>
                      <a:srgbClr val="FFFFFF"/>
                    </a:solidFill>
                  </a:tcPr>
                </a:tc>
                <a:tc>
                  <a:txBody>
                    <a:bodyPr wrap="square"/>
                    <a:lstStyle/>
                    <a:p>
                      <a:pPr algn="ctr"/>
                      <a:r>
                        <a:rPr sz="1300" b="0">
                          <a:solidFill>
                            <a:srgbClr val="0B0B0B"/>
                          </a:solidFill>
                          <a:latin typeface="Calibri"/>
                        </a:rPr>
                        <a:t>0.407</a:t>
                      </a:r>
                    </a:p>
                  </a:txBody>
                  <a:tcPr marL="73152" marR="73152" marT="27432" marB="27432" anchor="ctr">
                    <a:solidFill>
                      <a:srgbClr val="FFFFFF"/>
                    </a:solidFill>
                  </a:tcPr>
                </a:tc>
                <a:tc>
                  <a:txBody>
                    <a:bodyPr wrap="square"/>
                    <a:lstStyle/>
                    <a:p>
                      <a:pPr algn="ctr"/>
                      <a:r>
                        <a:rPr sz="1300" b="0">
                          <a:solidFill>
                            <a:srgbClr val="0B0B0B"/>
                          </a:solidFill>
                          <a:latin typeface="Calibri"/>
                        </a:rPr>
                        <a:t>17.3</a:t>
                      </a:r>
                    </a:p>
                  </a:txBody>
                  <a:tcPr marL="73152" marR="73152" marT="27432" marB="27432" anchor="ctr">
                    <a:solidFill>
                      <a:srgbClr val="FFFFFF"/>
                    </a:solidFill>
                  </a:tcPr>
                </a:tc>
              </a:tr>
              <a:tr h="457200">
                <a:tc>
                  <a:txBody>
                    <a:bodyPr wrap="square"/>
                    <a:lstStyle/>
                    <a:p>
                      <a:pPr algn="l"/>
                      <a:r>
                        <a:rPr sz="1300" b="0">
                          <a:solidFill>
                            <a:srgbClr val="0B0B0B"/>
                          </a:solidFill>
                          <a:latin typeface="Calibri"/>
                        </a:rPr>
                        <a:t/>
                      </a:r>
                    </a:p>
                  </a:txBody>
                  <a:tcPr marL="73152" marR="73152" marT="27432" marB="27432" anchor="ctr">
                    <a:solidFill>
                      <a:srgbClr val="F5F4F1"/>
                    </a:solidFill>
                  </a:tcPr>
                </a:tc>
                <a:tc>
                  <a:txBody>
                    <a:bodyPr wrap="square"/>
                    <a:lstStyle/>
                    <a:p>
                      <a:pPr algn="ctr"/>
                      <a:r>
                        <a:rPr sz="1300" b="0">
                          <a:solidFill>
                            <a:srgbClr val="EB6834"/>
                          </a:solidFill>
                          <a:latin typeface="Calibri"/>
                        </a:rPr>
                        <a:t>AlphaFold3</a:t>
                      </a:r>
                    </a:p>
                  </a:txBody>
                  <a:tcPr marL="73152" marR="73152" marT="27432" marB="27432" anchor="ctr">
                    <a:solidFill>
                      <a:srgbClr val="F5F4F1"/>
                    </a:solidFill>
                  </a:tcPr>
                </a:tc>
                <a:tc>
                  <a:txBody>
                    <a:bodyPr wrap="square"/>
                    <a:lstStyle/>
                    <a:p>
                      <a:pPr algn="ctr"/>
                      <a:r>
                        <a:rPr sz="1300" b="0">
                          <a:solidFill>
                            <a:srgbClr val="0B0B0B"/>
                          </a:solidFill>
                          <a:latin typeface="Calibri"/>
                        </a:rPr>
                        <a:t>0.916</a:t>
                      </a:r>
                    </a:p>
                  </a:txBody>
                  <a:tcPr marL="73152" marR="73152" marT="27432" marB="27432" anchor="ctr">
                    <a:solidFill>
                      <a:srgbClr val="F5F4F1"/>
                    </a:solidFill>
                  </a:tcPr>
                </a:tc>
                <a:tc>
                  <a:txBody>
                    <a:bodyPr wrap="square"/>
                    <a:lstStyle/>
                    <a:p>
                      <a:pPr algn="ctr"/>
                      <a:r>
                        <a:rPr sz="1300" b="0">
                          <a:solidFill>
                            <a:srgbClr val="0B0B0B"/>
                          </a:solidFill>
                          <a:latin typeface="Calibri"/>
                        </a:rPr>
                        <a:t>92.9</a:t>
                      </a:r>
                    </a:p>
                  </a:txBody>
                  <a:tcPr marL="73152" marR="73152" marT="27432" marB="27432" anchor="ctr">
                    <a:solidFill>
                      <a:srgbClr val="F5F4F1"/>
                    </a:solidFill>
                  </a:tcPr>
                </a:tc>
                <a:tc>
                  <a:txBody>
                    <a:bodyPr wrap="square"/>
                    <a:lstStyle/>
                    <a:p>
                      <a:pPr algn="ctr"/>
                      <a:r>
                        <a:rPr sz="1300" b="0">
                          <a:solidFill>
                            <a:srgbClr val="0B0B0B"/>
                          </a:solidFill>
                          <a:latin typeface="Calibri"/>
                        </a:rPr>
                        <a:t>0.817</a:t>
                      </a:r>
                    </a:p>
                  </a:txBody>
                  <a:tcPr marL="73152" marR="73152" marT="27432" marB="27432" anchor="ctr">
                    <a:solidFill>
                      <a:srgbClr val="F5F4F1"/>
                    </a:solidFill>
                  </a:tcPr>
                </a:tc>
                <a:tc>
                  <a:txBody>
                    <a:bodyPr wrap="square"/>
                    <a:lstStyle/>
                    <a:p>
                      <a:pPr algn="ctr"/>
                      <a:r>
                        <a:rPr sz="1300" b="0">
                          <a:solidFill>
                            <a:srgbClr val="0B0B0B"/>
                          </a:solidFill>
                          <a:latin typeface="Calibri"/>
                        </a:rPr>
                        <a:t>1.5</a:t>
                      </a:r>
                    </a:p>
                  </a:txBody>
                  <a:tcPr marL="73152" marR="73152" marT="27432" marB="27432" anchor="ctr">
                    <a:solidFill>
                      <a:srgbClr val="F5F4F1"/>
                    </a:solidFill>
                  </a:tcPr>
                </a:tc>
              </a:tr>
            </a:tbl>
          </a:graphicData>
        </a:graphic>
      </p:graphicFrame>
      <p:sp>
        <p:nvSpPr>
          <p:cNvPr id="8" name="TextBox 7"/>
          <p:cNvSpPr txBox="1"/>
          <p:nvPr/>
        </p:nvSpPr>
        <p:spPr>
          <a:xfrm>
            <a:off x="548640" y="4846320"/>
            <a:ext cx="6400800" cy="1280160"/>
          </a:xfrm>
          <a:prstGeom prst="rect">
            <a:avLst/>
          </a:prstGeom>
          <a:noFill/>
        </p:spPr>
        <p:txBody>
          <a:bodyPr wrap="square" anchor="t" lIns="45720" rIns="45720" tIns="27432" bIns="27432">
            <a:spAutoFit/>
          </a:bodyPr>
          <a:lstStyle/>
          <a:p>
            <a:pPr algn="l">
              <a:spcAft>
                <a:spcPts val="600"/>
              </a:spcAft>
            </a:pPr>
            <a:r>
              <a:rPr sz="1400" b="0">
                <a:solidFill>
                  <a:srgbClr val="0B0B0B"/>
                </a:solidFill>
                <a:latin typeface="Calibri"/>
              </a:rPr>
              <a:t>•  MODELLER is best on the TBM-hard target (0.72), not the TBM-easy one (0.54).</a:t>
            </a:r>
          </a:p>
          <a:p>
            <a:pPr algn="l">
              <a:spcAft>
                <a:spcPts val="600"/>
              </a:spcAft>
            </a:pPr>
            <a:r>
              <a:rPr sz="1400" b="0">
                <a:solidFill>
                  <a:srgbClr val="0B0B0B"/>
                </a:solidFill>
                <a:latin typeface="Calibri"/>
              </a:rPr>
              <a:t>•  AlphaFold3: TM 0.92–0.97 everywhere; its RMSD is raised only by floppy termini.</a:t>
            </a:r>
          </a:p>
        </p:txBody>
      </p:sp>
      <p:graphicFrame>
        <p:nvGraphicFramePr>
          <p:cNvPr id="9" name="Chart 8"/>
          <p:cNvGraphicFramePr>
            <a:graphicFrameLocks noGrp="1"/>
          </p:cNvGraphicFramePr>
          <p:nvPr/>
        </p:nvGraphicFramePr>
        <p:xfrm>
          <a:off x="7315200" y="1371600"/>
          <a:ext cx="4389120" cy="4846320"/>
        </p:xfrm>
        <a:graphic>
          <a:graphicData uri="http://schemas.openxmlformats.org/drawingml/2006/chart">
            <c:chart xmlns:c="http://schemas.openxmlformats.org/drawingml/2006/chart" r:id="rId3"/>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0972800" cy="274320"/>
          </a:xfrm>
          <a:prstGeom prst="rect">
            <a:avLst/>
          </a:prstGeom>
          <a:noFill/>
        </p:spPr>
        <p:txBody>
          <a:bodyPr wrap="square" anchor="t" lIns="45720" rIns="45720" tIns="27432" bIns="27432">
            <a:spAutoFit/>
          </a:bodyPr>
          <a:lstStyle/>
          <a:p>
            <a:pPr algn="l">
              <a:spcAft>
                <a:spcPts val="600"/>
              </a:spcAft>
            </a:pPr>
            <a:r>
              <a:rPr sz="1100" b="1">
                <a:solidFill>
                  <a:srgbClr val="2A78D6"/>
                </a:solidFill>
                <a:latin typeface="Calibri"/>
              </a:rPr>
              <a:t>RESULTS</a:t>
            </a:r>
          </a:p>
        </p:txBody>
      </p:sp>
      <p:sp>
        <p:nvSpPr>
          <p:cNvPr id="3" name="TextBox 2"/>
          <p:cNvSpPr txBox="1"/>
          <p:nvPr/>
        </p:nvSpPr>
        <p:spPr>
          <a:xfrm>
            <a:off x="548640" y="502920"/>
            <a:ext cx="11064240" cy="640080"/>
          </a:xfrm>
          <a:prstGeom prst="rect">
            <a:avLst/>
          </a:prstGeom>
          <a:noFill/>
        </p:spPr>
        <p:txBody>
          <a:bodyPr wrap="square" anchor="t" lIns="45720" rIns="45720" tIns="27432" bIns="27432">
            <a:spAutoFit/>
          </a:bodyPr>
          <a:lstStyle/>
          <a:p>
            <a:pPr algn="l">
              <a:spcAft>
                <a:spcPts val="600"/>
              </a:spcAft>
            </a:pPr>
            <a:r>
              <a:rPr sz="2800" b="1">
                <a:solidFill>
                  <a:srgbClr val="0B0B0B"/>
                </a:solidFill>
                <a:latin typeface="Calibri"/>
              </a:rPr>
              <a:t>Where MODELLER goes wrong</a:t>
            </a:r>
          </a:p>
        </p:txBody>
      </p:sp>
      <p:cxnSp>
        <p:nvCxnSpPr>
          <p:cNvPr id="4" name="Connector 3"/>
          <p:cNvCxnSpPr/>
          <p:nvPr/>
        </p:nvCxnSpPr>
        <p:spPr>
          <a:xfrm>
            <a:off x="548640" y="1170432"/>
            <a:ext cx="11094415" cy="0"/>
          </a:xfrm>
          <a:prstGeom prst="line">
            <a:avLst/>
          </a:prstGeom>
          <a:ln w="12700">
            <a:solidFill>
              <a:srgbClr val="E4E3DF"/>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1185855" y="6473952"/>
            <a:ext cx="548640" cy="274320"/>
          </a:xfrm>
          <a:prstGeom prst="rect">
            <a:avLst/>
          </a:prstGeom>
          <a:noFill/>
        </p:spPr>
        <p:txBody>
          <a:bodyPr wrap="square" anchor="t" lIns="45720" rIns="45720" tIns="27432" bIns="27432">
            <a:spAutoFit/>
          </a:bodyPr>
          <a:lstStyle/>
          <a:p>
            <a:pPr algn="r">
              <a:spcAft>
                <a:spcPts val="600"/>
              </a:spcAft>
            </a:pPr>
            <a:r>
              <a:rPr sz="1000" b="0">
                <a:solidFill>
                  <a:srgbClr val="52514E"/>
                </a:solidFill>
                <a:latin typeface="Calibri"/>
              </a:rPr>
              <a:t>6</a:t>
            </a:r>
          </a:p>
        </p:txBody>
      </p:sp>
      <p:sp>
        <p:nvSpPr>
          <p:cNvPr id="6" name="TextBox 5"/>
          <p:cNvSpPr txBox="1"/>
          <p:nvPr/>
        </p:nvSpPr>
        <p:spPr>
          <a:xfrm>
            <a:off x="548640" y="6473952"/>
            <a:ext cx="7315200" cy="274320"/>
          </a:xfrm>
          <a:prstGeom prst="rect">
            <a:avLst/>
          </a:prstGeom>
          <a:noFill/>
        </p:spPr>
        <p:txBody>
          <a:bodyPr wrap="square" anchor="t" lIns="45720" rIns="45720" tIns="27432" bIns="27432">
            <a:spAutoFit/>
          </a:bodyPr>
          <a:lstStyle/>
          <a:p>
            <a:pPr algn="l">
              <a:spcAft>
                <a:spcPts val="600"/>
              </a:spcAft>
            </a:pPr>
            <a:r>
              <a:rPr sz="1000" b="0">
                <a:solidFill>
                  <a:srgbClr val="52514E"/>
                </a:solidFill>
                <a:latin typeface="Calibri"/>
              </a:rPr>
              <a:t>CMP_SC 8170 · Project 2 · Template-based modeling vs AlphaFold3</a:t>
            </a:r>
          </a:p>
        </p:txBody>
      </p:sp>
      <p:sp>
        <p:nvSpPr>
          <p:cNvPr id="7" name="TextBox 6"/>
          <p:cNvSpPr txBox="1"/>
          <p:nvPr/>
        </p:nvSpPr>
        <p:spPr>
          <a:xfrm>
            <a:off x="548640" y="1280160"/>
            <a:ext cx="3657600" cy="365760"/>
          </a:xfrm>
          <a:prstGeom prst="rect">
            <a:avLst/>
          </a:prstGeom>
          <a:noFill/>
        </p:spPr>
        <p:txBody>
          <a:bodyPr wrap="square" anchor="t" lIns="45720" rIns="45720" tIns="27432" bIns="27432">
            <a:spAutoFit/>
          </a:bodyPr>
          <a:lstStyle/>
          <a:p>
            <a:pPr algn="ctr">
              <a:spcAft>
                <a:spcPts val="600"/>
              </a:spcAft>
            </a:pPr>
            <a:r>
              <a:rPr sz="1500" b="1">
                <a:solidFill>
                  <a:srgbClr val="0B0B0B"/>
                </a:solidFill>
                <a:latin typeface="Calibri"/>
              </a:rPr>
              <a:t>T1124 (TBM-easy)</a:t>
            </a:r>
          </a:p>
        </p:txBody>
      </p:sp>
      <p:pic>
        <p:nvPicPr>
          <p:cNvPr id="8" name="Picture 7" descr="T1124_3d_MODELLER.png"/>
          <p:cNvPicPr>
            <a:picLocks noChangeAspect="1"/>
          </p:cNvPicPr>
          <p:nvPr/>
        </p:nvPicPr>
        <p:blipFill>
          <a:blip r:embed="rId3"/>
          <a:stretch>
            <a:fillRect/>
          </a:stretch>
        </p:blipFill>
        <p:spPr>
          <a:xfrm>
            <a:off x="1194014" y="1691640"/>
            <a:ext cx="2366850" cy="1783080"/>
          </a:xfrm>
          <a:prstGeom prst="rect">
            <a:avLst/>
          </a:prstGeom>
        </p:spPr>
      </p:pic>
      <p:sp>
        <p:nvSpPr>
          <p:cNvPr id="9" name="TextBox 8"/>
          <p:cNvSpPr txBox="1"/>
          <p:nvPr/>
        </p:nvSpPr>
        <p:spPr>
          <a:xfrm>
            <a:off x="548640" y="3474720"/>
            <a:ext cx="3657600" cy="274320"/>
          </a:xfrm>
          <a:prstGeom prst="rect">
            <a:avLst/>
          </a:prstGeom>
          <a:noFill/>
        </p:spPr>
        <p:txBody>
          <a:bodyPr wrap="square" anchor="t" lIns="45720" rIns="45720" tIns="27432" bIns="27432">
            <a:spAutoFit/>
          </a:bodyPr>
          <a:lstStyle/>
          <a:p>
            <a:pPr algn="ctr">
              <a:spcAft>
                <a:spcPts val="600"/>
              </a:spcAft>
            </a:pPr>
            <a:r>
              <a:rPr sz="1200" b="1">
                <a:solidFill>
                  <a:srgbClr val="2A78D6"/>
                </a:solidFill>
                <a:latin typeface="Calibri"/>
              </a:rPr>
              <a:t>MODELLER · TM 0.537</a:t>
            </a:r>
          </a:p>
        </p:txBody>
      </p:sp>
      <p:pic>
        <p:nvPicPr>
          <p:cNvPr id="10" name="Picture 9" descr="T1124_3d_AlphaFold3.png"/>
          <p:cNvPicPr>
            <a:picLocks noChangeAspect="1"/>
          </p:cNvPicPr>
          <p:nvPr/>
        </p:nvPicPr>
        <p:blipFill>
          <a:blip r:embed="rId4"/>
          <a:stretch>
            <a:fillRect/>
          </a:stretch>
        </p:blipFill>
        <p:spPr>
          <a:xfrm>
            <a:off x="768744" y="3840480"/>
            <a:ext cx="3217391" cy="1783080"/>
          </a:xfrm>
          <a:prstGeom prst="rect">
            <a:avLst/>
          </a:prstGeom>
        </p:spPr>
      </p:pic>
      <p:sp>
        <p:nvSpPr>
          <p:cNvPr id="11" name="TextBox 10"/>
          <p:cNvSpPr txBox="1"/>
          <p:nvPr/>
        </p:nvSpPr>
        <p:spPr>
          <a:xfrm>
            <a:off x="548640" y="5623560"/>
            <a:ext cx="3657600" cy="274320"/>
          </a:xfrm>
          <a:prstGeom prst="rect">
            <a:avLst/>
          </a:prstGeom>
          <a:noFill/>
        </p:spPr>
        <p:txBody>
          <a:bodyPr wrap="square" anchor="t" lIns="45720" rIns="45720" tIns="27432" bIns="27432">
            <a:spAutoFit/>
          </a:bodyPr>
          <a:lstStyle/>
          <a:p>
            <a:pPr algn="ctr">
              <a:spcAft>
                <a:spcPts val="600"/>
              </a:spcAft>
            </a:pPr>
            <a:r>
              <a:rPr sz="1200" b="1">
                <a:solidFill>
                  <a:srgbClr val="EB6834"/>
                </a:solidFill>
                <a:latin typeface="Calibri"/>
              </a:rPr>
              <a:t>AlphaFold3 · TM 0.940</a:t>
            </a:r>
          </a:p>
        </p:txBody>
      </p:sp>
      <p:sp>
        <p:nvSpPr>
          <p:cNvPr id="12" name="TextBox 11"/>
          <p:cNvSpPr txBox="1"/>
          <p:nvPr/>
        </p:nvSpPr>
        <p:spPr>
          <a:xfrm>
            <a:off x="548640" y="5989320"/>
            <a:ext cx="3657600" cy="320040"/>
          </a:xfrm>
          <a:prstGeom prst="rect">
            <a:avLst/>
          </a:prstGeom>
          <a:noFill/>
        </p:spPr>
        <p:txBody>
          <a:bodyPr wrap="square" anchor="t" lIns="45720" rIns="45720" tIns="27432" bIns="27432">
            <a:spAutoFit/>
          </a:bodyPr>
          <a:lstStyle/>
          <a:p>
            <a:pPr algn="ctr">
              <a:spcAft>
                <a:spcPts val="600"/>
              </a:spcAft>
            </a:pPr>
            <a:r>
              <a:rPr sz="1200" b="0">
                <a:solidFill>
                  <a:srgbClr val="52514E"/>
                </a:solidFill>
                <a:latin typeface="Calibri"/>
              </a:rPr>
              <a:t>N-terminal domain (7–135) misplaced by 38 Å</a:t>
            </a:r>
          </a:p>
        </p:txBody>
      </p:sp>
      <p:sp>
        <p:nvSpPr>
          <p:cNvPr id="13" name="TextBox 12"/>
          <p:cNvSpPr txBox="1"/>
          <p:nvPr/>
        </p:nvSpPr>
        <p:spPr>
          <a:xfrm>
            <a:off x="4297679" y="1280160"/>
            <a:ext cx="3657600" cy="365760"/>
          </a:xfrm>
          <a:prstGeom prst="rect">
            <a:avLst/>
          </a:prstGeom>
          <a:noFill/>
        </p:spPr>
        <p:txBody>
          <a:bodyPr wrap="square" anchor="t" lIns="45720" rIns="45720" tIns="27432" bIns="27432">
            <a:spAutoFit/>
          </a:bodyPr>
          <a:lstStyle/>
          <a:p>
            <a:pPr algn="ctr">
              <a:spcAft>
                <a:spcPts val="600"/>
              </a:spcAft>
            </a:pPr>
            <a:r>
              <a:rPr sz="1500" b="1">
                <a:solidFill>
                  <a:srgbClr val="0B0B0B"/>
                </a:solidFill>
                <a:latin typeface="Calibri"/>
              </a:rPr>
              <a:t>T1127 (TBM-hard)</a:t>
            </a:r>
          </a:p>
        </p:txBody>
      </p:sp>
      <p:pic>
        <p:nvPicPr>
          <p:cNvPr id="14" name="Picture 13" descr="T1127_3d_MODELLER.png"/>
          <p:cNvPicPr>
            <a:picLocks noChangeAspect="1"/>
          </p:cNvPicPr>
          <p:nvPr/>
        </p:nvPicPr>
        <p:blipFill>
          <a:blip r:embed="rId5"/>
          <a:stretch>
            <a:fillRect/>
          </a:stretch>
        </p:blipFill>
        <p:spPr>
          <a:xfrm>
            <a:off x="4389119" y="1884231"/>
            <a:ext cx="3474720" cy="1397897"/>
          </a:xfrm>
          <a:prstGeom prst="rect">
            <a:avLst/>
          </a:prstGeom>
        </p:spPr>
      </p:pic>
      <p:sp>
        <p:nvSpPr>
          <p:cNvPr id="15" name="TextBox 14"/>
          <p:cNvSpPr txBox="1"/>
          <p:nvPr/>
        </p:nvSpPr>
        <p:spPr>
          <a:xfrm>
            <a:off x="4297679" y="3474720"/>
            <a:ext cx="3657600" cy="274320"/>
          </a:xfrm>
          <a:prstGeom prst="rect">
            <a:avLst/>
          </a:prstGeom>
          <a:noFill/>
        </p:spPr>
        <p:txBody>
          <a:bodyPr wrap="square" anchor="t" lIns="45720" rIns="45720" tIns="27432" bIns="27432">
            <a:spAutoFit/>
          </a:bodyPr>
          <a:lstStyle/>
          <a:p>
            <a:pPr algn="ctr">
              <a:spcAft>
                <a:spcPts val="600"/>
              </a:spcAft>
            </a:pPr>
            <a:r>
              <a:rPr sz="1200" b="1">
                <a:solidFill>
                  <a:srgbClr val="2A78D6"/>
                </a:solidFill>
                <a:latin typeface="Calibri"/>
              </a:rPr>
              <a:t>MODELLER · TM 0.722</a:t>
            </a:r>
          </a:p>
        </p:txBody>
      </p:sp>
      <p:pic>
        <p:nvPicPr>
          <p:cNvPr id="16" name="Picture 15" descr="T1127_3d_AlphaFold3.png"/>
          <p:cNvPicPr>
            <a:picLocks noChangeAspect="1"/>
          </p:cNvPicPr>
          <p:nvPr/>
        </p:nvPicPr>
        <p:blipFill>
          <a:blip r:embed="rId6"/>
          <a:stretch>
            <a:fillRect/>
          </a:stretch>
        </p:blipFill>
        <p:spPr>
          <a:xfrm>
            <a:off x="4644035" y="3840480"/>
            <a:ext cx="2964888" cy="1783079"/>
          </a:xfrm>
          <a:prstGeom prst="rect">
            <a:avLst/>
          </a:prstGeom>
        </p:spPr>
      </p:pic>
      <p:sp>
        <p:nvSpPr>
          <p:cNvPr id="17" name="TextBox 16"/>
          <p:cNvSpPr txBox="1"/>
          <p:nvPr/>
        </p:nvSpPr>
        <p:spPr>
          <a:xfrm>
            <a:off x="4297679" y="5623560"/>
            <a:ext cx="3657600" cy="274320"/>
          </a:xfrm>
          <a:prstGeom prst="rect">
            <a:avLst/>
          </a:prstGeom>
          <a:noFill/>
        </p:spPr>
        <p:txBody>
          <a:bodyPr wrap="square" anchor="t" lIns="45720" rIns="45720" tIns="27432" bIns="27432">
            <a:spAutoFit/>
          </a:bodyPr>
          <a:lstStyle/>
          <a:p>
            <a:pPr algn="ctr">
              <a:spcAft>
                <a:spcPts val="600"/>
              </a:spcAft>
            </a:pPr>
            <a:r>
              <a:rPr sz="1200" b="1">
                <a:solidFill>
                  <a:srgbClr val="EB6834"/>
                </a:solidFill>
                <a:latin typeface="Calibri"/>
              </a:rPr>
              <a:t>AlphaFold3 · TM 0.973</a:t>
            </a:r>
          </a:p>
        </p:txBody>
      </p:sp>
      <p:sp>
        <p:nvSpPr>
          <p:cNvPr id="18" name="TextBox 17"/>
          <p:cNvSpPr txBox="1"/>
          <p:nvPr/>
        </p:nvSpPr>
        <p:spPr>
          <a:xfrm>
            <a:off x="4297679" y="5989320"/>
            <a:ext cx="3657600" cy="320040"/>
          </a:xfrm>
          <a:prstGeom prst="rect">
            <a:avLst/>
          </a:prstGeom>
          <a:noFill/>
        </p:spPr>
        <p:txBody>
          <a:bodyPr wrap="square" anchor="t" lIns="45720" rIns="45720" tIns="27432" bIns="27432">
            <a:spAutoFit/>
          </a:bodyPr>
          <a:lstStyle/>
          <a:p>
            <a:pPr algn="ctr">
              <a:spcAft>
                <a:spcPts val="600"/>
              </a:spcAft>
            </a:pPr>
            <a:r>
              <a:rPr sz="1200" b="0">
                <a:solidFill>
                  <a:srgbClr val="52514E"/>
                </a:solidFill>
                <a:latin typeface="Calibri"/>
              </a:rPr>
              <a:t>core 1.9 Å; insertion 60–104 has no template</a:t>
            </a:r>
          </a:p>
        </p:txBody>
      </p:sp>
      <p:sp>
        <p:nvSpPr>
          <p:cNvPr id="19" name="TextBox 18"/>
          <p:cNvSpPr txBox="1"/>
          <p:nvPr/>
        </p:nvSpPr>
        <p:spPr>
          <a:xfrm>
            <a:off x="8046719" y="1280160"/>
            <a:ext cx="3657600" cy="365760"/>
          </a:xfrm>
          <a:prstGeom prst="rect">
            <a:avLst/>
          </a:prstGeom>
          <a:noFill/>
        </p:spPr>
        <p:txBody>
          <a:bodyPr wrap="square" anchor="t" lIns="45720" rIns="45720" tIns="27432" bIns="27432">
            <a:spAutoFit/>
          </a:bodyPr>
          <a:lstStyle/>
          <a:p>
            <a:pPr algn="ctr">
              <a:spcAft>
                <a:spcPts val="600"/>
              </a:spcAft>
            </a:pPr>
            <a:r>
              <a:rPr sz="1500" b="1">
                <a:solidFill>
                  <a:srgbClr val="0B0B0B"/>
                </a:solidFill>
                <a:latin typeface="Calibri"/>
              </a:rPr>
              <a:t>T1151s2 (FM/TBM)</a:t>
            </a:r>
          </a:p>
        </p:txBody>
      </p:sp>
      <p:pic>
        <p:nvPicPr>
          <p:cNvPr id="20" name="Picture 19" descr="T1151s2_3d_MODELLER.png"/>
          <p:cNvPicPr>
            <a:picLocks noChangeAspect="1"/>
          </p:cNvPicPr>
          <p:nvPr/>
        </p:nvPicPr>
        <p:blipFill>
          <a:blip r:embed="rId7"/>
          <a:stretch>
            <a:fillRect/>
          </a:stretch>
        </p:blipFill>
        <p:spPr>
          <a:xfrm>
            <a:off x="9300044" y="1691640"/>
            <a:ext cx="1150951" cy="1783080"/>
          </a:xfrm>
          <a:prstGeom prst="rect">
            <a:avLst/>
          </a:prstGeom>
        </p:spPr>
      </p:pic>
      <p:sp>
        <p:nvSpPr>
          <p:cNvPr id="21" name="TextBox 20"/>
          <p:cNvSpPr txBox="1"/>
          <p:nvPr/>
        </p:nvSpPr>
        <p:spPr>
          <a:xfrm>
            <a:off x="8046719" y="3474720"/>
            <a:ext cx="3657600" cy="274320"/>
          </a:xfrm>
          <a:prstGeom prst="rect">
            <a:avLst/>
          </a:prstGeom>
          <a:noFill/>
        </p:spPr>
        <p:txBody>
          <a:bodyPr wrap="square" anchor="t" lIns="45720" rIns="45720" tIns="27432" bIns="27432">
            <a:spAutoFit/>
          </a:bodyPr>
          <a:lstStyle/>
          <a:p>
            <a:pPr algn="ctr">
              <a:spcAft>
                <a:spcPts val="600"/>
              </a:spcAft>
            </a:pPr>
            <a:r>
              <a:rPr sz="1200" b="1">
                <a:solidFill>
                  <a:srgbClr val="2A78D6"/>
                </a:solidFill>
                <a:latin typeface="Calibri"/>
              </a:rPr>
              <a:t>MODELLER · TM 0.524</a:t>
            </a:r>
          </a:p>
        </p:txBody>
      </p:sp>
      <p:pic>
        <p:nvPicPr>
          <p:cNvPr id="22" name="Picture 21" descr="T1151s2_3d_AlphaFold3.png"/>
          <p:cNvPicPr>
            <a:picLocks noChangeAspect="1"/>
          </p:cNvPicPr>
          <p:nvPr/>
        </p:nvPicPr>
        <p:blipFill>
          <a:blip r:embed="rId8"/>
          <a:stretch>
            <a:fillRect/>
          </a:stretch>
        </p:blipFill>
        <p:spPr>
          <a:xfrm>
            <a:off x="8985846" y="3840480"/>
            <a:ext cx="1779347" cy="1783080"/>
          </a:xfrm>
          <a:prstGeom prst="rect">
            <a:avLst/>
          </a:prstGeom>
        </p:spPr>
      </p:pic>
      <p:sp>
        <p:nvSpPr>
          <p:cNvPr id="23" name="TextBox 22"/>
          <p:cNvSpPr txBox="1"/>
          <p:nvPr/>
        </p:nvSpPr>
        <p:spPr>
          <a:xfrm>
            <a:off x="8046719" y="5623560"/>
            <a:ext cx="3657600" cy="274320"/>
          </a:xfrm>
          <a:prstGeom prst="rect">
            <a:avLst/>
          </a:prstGeom>
          <a:noFill/>
        </p:spPr>
        <p:txBody>
          <a:bodyPr wrap="square" anchor="t" lIns="45720" rIns="45720" tIns="27432" bIns="27432">
            <a:spAutoFit/>
          </a:bodyPr>
          <a:lstStyle/>
          <a:p>
            <a:pPr algn="ctr">
              <a:spcAft>
                <a:spcPts val="600"/>
              </a:spcAft>
            </a:pPr>
            <a:r>
              <a:rPr sz="1200" b="1">
                <a:solidFill>
                  <a:srgbClr val="EB6834"/>
                </a:solidFill>
                <a:latin typeface="Calibri"/>
              </a:rPr>
              <a:t>AlphaFold3 · TM 0.916</a:t>
            </a:r>
          </a:p>
        </p:txBody>
      </p:sp>
      <p:sp>
        <p:nvSpPr>
          <p:cNvPr id="24" name="TextBox 23"/>
          <p:cNvSpPr txBox="1"/>
          <p:nvPr/>
        </p:nvSpPr>
        <p:spPr>
          <a:xfrm>
            <a:off x="8046719" y="5989320"/>
            <a:ext cx="3657600" cy="320040"/>
          </a:xfrm>
          <a:prstGeom prst="rect">
            <a:avLst/>
          </a:prstGeom>
          <a:noFill/>
        </p:spPr>
        <p:txBody>
          <a:bodyPr wrap="square" anchor="t" lIns="45720" rIns="45720" tIns="27432" bIns="27432">
            <a:spAutoFit/>
          </a:bodyPr>
          <a:lstStyle/>
          <a:p>
            <a:pPr algn="ctr">
              <a:spcAft>
                <a:spcPts val="600"/>
              </a:spcAft>
            </a:pPr>
            <a:r>
              <a:rPr sz="1200" b="0">
                <a:solidFill>
                  <a:srgbClr val="52514E"/>
                </a:solidFill>
                <a:latin typeface="Calibri"/>
              </a:rPr>
              <a:t>WhiB core 1.7 Å; tail 85–111 has no template</a:t>
            </a:r>
          </a:p>
        </p:txBody>
      </p:sp>
      <p:sp>
        <p:nvSpPr>
          <p:cNvPr id="25" name="Rectangle 24"/>
          <p:cNvSpPr/>
          <p:nvPr/>
        </p:nvSpPr>
        <p:spPr>
          <a:xfrm>
            <a:off x="7528255" y="630936"/>
            <a:ext cx="201168" cy="146304"/>
          </a:xfrm>
          <a:prstGeom prst="rect">
            <a:avLst/>
          </a:prstGeom>
          <a:solidFill>
            <a:srgbClr val="9A9A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84287" y="548640"/>
            <a:ext cx="1031748" cy="274320"/>
          </a:xfrm>
          <a:prstGeom prst="rect">
            <a:avLst/>
          </a:prstGeom>
          <a:noFill/>
        </p:spPr>
        <p:txBody>
          <a:bodyPr wrap="square" anchor="t" lIns="45720" rIns="45720" tIns="27432" bIns="27432">
            <a:spAutoFit/>
          </a:bodyPr>
          <a:lstStyle/>
          <a:p>
            <a:pPr algn="l">
              <a:spcAft>
                <a:spcPts val="600"/>
              </a:spcAft>
            </a:pPr>
            <a:r>
              <a:rPr sz="1100" b="0">
                <a:solidFill>
                  <a:srgbClr val="52514E"/>
                </a:solidFill>
                <a:latin typeface="Calibri"/>
              </a:rPr>
              <a:t>experimental</a:t>
            </a:r>
          </a:p>
        </p:txBody>
      </p:sp>
      <p:sp>
        <p:nvSpPr>
          <p:cNvPr id="27" name="Rectangle 26"/>
          <p:cNvSpPr/>
          <p:nvPr/>
        </p:nvSpPr>
        <p:spPr>
          <a:xfrm>
            <a:off x="8998915" y="630936"/>
            <a:ext cx="201168" cy="146304"/>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254947" y="548640"/>
            <a:ext cx="724408" cy="274320"/>
          </a:xfrm>
          <a:prstGeom prst="rect">
            <a:avLst/>
          </a:prstGeom>
          <a:noFill/>
        </p:spPr>
        <p:txBody>
          <a:bodyPr wrap="square" anchor="t" lIns="45720" rIns="45720" tIns="27432" bIns="27432">
            <a:spAutoFit/>
          </a:bodyPr>
          <a:lstStyle/>
          <a:p>
            <a:pPr algn="l">
              <a:spcAft>
                <a:spcPts val="600"/>
              </a:spcAft>
            </a:pPr>
            <a:r>
              <a:rPr sz="1100" b="0">
                <a:solidFill>
                  <a:srgbClr val="52514E"/>
                </a:solidFill>
                <a:latin typeface="Calibri"/>
              </a:rPr>
              <a:t>MODELLER</a:t>
            </a:r>
          </a:p>
        </p:txBody>
      </p:sp>
      <p:sp>
        <p:nvSpPr>
          <p:cNvPr id="29" name="Rectangle 28"/>
          <p:cNvSpPr/>
          <p:nvPr/>
        </p:nvSpPr>
        <p:spPr>
          <a:xfrm>
            <a:off x="10162235" y="630936"/>
            <a:ext cx="201168" cy="146304"/>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418267" y="548640"/>
            <a:ext cx="878078" cy="274320"/>
          </a:xfrm>
          <a:prstGeom prst="rect">
            <a:avLst/>
          </a:prstGeom>
          <a:noFill/>
        </p:spPr>
        <p:txBody>
          <a:bodyPr wrap="square" anchor="t" lIns="45720" rIns="45720" tIns="27432" bIns="27432">
            <a:spAutoFit/>
          </a:bodyPr>
          <a:lstStyle/>
          <a:p>
            <a:pPr algn="l">
              <a:spcAft>
                <a:spcPts val="600"/>
              </a:spcAft>
            </a:pPr>
            <a:r>
              <a:rPr sz="1100" b="0">
                <a:solidFill>
                  <a:srgbClr val="52514E"/>
                </a:solidFill>
                <a:latin typeface="Calibri"/>
              </a:rPr>
              <a:t>AlphaFold3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0972800" cy="274320"/>
          </a:xfrm>
          <a:prstGeom prst="rect">
            <a:avLst/>
          </a:prstGeom>
          <a:noFill/>
        </p:spPr>
        <p:txBody>
          <a:bodyPr wrap="square" anchor="t" lIns="45720" rIns="45720" tIns="27432" bIns="27432">
            <a:spAutoFit/>
          </a:bodyPr>
          <a:lstStyle/>
          <a:p>
            <a:pPr algn="l">
              <a:spcAft>
                <a:spcPts val="600"/>
              </a:spcAft>
            </a:pPr>
            <a:r>
              <a:rPr sz="1100" b="1">
                <a:solidFill>
                  <a:srgbClr val="2A78D6"/>
                </a:solidFill>
                <a:latin typeface="Calibri"/>
              </a:rPr>
              <a:t>DISCUSSION</a:t>
            </a:r>
          </a:p>
        </p:txBody>
      </p:sp>
      <p:sp>
        <p:nvSpPr>
          <p:cNvPr id="3" name="TextBox 2"/>
          <p:cNvSpPr txBox="1"/>
          <p:nvPr/>
        </p:nvSpPr>
        <p:spPr>
          <a:xfrm>
            <a:off x="548640" y="502920"/>
            <a:ext cx="11064240" cy="640080"/>
          </a:xfrm>
          <a:prstGeom prst="rect">
            <a:avLst/>
          </a:prstGeom>
          <a:noFill/>
        </p:spPr>
        <p:txBody>
          <a:bodyPr wrap="square" anchor="t" lIns="45720" rIns="45720" tIns="27432" bIns="27432">
            <a:spAutoFit/>
          </a:bodyPr>
          <a:lstStyle/>
          <a:p>
            <a:pPr algn="l">
              <a:spcAft>
                <a:spcPts val="600"/>
              </a:spcAft>
            </a:pPr>
            <a:r>
              <a:rPr sz="2800" b="1">
                <a:solidFill>
                  <a:srgbClr val="0B0B0B"/>
                </a:solidFill>
                <a:latin typeface="Calibri"/>
              </a:rPr>
              <a:t>Why is AlphaFold3 so much better?</a:t>
            </a:r>
          </a:p>
        </p:txBody>
      </p:sp>
      <p:cxnSp>
        <p:nvCxnSpPr>
          <p:cNvPr id="4" name="Connector 3"/>
          <p:cNvCxnSpPr/>
          <p:nvPr/>
        </p:nvCxnSpPr>
        <p:spPr>
          <a:xfrm>
            <a:off x="548640" y="1170432"/>
            <a:ext cx="11094415" cy="0"/>
          </a:xfrm>
          <a:prstGeom prst="line">
            <a:avLst/>
          </a:prstGeom>
          <a:ln w="12700">
            <a:solidFill>
              <a:srgbClr val="E4E3DF"/>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1185855" y="6473952"/>
            <a:ext cx="548640" cy="274320"/>
          </a:xfrm>
          <a:prstGeom prst="rect">
            <a:avLst/>
          </a:prstGeom>
          <a:noFill/>
        </p:spPr>
        <p:txBody>
          <a:bodyPr wrap="square" anchor="t" lIns="45720" rIns="45720" tIns="27432" bIns="27432">
            <a:spAutoFit/>
          </a:bodyPr>
          <a:lstStyle/>
          <a:p>
            <a:pPr algn="r">
              <a:spcAft>
                <a:spcPts val="600"/>
              </a:spcAft>
            </a:pPr>
            <a:r>
              <a:rPr sz="1000" b="0">
                <a:solidFill>
                  <a:srgbClr val="52514E"/>
                </a:solidFill>
                <a:latin typeface="Calibri"/>
              </a:rPr>
              <a:t>7</a:t>
            </a:r>
          </a:p>
        </p:txBody>
      </p:sp>
      <p:sp>
        <p:nvSpPr>
          <p:cNvPr id="6" name="TextBox 5"/>
          <p:cNvSpPr txBox="1"/>
          <p:nvPr/>
        </p:nvSpPr>
        <p:spPr>
          <a:xfrm>
            <a:off x="548640" y="6473952"/>
            <a:ext cx="7315200" cy="274320"/>
          </a:xfrm>
          <a:prstGeom prst="rect">
            <a:avLst/>
          </a:prstGeom>
          <a:noFill/>
        </p:spPr>
        <p:txBody>
          <a:bodyPr wrap="square" anchor="t" lIns="45720" rIns="45720" tIns="27432" bIns="27432">
            <a:spAutoFit/>
          </a:bodyPr>
          <a:lstStyle/>
          <a:p>
            <a:pPr algn="l">
              <a:spcAft>
                <a:spcPts val="600"/>
              </a:spcAft>
            </a:pPr>
            <a:r>
              <a:rPr sz="1000" b="0">
                <a:solidFill>
                  <a:srgbClr val="52514E"/>
                </a:solidFill>
                <a:latin typeface="Calibri"/>
              </a:rPr>
              <a:t>CMP_SC 8170 · Project 2 · Template-based modeling vs AlphaFold3</a:t>
            </a:r>
          </a:p>
        </p:txBody>
      </p:sp>
      <p:graphicFrame>
        <p:nvGraphicFramePr>
          <p:cNvPr id="7" name="Table 6"/>
          <p:cNvGraphicFramePr>
            <a:graphicFrameLocks noGrp="1"/>
          </p:cNvGraphicFramePr>
          <p:nvPr/>
        </p:nvGraphicFramePr>
        <p:xfrm>
          <a:off x="548640" y="1463040"/>
          <a:ext cx="6035040" cy="1828800"/>
        </p:xfrm>
        <a:graphic>
          <a:graphicData uri="http://schemas.openxmlformats.org/drawingml/2006/table">
            <a:tbl>
              <a:tblPr firstRow="1" bandRow="1">
                <a:tableStyleId>{5C22544A-7EE6-4342-B048-85BDC9FD1C3A}</a:tableStyleId>
              </a:tblPr>
              <a:tblGrid>
                <a:gridCol w="1097280"/>
                <a:gridCol w="1097280"/>
                <a:gridCol w="1005840"/>
                <a:gridCol w="1417320"/>
                <a:gridCol w="1417320"/>
              </a:tblGrid>
              <a:tr h="457200">
                <a:tc>
                  <a:txBody>
                    <a:bodyPr wrap="square"/>
                    <a:lstStyle/>
                    <a:p>
                      <a:pPr algn="l"/>
                      <a:r>
                        <a:rPr sz="1300" b="1">
                          <a:solidFill>
                            <a:srgbClr val="FFFFFF"/>
                          </a:solidFill>
                          <a:latin typeface="Calibri"/>
                        </a:rPr>
                        <a:t>Target</a:t>
                      </a:r>
                    </a:p>
                  </a:txBody>
                  <a:tcPr marL="73152" marR="73152" marT="27432" marB="27432" anchor="ctr">
                    <a:solidFill>
                      <a:srgbClr val="0B0B0B"/>
                    </a:solidFill>
                  </a:tcPr>
                </a:tc>
                <a:tc>
                  <a:txBody>
                    <a:bodyPr wrap="square"/>
                    <a:lstStyle/>
                    <a:p>
                      <a:pPr algn="ctr"/>
                      <a:r>
                        <a:rPr sz="1300" b="1">
                          <a:solidFill>
                            <a:srgbClr val="FFFFFF"/>
                          </a:solidFill>
                          <a:latin typeface="Calibri"/>
                        </a:rPr>
                        <a:t>EU covered</a:t>
                      </a:r>
                    </a:p>
                  </a:txBody>
                  <a:tcPr marL="73152" marR="73152" marT="27432" marB="27432" anchor="ctr">
                    <a:solidFill>
                      <a:srgbClr val="0B0B0B"/>
                    </a:solidFill>
                  </a:tcPr>
                </a:tc>
                <a:tc>
                  <a:txBody>
                    <a:bodyPr wrap="square"/>
                    <a:lstStyle/>
                    <a:p>
                      <a:pPr algn="ctr"/>
                      <a:r>
                        <a:rPr sz="1300" b="1">
                          <a:solidFill>
                            <a:srgbClr val="FFFFFF"/>
                          </a:solidFill>
                          <a:latin typeface="Calibri"/>
                        </a:rPr>
                        <a:t>TM gap</a:t>
                      </a:r>
                    </a:p>
                  </a:txBody>
                  <a:tcPr marL="73152" marR="73152" marT="27432" marB="27432" anchor="ctr">
                    <a:solidFill>
                      <a:srgbClr val="0B0B0B"/>
                    </a:solidFill>
                  </a:tcPr>
                </a:tc>
                <a:tc>
                  <a:txBody>
                    <a:bodyPr wrap="square"/>
                    <a:lstStyle/>
                    <a:p>
                      <a:pPr algn="ctr"/>
                      <a:r>
                        <a:rPr sz="1300" b="1">
                          <a:solidFill>
                            <a:srgbClr val="FFFFFF"/>
                          </a:solidFill>
                          <a:latin typeface="Calibri"/>
                        </a:rPr>
                        <a:t>in covered residues</a:t>
                      </a:r>
                    </a:p>
                  </a:txBody>
                  <a:tcPr marL="73152" marR="73152" marT="27432" marB="27432" anchor="ctr">
                    <a:solidFill>
                      <a:srgbClr val="0B0B0B"/>
                    </a:solidFill>
                  </a:tcPr>
                </a:tc>
                <a:tc>
                  <a:txBody>
                    <a:bodyPr wrap="square"/>
                    <a:lstStyle/>
                    <a:p>
                      <a:pPr algn="ctr"/>
                      <a:r>
                        <a:rPr sz="1300" b="1">
                          <a:solidFill>
                            <a:srgbClr val="FFFFFF"/>
                          </a:solidFill>
                          <a:latin typeface="Calibri"/>
                        </a:rPr>
                        <a:t>in uncovered residues</a:t>
                      </a:r>
                    </a:p>
                  </a:txBody>
                  <a:tcPr marL="73152" marR="73152" marT="27432" marB="27432" anchor="ctr">
                    <a:solidFill>
                      <a:srgbClr val="0B0B0B"/>
                    </a:solidFill>
                  </a:tcPr>
                </a:tc>
              </a:tr>
              <a:tr h="457200">
                <a:tc>
                  <a:txBody>
                    <a:bodyPr wrap="square"/>
                    <a:lstStyle/>
                    <a:p>
                      <a:pPr algn="l"/>
                      <a:r>
                        <a:rPr sz="1300" b="0">
                          <a:solidFill>
                            <a:srgbClr val="0B0B0B"/>
                          </a:solidFill>
                          <a:latin typeface="Calibri"/>
                        </a:rPr>
                        <a:t>T1124</a:t>
                      </a:r>
                    </a:p>
                  </a:txBody>
                  <a:tcPr marL="73152" marR="73152" marT="27432" marB="27432" anchor="ctr">
                    <a:solidFill>
                      <a:srgbClr val="FFFFFF"/>
                    </a:solidFill>
                  </a:tcPr>
                </a:tc>
                <a:tc>
                  <a:txBody>
                    <a:bodyPr wrap="square"/>
                    <a:lstStyle/>
                    <a:p>
                      <a:pPr algn="ctr"/>
                      <a:r>
                        <a:rPr sz="1300" b="0">
                          <a:solidFill>
                            <a:srgbClr val="0B0B0B"/>
                          </a:solidFill>
                          <a:latin typeface="Calibri"/>
                        </a:rPr>
                        <a:t>83%</a:t>
                      </a:r>
                    </a:p>
                  </a:txBody>
                  <a:tcPr marL="73152" marR="73152" marT="27432" marB="27432" anchor="ctr">
                    <a:solidFill>
                      <a:srgbClr val="FFFFFF"/>
                    </a:solidFill>
                  </a:tcPr>
                </a:tc>
                <a:tc>
                  <a:txBody>
                    <a:bodyPr wrap="square"/>
                    <a:lstStyle/>
                    <a:p>
                      <a:pPr algn="ctr"/>
                      <a:r>
                        <a:rPr sz="1300" b="0">
                          <a:solidFill>
                            <a:srgbClr val="0B0B0B"/>
                          </a:solidFill>
                          <a:latin typeface="Calibri"/>
                        </a:rPr>
                        <a:t>+0.40</a:t>
                      </a:r>
                    </a:p>
                  </a:txBody>
                  <a:tcPr marL="73152" marR="73152" marT="27432" marB="27432" anchor="ctr">
                    <a:solidFill>
                      <a:srgbClr val="FFFFFF"/>
                    </a:solidFill>
                  </a:tcPr>
                </a:tc>
                <a:tc>
                  <a:txBody>
                    <a:bodyPr wrap="square"/>
                    <a:lstStyle/>
                    <a:p>
                      <a:pPr algn="ctr"/>
                      <a:r>
                        <a:rPr sz="1300" b="0">
                          <a:solidFill>
                            <a:srgbClr val="EB6834"/>
                          </a:solidFill>
                          <a:latin typeface="Calibri"/>
                        </a:rPr>
                        <a:t>+0.29</a:t>
                      </a:r>
                    </a:p>
                  </a:txBody>
                  <a:tcPr marL="73152" marR="73152" marT="27432" marB="27432" anchor="ctr">
                    <a:solidFill>
                      <a:srgbClr val="FFFFFF"/>
                    </a:solidFill>
                  </a:tcPr>
                </a:tc>
                <a:tc>
                  <a:txBody>
                    <a:bodyPr wrap="square"/>
                    <a:lstStyle/>
                    <a:p>
                      <a:pPr algn="ctr"/>
                      <a:r>
                        <a:rPr sz="1300" b="0">
                          <a:solidFill>
                            <a:srgbClr val="0B0B0B"/>
                          </a:solidFill>
                          <a:latin typeface="Calibri"/>
                        </a:rPr>
                        <a:t>+0.11</a:t>
                      </a:r>
                    </a:p>
                  </a:txBody>
                  <a:tcPr marL="73152" marR="73152" marT="27432" marB="27432" anchor="ctr">
                    <a:solidFill>
                      <a:srgbClr val="FFFFFF"/>
                    </a:solidFill>
                  </a:tcPr>
                </a:tc>
              </a:tr>
              <a:tr h="457200">
                <a:tc>
                  <a:txBody>
                    <a:bodyPr wrap="square"/>
                    <a:lstStyle/>
                    <a:p>
                      <a:pPr algn="l"/>
                      <a:r>
                        <a:rPr sz="1300" b="0">
                          <a:solidFill>
                            <a:srgbClr val="0B0B0B"/>
                          </a:solidFill>
                          <a:latin typeface="Calibri"/>
                        </a:rPr>
                        <a:t>T1127</a:t>
                      </a:r>
                    </a:p>
                  </a:txBody>
                  <a:tcPr marL="73152" marR="73152" marT="27432" marB="27432" anchor="ctr">
                    <a:solidFill>
                      <a:srgbClr val="F5F4F1"/>
                    </a:solidFill>
                  </a:tcPr>
                </a:tc>
                <a:tc>
                  <a:txBody>
                    <a:bodyPr wrap="square"/>
                    <a:lstStyle/>
                    <a:p>
                      <a:pPr algn="ctr"/>
                      <a:r>
                        <a:rPr sz="1300" b="0">
                          <a:solidFill>
                            <a:srgbClr val="0B0B0B"/>
                          </a:solidFill>
                          <a:latin typeface="Calibri"/>
                        </a:rPr>
                        <a:t>79%</a:t>
                      </a:r>
                    </a:p>
                  </a:txBody>
                  <a:tcPr marL="73152" marR="73152" marT="27432" marB="27432" anchor="ctr">
                    <a:solidFill>
                      <a:srgbClr val="F5F4F1"/>
                    </a:solidFill>
                  </a:tcPr>
                </a:tc>
                <a:tc>
                  <a:txBody>
                    <a:bodyPr wrap="square"/>
                    <a:lstStyle/>
                    <a:p>
                      <a:pPr algn="ctr"/>
                      <a:r>
                        <a:rPr sz="1300" b="0">
                          <a:solidFill>
                            <a:srgbClr val="0B0B0B"/>
                          </a:solidFill>
                          <a:latin typeface="Calibri"/>
                        </a:rPr>
                        <a:t>+0.25</a:t>
                      </a:r>
                    </a:p>
                  </a:txBody>
                  <a:tcPr marL="73152" marR="73152" marT="27432" marB="27432" anchor="ctr">
                    <a:solidFill>
                      <a:srgbClr val="F5F4F1"/>
                    </a:solidFill>
                  </a:tcPr>
                </a:tc>
                <a:tc>
                  <a:txBody>
                    <a:bodyPr wrap="square"/>
                    <a:lstStyle/>
                    <a:p>
                      <a:pPr algn="ctr"/>
                      <a:r>
                        <a:rPr sz="1300" b="0">
                          <a:solidFill>
                            <a:srgbClr val="0B0B0B"/>
                          </a:solidFill>
                          <a:latin typeface="Calibri"/>
                        </a:rPr>
                        <a:t>+0.08</a:t>
                      </a:r>
                    </a:p>
                  </a:txBody>
                  <a:tcPr marL="73152" marR="73152" marT="27432" marB="27432" anchor="ctr">
                    <a:solidFill>
                      <a:srgbClr val="F5F4F1"/>
                    </a:solidFill>
                  </a:tcPr>
                </a:tc>
                <a:tc>
                  <a:txBody>
                    <a:bodyPr wrap="square"/>
                    <a:lstStyle/>
                    <a:p>
                      <a:pPr algn="ctr"/>
                      <a:r>
                        <a:rPr sz="1300" b="0">
                          <a:solidFill>
                            <a:srgbClr val="EB6834"/>
                          </a:solidFill>
                          <a:latin typeface="Calibri"/>
                        </a:rPr>
                        <a:t>+0.17</a:t>
                      </a:r>
                    </a:p>
                  </a:txBody>
                  <a:tcPr marL="73152" marR="73152" marT="27432" marB="27432" anchor="ctr">
                    <a:solidFill>
                      <a:srgbClr val="F5F4F1"/>
                    </a:solidFill>
                  </a:tcPr>
                </a:tc>
              </a:tr>
              <a:tr h="457200">
                <a:tc>
                  <a:txBody>
                    <a:bodyPr wrap="square"/>
                    <a:lstStyle/>
                    <a:p>
                      <a:pPr algn="l"/>
                      <a:r>
                        <a:rPr sz="1300" b="0">
                          <a:solidFill>
                            <a:srgbClr val="0B0B0B"/>
                          </a:solidFill>
                          <a:latin typeface="Calibri"/>
                        </a:rPr>
                        <a:t>T1151s2</a:t>
                      </a:r>
                    </a:p>
                  </a:txBody>
                  <a:tcPr marL="73152" marR="73152" marT="27432" marB="27432" anchor="ctr">
                    <a:solidFill>
                      <a:srgbClr val="FFFFFF"/>
                    </a:solidFill>
                  </a:tcPr>
                </a:tc>
                <a:tc>
                  <a:txBody>
                    <a:bodyPr wrap="square"/>
                    <a:lstStyle/>
                    <a:p>
                      <a:pPr algn="ctr"/>
                      <a:r>
                        <a:rPr sz="1300" b="0">
                          <a:solidFill>
                            <a:srgbClr val="0B0B0B"/>
                          </a:solidFill>
                          <a:latin typeface="Calibri"/>
                        </a:rPr>
                        <a:t>65%</a:t>
                      </a:r>
                    </a:p>
                  </a:txBody>
                  <a:tcPr marL="73152" marR="73152" marT="27432" marB="27432" anchor="ctr">
                    <a:solidFill>
                      <a:srgbClr val="FFFFFF"/>
                    </a:solidFill>
                  </a:tcPr>
                </a:tc>
                <a:tc>
                  <a:txBody>
                    <a:bodyPr wrap="square"/>
                    <a:lstStyle/>
                    <a:p>
                      <a:pPr algn="ctr"/>
                      <a:r>
                        <a:rPr sz="1300" b="0">
                          <a:solidFill>
                            <a:srgbClr val="0B0B0B"/>
                          </a:solidFill>
                          <a:latin typeface="Calibri"/>
                        </a:rPr>
                        <a:t>+0.39</a:t>
                      </a:r>
                    </a:p>
                  </a:txBody>
                  <a:tcPr marL="73152" marR="73152" marT="27432" marB="27432" anchor="ctr">
                    <a:solidFill>
                      <a:srgbClr val="FFFFFF"/>
                    </a:solidFill>
                  </a:tcPr>
                </a:tc>
                <a:tc>
                  <a:txBody>
                    <a:bodyPr wrap="square"/>
                    <a:lstStyle/>
                    <a:p>
                      <a:pPr algn="ctr"/>
                      <a:r>
                        <a:rPr sz="1300" b="0">
                          <a:solidFill>
                            <a:srgbClr val="0B0B0B"/>
                          </a:solidFill>
                          <a:latin typeface="Calibri"/>
                        </a:rPr>
                        <a:t>+0.11</a:t>
                      </a:r>
                    </a:p>
                  </a:txBody>
                  <a:tcPr marL="73152" marR="73152" marT="27432" marB="27432" anchor="ctr">
                    <a:solidFill>
                      <a:srgbClr val="FFFFFF"/>
                    </a:solidFill>
                  </a:tcPr>
                </a:tc>
                <a:tc>
                  <a:txBody>
                    <a:bodyPr wrap="square"/>
                    <a:lstStyle/>
                    <a:p>
                      <a:pPr algn="ctr"/>
                      <a:r>
                        <a:rPr sz="1300" b="0">
                          <a:solidFill>
                            <a:srgbClr val="EB6834"/>
                          </a:solidFill>
                          <a:latin typeface="Calibri"/>
                        </a:rPr>
                        <a:t>+0.28</a:t>
                      </a:r>
                    </a:p>
                  </a:txBody>
                  <a:tcPr marL="73152" marR="73152" marT="27432" marB="27432" anchor="ctr">
                    <a:solidFill>
                      <a:srgbClr val="FFFFFF"/>
                    </a:solidFill>
                  </a:tcPr>
                </a:tc>
              </a:tr>
            </a:tbl>
          </a:graphicData>
        </a:graphic>
      </p:graphicFrame>
      <p:sp>
        <p:nvSpPr>
          <p:cNvPr id="8" name="TextBox 7"/>
          <p:cNvSpPr txBox="1"/>
          <p:nvPr/>
        </p:nvSpPr>
        <p:spPr>
          <a:xfrm>
            <a:off x="548640" y="3429000"/>
            <a:ext cx="6035040" cy="2926080"/>
          </a:xfrm>
          <a:prstGeom prst="rect">
            <a:avLst/>
          </a:prstGeom>
          <a:noFill/>
        </p:spPr>
        <p:txBody>
          <a:bodyPr wrap="square" anchor="t" lIns="45720" rIns="45720" tIns="27432" bIns="27432">
            <a:spAutoFit/>
          </a:bodyPr>
          <a:lstStyle/>
          <a:p>
            <a:pPr algn="l">
              <a:spcAft>
                <a:spcPts val="600"/>
              </a:spcAft>
            </a:pPr>
            <a:r>
              <a:rPr sz="1400" b="1">
                <a:solidFill>
                  <a:srgbClr val="0B0B0B"/>
                </a:solidFill>
                <a:latin typeface="Calibri"/>
              </a:rPr>
              <a:t>Where MODELLER loses (larger share in orange):</a:t>
            </a:r>
          </a:p>
          <a:p>
            <a:pPr algn="l">
              <a:spcAft>
                <a:spcPts val="600"/>
              </a:spcAft>
            </a:pPr>
            <a:r>
              <a:rPr sz="1300" b="0">
                <a:solidFill>
                  <a:srgbClr val="0B0B0B"/>
                </a:solidFill>
                <a:latin typeface="Calibri"/>
              </a:rPr>
              <a:t>No template, no structure: the T1127 insertion and the T1151s2 tail exist in no template, so MODELLER guesses them (22–35 Å off).</a:t>
            </a:r>
          </a:p>
          <a:p>
            <a:pPr algn="l">
              <a:spcAft>
                <a:spcPts val="600"/>
              </a:spcAft>
            </a:pPr>
            <a:r>
              <a:rPr sz="1300" b="0">
                <a:solidFill>
                  <a:srgbClr val="0B0B0B"/>
                </a:solidFill>
                <a:latin typeface="Calibri"/>
              </a:rPr>
              <a:t>Covered but misplaced: T1124's N-terminal domain is template-covered (27% identity) yet lands 38 Å from the native; the domain arrangement is wrong.</a:t>
            </a:r>
          </a:p>
          <a:p>
            <a:pPr algn="l">
              <a:spcAft>
                <a:spcPts val="600"/>
              </a:spcAft>
            </a:pPr>
            <a:r>
              <a:rPr sz="1300" b="0">
                <a:solidFill>
                  <a:srgbClr val="0B0B0B"/>
                </a:solidFill>
                <a:latin typeface="Calibri"/>
              </a:rPr>
              <a:t>Copying a relative caps accuracy: covered core 3.2 Å (T1127) and 2.2 Å (T1151s2) Cα RMSD vs 0.8 / 0.7 Å for AlphaFold3 on the same residues.</a:t>
            </a:r>
          </a:p>
        </p:txBody>
      </p:sp>
      <p:sp>
        <p:nvSpPr>
          <p:cNvPr id="9" name="Rectangle 8"/>
          <p:cNvSpPr/>
          <p:nvPr/>
        </p:nvSpPr>
        <p:spPr>
          <a:xfrm>
            <a:off x="6949440" y="1463040"/>
            <a:ext cx="4663440" cy="4663440"/>
          </a:xfrm>
          <a:prstGeom prst="rect">
            <a:avLst/>
          </a:prstGeom>
          <a:solidFill>
            <a:srgbClr val="F5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949440" y="1463040"/>
            <a:ext cx="82296" cy="466344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223760" y="1645920"/>
            <a:ext cx="4206240" cy="4389120"/>
          </a:xfrm>
          <a:prstGeom prst="rect">
            <a:avLst/>
          </a:prstGeom>
          <a:noFill/>
        </p:spPr>
        <p:txBody>
          <a:bodyPr wrap="square" anchor="t" lIns="45720" rIns="45720" tIns="27432" bIns="27432">
            <a:spAutoFit/>
          </a:bodyPr>
          <a:lstStyle/>
          <a:p>
            <a:pPr algn="l">
              <a:spcAft>
                <a:spcPts val="1000"/>
              </a:spcAft>
            </a:pPr>
            <a:r>
              <a:rPr sz="1700" b="1">
                <a:solidFill>
                  <a:srgbClr val="0B0B0B"/>
                </a:solidFill>
                <a:latin typeface="Calibri"/>
              </a:rPr>
              <a:t>Why AlphaFold3 avoids this</a:t>
            </a:r>
          </a:p>
          <a:p>
            <a:pPr algn="l">
              <a:spcAft>
                <a:spcPts val="1000"/>
              </a:spcAft>
            </a:pPr>
            <a:r>
              <a:rPr sz="1400" b="0">
                <a:solidFill>
                  <a:srgbClr val="0B0B0B"/>
                </a:solidFill>
                <a:latin typeface="Calibri"/>
              </a:rPr>
              <a:t>Learned from the whole PDB: it predicts this sequence's own structure instead of copying one relative's coordinates.</a:t>
            </a:r>
          </a:p>
          <a:p>
            <a:pPr algn="l">
              <a:spcAft>
                <a:spcPts val="1000"/>
              </a:spcAft>
            </a:pPr>
            <a:r>
              <a:rPr sz="1400" b="0">
                <a:solidFill>
                  <a:srgbClr val="0B0B0B"/>
                </a:solidFill>
                <a:latin typeface="Calibri"/>
              </a:rPr>
              <a:t>Co-evolution from deep sequence alignments: positions that mutate together are in contact, which constrains regions no template covers.</a:t>
            </a:r>
          </a:p>
          <a:p>
            <a:pPr algn="l">
              <a:spcAft>
                <a:spcPts val="1000"/>
              </a:spcAft>
            </a:pPr>
            <a:r>
              <a:rPr sz="1400" b="0">
                <a:solidFill>
                  <a:srgbClr val="0B0B0B"/>
                </a:solidFill>
                <a:latin typeface="Calibri"/>
              </a:rPr>
              <a:t>Templates are hints, not scaffolds: several are combined and adjusted to the target, so domain arrangement is not inherited from one homologue.</a:t>
            </a:r>
          </a:p>
          <a:p>
            <a:pPr algn="l">
              <a:spcAft>
                <a:spcPts val="1000"/>
              </a:spcAft>
            </a:pPr>
            <a:r>
              <a:rPr sz="1400" b="0">
                <a:solidFill>
                  <a:srgbClr val="52514E"/>
                </a:solidFill>
                <a:latin typeface="Calibri"/>
              </a:rPr>
              <a:t>Result: accurate even where MODELLER had nothing (T1127 insertion 0.9 Å, T1151s2 tail 1.5 Å).</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0972800" cy="274320"/>
          </a:xfrm>
          <a:prstGeom prst="rect">
            <a:avLst/>
          </a:prstGeom>
          <a:noFill/>
        </p:spPr>
        <p:txBody>
          <a:bodyPr wrap="square" anchor="t" lIns="45720" rIns="45720" tIns="27432" bIns="27432">
            <a:spAutoFit/>
          </a:bodyPr>
          <a:lstStyle/>
          <a:p>
            <a:pPr algn="l">
              <a:spcAft>
                <a:spcPts val="600"/>
              </a:spcAft>
            </a:pPr>
            <a:r>
              <a:rPr sz="1100" b="1">
                <a:solidFill>
                  <a:srgbClr val="2A78D6"/>
                </a:solidFill>
                <a:latin typeface="Calibri"/>
              </a:rPr>
              <a:t>AGENT VS BASELINE</a:t>
            </a:r>
          </a:p>
        </p:txBody>
      </p:sp>
      <p:sp>
        <p:nvSpPr>
          <p:cNvPr id="3" name="TextBox 2"/>
          <p:cNvSpPr txBox="1"/>
          <p:nvPr/>
        </p:nvSpPr>
        <p:spPr>
          <a:xfrm>
            <a:off x="548640" y="502920"/>
            <a:ext cx="11064240" cy="640080"/>
          </a:xfrm>
          <a:prstGeom prst="rect">
            <a:avLst/>
          </a:prstGeom>
          <a:noFill/>
        </p:spPr>
        <p:txBody>
          <a:bodyPr wrap="square" anchor="t" lIns="45720" rIns="45720" tIns="27432" bIns="27432">
            <a:spAutoFit/>
          </a:bodyPr>
          <a:lstStyle/>
          <a:p>
            <a:pPr algn="l">
              <a:spcAft>
                <a:spcPts val="600"/>
              </a:spcAft>
            </a:pPr>
            <a:r>
              <a:rPr sz="2800" b="1">
                <a:solidFill>
                  <a:srgbClr val="0B0B0B"/>
                </a:solidFill>
                <a:latin typeface="Calibri"/>
              </a:rPr>
              <a:t>Did the Claude agent change the outcome?</a:t>
            </a:r>
          </a:p>
        </p:txBody>
      </p:sp>
      <p:cxnSp>
        <p:nvCxnSpPr>
          <p:cNvPr id="4" name="Connector 3"/>
          <p:cNvCxnSpPr/>
          <p:nvPr/>
        </p:nvCxnSpPr>
        <p:spPr>
          <a:xfrm>
            <a:off x="548640" y="1170432"/>
            <a:ext cx="11094415" cy="0"/>
          </a:xfrm>
          <a:prstGeom prst="line">
            <a:avLst/>
          </a:prstGeom>
          <a:ln w="12700">
            <a:solidFill>
              <a:srgbClr val="E4E3DF"/>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1185855" y="6473952"/>
            <a:ext cx="548640" cy="274320"/>
          </a:xfrm>
          <a:prstGeom prst="rect">
            <a:avLst/>
          </a:prstGeom>
          <a:noFill/>
        </p:spPr>
        <p:txBody>
          <a:bodyPr wrap="square" anchor="t" lIns="45720" rIns="45720" tIns="27432" bIns="27432">
            <a:spAutoFit/>
          </a:bodyPr>
          <a:lstStyle/>
          <a:p>
            <a:pPr algn="r">
              <a:spcAft>
                <a:spcPts val="600"/>
              </a:spcAft>
            </a:pPr>
            <a:r>
              <a:rPr sz="1000" b="0">
                <a:solidFill>
                  <a:srgbClr val="52514E"/>
                </a:solidFill>
                <a:latin typeface="Calibri"/>
              </a:rPr>
              <a:t>8</a:t>
            </a:r>
          </a:p>
        </p:txBody>
      </p:sp>
      <p:sp>
        <p:nvSpPr>
          <p:cNvPr id="6" name="TextBox 5"/>
          <p:cNvSpPr txBox="1"/>
          <p:nvPr/>
        </p:nvSpPr>
        <p:spPr>
          <a:xfrm>
            <a:off x="548640" y="6473952"/>
            <a:ext cx="7315200" cy="274320"/>
          </a:xfrm>
          <a:prstGeom prst="rect">
            <a:avLst/>
          </a:prstGeom>
          <a:noFill/>
        </p:spPr>
        <p:txBody>
          <a:bodyPr wrap="square" anchor="t" lIns="45720" rIns="45720" tIns="27432" bIns="27432">
            <a:spAutoFit/>
          </a:bodyPr>
          <a:lstStyle/>
          <a:p>
            <a:pPr algn="l">
              <a:spcAft>
                <a:spcPts val="600"/>
              </a:spcAft>
            </a:pPr>
            <a:r>
              <a:rPr sz="1000" b="0">
                <a:solidFill>
                  <a:srgbClr val="52514E"/>
                </a:solidFill>
                <a:latin typeface="Calibri"/>
              </a:rPr>
              <a:t>CMP_SC 8170 · Project 2 · Template-based modeling vs AlphaFold3</a:t>
            </a:r>
          </a:p>
        </p:txBody>
      </p:sp>
      <p:graphicFrame>
        <p:nvGraphicFramePr>
          <p:cNvPr id="7" name="Table 6"/>
          <p:cNvGraphicFramePr>
            <a:graphicFrameLocks noGrp="1"/>
          </p:cNvGraphicFramePr>
          <p:nvPr/>
        </p:nvGraphicFramePr>
        <p:xfrm>
          <a:off x="548640" y="1463040"/>
          <a:ext cx="11064240" cy="2011680"/>
        </p:xfrm>
        <a:graphic>
          <a:graphicData uri="http://schemas.openxmlformats.org/drawingml/2006/table">
            <a:tbl>
              <a:tblPr firstRow="1" bandRow="1">
                <a:tableStyleId>{5C22544A-7EE6-4342-B048-85BDC9FD1C3A}</a:tableStyleId>
              </a:tblPr>
              <a:tblGrid>
                <a:gridCol w="1280160"/>
                <a:gridCol w="3108960"/>
                <a:gridCol w="3840480"/>
                <a:gridCol w="2834640"/>
              </a:tblGrid>
              <a:tr h="502920">
                <a:tc>
                  <a:txBody>
                    <a:bodyPr wrap="square"/>
                    <a:lstStyle/>
                    <a:p>
                      <a:pPr algn="l"/>
                      <a:r>
                        <a:rPr sz="1400" b="1">
                          <a:solidFill>
                            <a:srgbClr val="FFFFFF"/>
                          </a:solidFill>
                          <a:latin typeface="Calibri"/>
                        </a:rPr>
                        <a:t>Target</a:t>
                      </a:r>
                    </a:p>
                  </a:txBody>
                  <a:tcPr marL="73152" marR="73152" marT="27432" marB="27432" anchor="ctr">
                    <a:solidFill>
                      <a:srgbClr val="0B0B0B"/>
                    </a:solidFill>
                  </a:tcPr>
                </a:tc>
                <a:tc>
                  <a:txBody>
                    <a:bodyPr wrap="square"/>
                    <a:lstStyle/>
                    <a:p>
                      <a:pPr algn="ctr"/>
                      <a:r>
                        <a:rPr sz="1400" b="1">
                          <a:solidFill>
                            <a:srgbClr val="FFFFFF"/>
                          </a:solidFill>
                          <a:latin typeface="Calibri"/>
                        </a:rPr>
                        <a:t>Baseline (fixed rules)</a:t>
                      </a:r>
                    </a:p>
                  </a:txBody>
                  <a:tcPr marL="73152" marR="73152" marT="27432" marB="27432" anchor="ctr">
                    <a:solidFill>
                      <a:srgbClr val="0B0B0B"/>
                    </a:solidFill>
                  </a:tcPr>
                </a:tc>
                <a:tc>
                  <a:txBody>
                    <a:bodyPr wrap="square"/>
                    <a:lstStyle/>
                    <a:p>
                      <a:pPr algn="ctr"/>
                      <a:r>
                        <a:rPr sz="1400" b="1">
                          <a:solidFill>
                            <a:srgbClr val="FFFFFF"/>
                          </a:solidFill>
                          <a:latin typeface="Calibri"/>
                        </a:rPr>
                        <a:t>Claude agent</a:t>
                      </a:r>
                    </a:p>
                  </a:txBody>
                  <a:tcPr marL="73152" marR="73152" marT="27432" marB="27432" anchor="ctr">
                    <a:solidFill>
                      <a:srgbClr val="0B0B0B"/>
                    </a:solidFill>
                  </a:tcPr>
                </a:tc>
                <a:tc>
                  <a:txBody>
                    <a:bodyPr wrap="square"/>
                    <a:lstStyle/>
                    <a:p>
                      <a:pPr algn="ctr"/>
                      <a:r>
                        <a:rPr sz="1400" b="1">
                          <a:solidFill>
                            <a:srgbClr val="FFFFFF"/>
                          </a:solidFill>
                          <a:latin typeface="Calibri"/>
                        </a:rPr>
                        <a:t>TM (agent / baseline)</a:t>
                      </a:r>
                    </a:p>
                  </a:txBody>
                  <a:tcPr marL="73152" marR="73152" marT="27432" marB="27432" anchor="ctr">
                    <a:solidFill>
                      <a:srgbClr val="0B0B0B"/>
                    </a:solidFill>
                  </a:tcPr>
                </a:tc>
              </a:tr>
              <a:tr h="502920">
                <a:tc>
                  <a:txBody>
                    <a:bodyPr wrap="square"/>
                    <a:lstStyle/>
                    <a:p>
                      <a:pPr algn="l"/>
                      <a:r>
                        <a:rPr sz="1400" b="0">
                          <a:solidFill>
                            <a:srgbClr val="0B0B0B"/>
                          </a:solidFill>
                          <a:latin typeface="Calibri"/>
                        </a:rPr>
                        <a:t>T1124</a:t>
                      </a:r>
                    </a:p>
                  </a:txBody>
                  <a:tcPr marL="73152" marR="73152" marT="27432" marB="27432" anchor="ctr">
                    <a:solidFill>
                      <a:srgbClr val="FFFFFF"/>
                    </a:solidFill>
                  </a:tcPr>
                </a:tc>
                <a:tc>
                  <a:txBody>
                    <a:bodyPr wrap="square"/>
                    <a:lstStyle/>
                    <a:p>
                      <a:pPr algn="ctr"/>
                      <a:r>
                        <a:rPr sz="1400" b="0">
                          <a:solidFill>
                            <a:srgbClr val="0B0B0B"/>
                          </a:solidFill>
                          <a:latin typeface="Calibri"/>
                        </a:rPr>
                        <a:t>top-ranked 5I2H:A</a:t>
                      </a:r>
                    </a:p>
                  </a:txBody>
                  <a:tcPr marL="73152" marR="73152" marT="27432" marB="27432" anchor="ctr">
                    <a:solidFill>
                      <a:srgbClr val="FFFFFF"/>
                    </a:solidFill>
                  </a:tcPr>
                </a:tc>
                <a:tc>
                  <a:txBody>
                    <a:bodyPr wrap="square"/>
                    <a:lstStyle/>
                    <a:p>
                      <a:pPr algn="ctr"/>
                      <a:r>
                        <a:rPr sz="1400" b="0">
                          <a:solidFill>
                            <a:srgbClr val="0B0B0B"/>
                          </a:solidFill>
                          <a:latin typeface="Calibri"/>
                        </a:rPr>
                        <a:t>1 search, 3 builds → kept 5I2H:A</a:t>
                      </a:r>
                    </a:p>
                  </a:txBody>
                  <a:tcPr marL="73152" marR="73152" marT="27432" marB="27432" anchor="ctr">
                    <a:solidFill>
                      <a:srgbClr val="FFFFFF"/>
                    </a:solidFill>
                  </a:tcPr>
                </a:tc>
                <a:tc>
                  <a:txBody>
                    <a:bodyPr wrap="square"/>
                    <a:lstStyle/>
                    <a:p>
                      <a:pPr algn="ctr"/>
                      <a:r>
                        <a:rPr sz="1400" b="0">
                          <a:solidFill>
                            <a:srgbClr val="0B0B0B"/>
                          </a:solidFill>
                          <a:latin typeface="Calibri"/>
                        </a:rPr>
                        <a:t>0.537 / 0.537</a:t>
                      </a:r>
                    </a:p>
                  </a:txBody>
                  <a:tcPr marL="73152" marR="73152" marT="27432" marB="27432" anchor="ctr">
                    <a:solidFill>
                      <a:srgbClr val="FFFFFF"/>
                    </a:solidFill>
                  </a:tcPr>
                </a:tc>
              </a:tr>
              <a:tr h="502920">
                <a:tc>
                  <a:txBody>
                    <a:bodyPr wrap="square"/>
                    <a:lstStyle/>
                    <a:p>
                      <a:pPr algn="l"/>
                      <a:r>
                        <a:rPr sz="1400" b="0">
                          <a:solidFill>
                            <a:srgbClr val="0B0B0B"/>
                          </a:solidFill>
                          <a:latin typeface="Calibri"/>
                        </a:rPr>
                        <a:t>T1127</a:t>
                      </a:r>
                    </a:p>
                  </a:txBody>
                  <a:tcPr marL="73152" marR="73152" marT="27432" marB="27432" anchor="ctr">
                    <a:solidFill>
                      <a:srgbClr val="F5F4F1"/>
                    </a:solidFill>
                  </a:tcPr>
                </a:tc>
                <a:tc>
                  <a:txBody>
                    <a:bodyPr wrap="square"/>
                    <a:lstStyle/>
                    <a:p>
                      <a:pPr algn="ctr"/>
                      <a:r>
                        <a:rPr sz="1400" b="0">
                          <a:solidFill>
                            <a:srgbClr val="0B0B0B"/>
                          </a:solidFill>
                          <a:latin typeface="Calibri"/>
                        </a:rPr>
                        <a:t>top-ranked 2FE7:B</a:t>
                      </a:r>
                    </a:p>
                  </a:txBody>
                  <a:tcPr marL="73152" marR="73152" marT="27432" marB="27432" anchor="ctr">
                    <a:solidFill>
                      <a:srgbClr val="F5F4F1"/>
                    </a:solidFill>
                  </a:tcPr>
                </a:tc>
                <a:tc>
                  <a:txBody>
                    <a:bodyPr wrap="square"/>
                    <a:lstStyle/>
                    <a:p>
                      <a:pPr algn="ctr"/>
                      <a:r>
                        <a:rPr sz="1400" b="0">
                          <a:solidFill>
                            <a:srgbClr val="0B0B0B"/>
                          </a:solidFill>
                          <a:latin typeface="Calibri"/>
                        </a:rPr>
                        <a:t>1 search, 3 builds → kept 2FE7:B</a:t>
                      </a:r>
                    </a:p>
                  </a:txBody>
                  <a:tcPr marL="73152" marR="73152" marT="27432" marB="27432" anchor="ctr">
                    <a:solidFill>
                      <a:srgbClr val="F5F4F1"/>
                    </a:solidFill>
                  </a:tcPr>
                </a:tc>
                <a:tc>
                  <a:txBody>
                    <a:bodyPr wrap="square"/>
                    <a:lstStyle/>
                    <a:p>
                      <a:pPr algn="ctr"/>
                      <a:r>
                        <a:rPr sz="1400" b="0">
                          <a:solidFill>
                            <a:srgbClr val="0B0B0B"/>
                          </a:solidFill>
                          <a:latin typeface="Calibri"/>
                        </a:rPr>
                        <a:t>0.722 / 0.722</a:t>
                      </a:r>
                    </a:p>
                  </a:txBody>
                  <a:tcPr marL="73152" marR="73152" marT="27432" marB="27432" anchor="ctr">
                    <a:solidFill>
                      <a:srgbClr val="F5F4F1"/>
                    </a:solidFill>
                  </a:tcPr>
                </a:tc>
              </a:tr>
              <a:tr h="502920">
                <a:tc>
                  <a:txBody>
                    <a:bodyPr wrap="square"/>
                    <a:lstStyle/>
                    <a:p>
                      <a:pPr algn="l"/>
                      <a:r>
                        <a:rPr sz="1400" b="0">
                          <a:solidFill>
                            <a:srgbClr val="0B0B0B"/>
                          </a:solidFill>
                          <a:latin typeface="Calibri"/>
                        </a:rPr>
                        <a:t>T1151s2</a:t>
                      </a:r>
                    </a:p>
                  </a:txBody>
                  <a:tcPr marL="73152" marR="73152" marT="27432" marB="27432" anchor="ctr">
                    <a:solidFill>
                      <a:srgbClr val="FFFFFF"/>
                    </a:solidFill>
                  </a:tcPr>
                </a:tc>
                <a:tc>
                  <a:txBody>
                    <a:bodyPr wrap="square"/>
                    <a:lstStyle/>
                    <a:p>
                      <a:pPr algn="ctr"/>
                      <a:r>
                        <a:rPr sz="1400" b="0">
                          <a:solidFill>
                            <a:srgbClr val="0B0B0B"/>
                          </a:solidFill>
                          <a:latin typeface="Calibri"/>
                        </a:rPr>
                        <a:t>top-ranked 7KUG:A</a:t>
                      </a:r>
                    </a:p>
                  </a:txBody>
                  <a:tcPr marL="73152" marR="73152" marT="27432" marB="27432" anchor="ctr">
                    <a:solidFill>
                      <a:srgbClr val="FFFFFF"/>
                    </a:solidFill>
                  </a:tcPr>
                </a:tc>
                <a:tc>
                  <a:txBody>
                    <a:bodyPr wrap="square"/>
                    <a:lstStyle/>
                    <a:p>
                      <a:pPr algn="ctr"/>
                      <a:r>
                        <a:rPr sz="1400" b="0">
                          <a:solidFill>
                            <a:srgbClr val="0B0B0B"/>
                          </a:solidFill>
                          <a:latin typeface="Calibri"/>
                        </a:rPr>
                        <a:t>2 searches, 3 builds → kept 7KUG:A</a:t>
                      </a:r>
                    </a:p>
                  </a:txBody>
                  <a:tcPr marL="73152" marR="73152" marT="27432" marB="27432" anchor="ctr">
                    <a:solidFill>
                      <a:srgbClr val="FFFFFF"/>
                    </a:solidFill>
                  </a:tcPr>
                </a:tc>
                <a:tc>
                  <a:txBody>
                    <a:bodyPr wrap="square"/>
                    <a:lstStyle/>
                    <a:p>
                      <a:pPr algn="ctr"/>
                      <a:r>
                        <a:rPr sz="1400" b="0">
                          <a:solidFill>
                            <a:srgbClr val="0B0B0B"/>
                          </a:solidFill>
                          <a:latin typeface="Calibri"/>
                        </a:rPr>
                        <a:t>0.524 / 0.524</a:t>
                      </a:r>
                    </a:p>
                  </a:txBody>
                  <a:tcPr marL="73152" marR="73152" marT="27432" marB="27432" anchor="ctr">
                    <a:solidFill>
                      <a:srgbClr val="FFFFFF"/>
                    </a:solidFill>
                  </a:tcPr>
                </a:tc>
              </a:tr>
            </a:tbl>
          </a:graphicData>
        </a:graphic>
      </p:graphicFrame>
      <p:sp>
        <p:nvSpPr>
          <p:cNvPr id="8" name="TextBox 7"/>
          <p:cNvSpPr txBox="1"/>
          <p:nvPr/>
        </p:nvSpPr>
        <p:spPr>
          <a:xfrm>
            <a:off x="548640" y="3749039"/>
            <a:ext cx="11064240" cy="2377440"/>
          </a:xfrm>
          <a:prstGeom prst="rect">
            <a:avLst/>
          </a:prstGeom>
          <a:noFill/>
        </p:spPr>
        <p:txBody>
          <a:bodyPr wrap="square" anchor="t" lIns="45720" rIns="45720" tIns="27432" bIns="27432">
            <a:spAutoFit/>
          </a:bodyPr>
          <a:lstStyle/>
          <a:p>
            <a:pPr algn="l">
              <a:spcAft>
                <a:spcPts val="1000"/>
              </a:spcAft>
            </a:pPr>
            <a:r>
              <a:rPr sz="1500" b="0">
                <a:solidFill>
                  <a:srgbClr val="0B0B0B"/>
                </a:solidFill>
                <a:latin typeface="Calibri"/>
              </a:rPr>
              <a:t>•  Same final template on all three targets → identical scores. Claude's 6 alternative builds confirmed the top-ranked choice rather than beating it.</a:t>
            </a:r>
          </a:p>
          <a:p>
            <a:pPr algn="l">
              <a:spcAft>
                <a:spcPts val="1000"/>
              </a:spcAft>
            </a:pPr>
            <a:r>
              <a:rPr sz="1500" b="0">
                <a:solidFill>
                  <a:srgbClr val="0B0B0B"/>
                </a:solidFill>
                <a:latin typeface="Calibri"/>
              </a:rPr>
              <a:t>•  With a good search and ranking, the fixed rule is already strong; the agent did not improve accuracy here.</a:t>
            </a:r>
          </a:p>
          <a:p>
            <a:pPr algn="l">
              <a:spcAft>
                <a:spcPts val="1000"/>
              </a:spcAft>
            </a:pPr>
            <a:r>
              <a:rPr sz="1500" b="0">
                <a:solidFill>
                  <a:srgbClr val="0B0B0B"/>
                </a:solidFill>
                <a:latin typeface="Calibri"/>
              </a:rPr>
              <a:t>•  Where the agent helped: a written, checkable rationale for every choice, and risk predictions (domain orientation, insertion, uncovered tail) that Agent 2 confirmed.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0972800" cy="274320"/>
          </a:xfrm>
          <a:prstGeom prst="rect">
            <a:avLst/>
          </a:prstGeom>
          <a:noFill/>
        </p:spPr>
        <p:txBody>
          <a:bodyPr wrap="square" anchor="t" lIns="45720" rIns="45720" tIns="27432" bIns="27432">
            <a:spAutoFit/>
          </a:bodyPr>
          <a:lstStyle/>
          <a:p>
            <a:pPr algn="l">
              <a:spcAft>
                <a:spcPts val="600"/>
              </a:spcAft>
            </a:pPr>
            <a:r>
              <a:rPr sz="1100" b="1">
                <a:solidFill>
                  <a:srgbClr val="2A78D6"/>
                </a:solidFill>
                <a:latin typeface="Calibri"/>
              </a:rPr>
              <a:t>SUMMARY</a:t>
            </a:r>
          </a:p>
        </p:txBody>
      </p:sp>
      <p:sp>
        <p:nvSpPr>
          <p:cNvPr id="3" name="TextBox 2"/>
          <p:cNvSpPr txBox="1"/>
          <p:nvPr/>
        </p:nvSpPr>
        <p:spPr>
          <a:xfrm>
            <a:off x="548640" y="502920"/>
            <a:ext cx="11064240" cy="640080"/>
          </a:xfrm>
          <a:prstGeom prst="rect">
            <a:avLst/>
          </a:prstGeom>
          <a:noFill/>
        </p:spPr>
        <p:txBody>
          <a:bodyPr wrap="square" anchor="t" lIns="45720" rIns="45720" tIns="27432" bIns="27432">
            <a:spAutoFit/>
          </a:bodyPr>
          <a:lstStyle/>
          <a:p>
            <a:pPr algn="l">
              <a:spcAft>
                <a:spcPts val="600"/>
              </a:spcAft>
            </a:pPr>
            <a:r>
              <a:rPr sz="2800" b="1">
                <a:solidFill>
                  <a:srgbClr val="0B0B0B"/>
                </a:solidFill>
                <a:latin typeface="Calibri"/>
              </a:rPr>
              <a:t>Conclusions</a:t>
            </a:r>
          </a:p>
        </p:txBody>
      </p:sp>
      <p:cxnSp>
        <p:nvCxnSpPr>
          <p:cNvPr id="4" name="Connector 3"/>
          <p:cNvCxnSpPr/>
          <p:nvPr/>
        </p:nvCxnSpPr>
        <p:spPr>
          <a:xfrm>
            <a:off x="548640" y="1170432"/>
            <a:ext cx="11094415" cy="0"/>
          </a:xfrm>
          <a:prstGeom prst="line">
            <a:avLst/>
          </a:prstGeom>
          <a:ln w="12700">
            <a:solidFill>
              <a:srgbClr val="E4E3DF"/>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1185855" y="6473952"/>
            <a:ext cx="548640" cy="274320"/>
          </a:xfrm>
          <a:prstGeom prst="rect">
            <a:avLst/>
          </a:prstGeom>
          <a:noFill/>
        </p:spPr>
        <p:txBody>
          <a:bodyPr wrap="square" anchor="t" lIns="45720" rIns="45720" tIns="27432" bIns="27432">
            <a:spAutoFit/>
          </a:bodyPr>
          <a:lstStyle/>
          <a:p>
            <a:pPr algn="r">
              <a:spcAft>
                <a:spcPts val="600"/>
              </a:spcAft>
            </a:pPr>
            <a:r>
              <a:rPr sz="1000" b="0">
                <a:solidFill>
                  <a:srgbClr val="52514E"/>
                </a:solidFill>
                <a:latin typeface="Calibri"/>
              </a:rPr>
              <a:t>9</a:t>
            </a:r>
          </a:p>
        </p:txBody>
      </p:sp>
      <p:sp>
        <p:nvSpPr>
          <p:cNvPr id="6" name="TextBox 5"/>
          <p:cNvSpPr txBox="1"/>
          <p:nvPr/>
        </p:nvSpPr>
        <p:spPr>
          <a:xfrm>
            <a:off x="548640" y="6473952"/>
            <a:ext cx="7315200" cy="274320"/>
          </a:xfrm>
          <a:prstGeom prst="rect">
            <a:avLst/>
          </a:prstGeom>
          <a:noFill/>
        </p:spPr>
        <p:txBody>
          <a:bodyPr wrap="square" anchor="t" lIns="45720" rIns="45720" tIns="27432" bIns="27432">
            <a:spAutoFit/>
          </a:bodyPr>
          <a:lstStyle/>
          <a:p>
            <a:pPr algn="l">
              <a:spcAft>
                <a:spcPts val="600"/>
              </a:spcAft>
            </a:pPr>
            <a:r>
              <a:rPr sz="1000" b="0">
                <a:solidFill>
                  <a:srgbClr val="52514E"/>
                </a:solidFill>
                <a:latin typeface="Calibri"/>
              </a:rPr>
              <a:t>CMP_SC 8170 · Project 2 · Template-based modeling vs AlphaFold3</a:t>
            </a:r>
          </a:p>
        </p:txBody>
      </p:sp>
      <p:sp>
        <p:nvSpPr>
          <p:cNvPr id="7" name="TextBox 6"/>
          <p:cNvSpPr txBox="1"/>
          <p:nvPr/>
        </p:nvSpPr>
        <p:spPr>
          <a:xfrm>
            <a:off x="548640" y="1463040"/>
            <a:ext cx="6766560" cy="4572000"/>
          </a:xfrm>
          <a:prstGeom prst="rect">
            <a:avLst/>
          </a:prstGeom>
          <a:noFill/>
        </p:spPr>
        <p:txBody>
          <a:bodyPr wrap="square" anchor="t" lIns="45720" rIns="45720" tIns="27432" bIns="27432">
            <a:spAutoFit/>
          </a:bodyPr>
          <a:lstStyle/>
          <a:p>
            <a:pPr algn="l">
              <a:spcAft>
                <a:spcPts val="1200"/>
              </a:spcAft>
            </a:pPr>
            <a:r>
              <a:rPr sz="1700" b="0">
                <a:solidFill>
                  <a:srgbClr val="0B0B0B"/>
                </a:solidFill>
                <a:latin typeface="Calibri"/>
              </a:rPr>
              <a:t>•  MODELLER is only as good as its template: accurate where the template covers (core ~2 Å), wrong where it does not.</a:t>
            </a:r>
          </a:p>
          <a:p>
            <a:pPr algn="l">
              <a:spcAft>
                <a:spcPts val="1200"/>
              </a:spcAft>
            </a:pPr>
            <a:r>
              <a:rPr sz="1700" b="0">
                <a:solidFill>
                  <a:srgbClr val="0B0B0B"/>
                </a:solidFill>
                <a:latin typeface="Calibri"/>
              </a:rPr>
              <a:t>•  A profile search makes template-based modeling possible even for the FM/TBM target (T1151s2, TM 0.52).</a:t>
            </a:r>
          </a:p>
          <a:p>
            <a:pPr algn="l">
              <a:spcAft>
                <a:spcPts val="1200"/>
              </a:spcAft>
            </a:pPr>
            <a:r>
              <a:rPr sz="1700" b="0">
                <a:solidFill>
                  <a:srgbClr val="0B0B0B"/>
                </a:solidFill>
                <a:latin typeface="Calibri"/>
              </a:rPr>
              <a:t>•  AlphaFold3 outperforms MODELLER on all three targets (TM +0.25 to +0.40), mostly in regions templates do not cover or place correctly.</a:t>
            </a:r>
          </a:p>
          <a:p>
            <a:pPr algn="l">
              <a:spcAft>
                <a:spcPts val="1200"/>
              </a:spcAft>
            </a:pPr>
            <a:r>
              <a:rPr sz="1700" b="0">
                <a:solidFill>
                  <a:srgbClr val="0B0B0B"/>
                </a:solidFill>
                <a:latin typeface="Calibri"/>
              </a:rPr>
              <a:t>•  The Claude agent matched the fixed rule's choices and predicted each failure region: it added transparency, not accuracy.</a:t>
            </a:r>
          </a:p>
        </p:txBody>
      </p:sp>
      <p:sp>
        <p:nvSpPr>
          <p:cNvPr id="8" name="Rectangle 7"/>
          <p:cNvSpPr/>
          <p:nvPr/>
        </p:nvSpPr>
        <p:spPr>
          <a:xfrm>
            <a:off x="7772400" y="1463040"/>
            <a:ext cx="3840480" cy="4206240"/>
          </a:xfrm>
          <a:prstGeom prst="rect">
            <a:avLst/>
          </a:prstGeom>
          <a:solidFill>
            <a:srgbClr val="F5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01000" y="1645920"/>
            <a:ext cx="3474720" cy="3931920"/>
          </a:xfrm>
          <a:prstGeom prst="rect">
            <a:avLst/>
          </a:prstGeom>
          <a:noFill/>
        </p:spPr>
        <p:txBody>
          <a:bodyPr wrap="square" anchor="t" lIns="45720" rIns="45720" tIns="27432" bIns="27432">
            <a:spAutoFit/>
          </a:bodyPr>
          <a:lstStyle/>
          <a:p>
            <a:pPr algn="l">
              <a:spcAft>
                <a:spcPts val="800"/>
              </a:spcAft>
            </a:pPr>
            <a:r>
              <a:rPr sz="1600" b="1">
                <a:solidFill>
                  <a:srgbClr val="0B0B0B"/>
                </a:solidFill>
                <a:latin typeface="Calibri"/>
              </a:rPr>
              <a:t>Limitations</a:t>
            </a:r>
          </a:p>
          <a:p>
            <a:pPr algn="l">
              <a:spcAft>
                <a:spcPts val="800"/>
              </a:spcAft>
            </a:pPr>
            <a:r>
              <a:rPr sz="1300" b="0">
                <a:solidFill>
                  <a:srgbClr val="0B0B0B"/>
                </a:solidFill>
                <a:latin typeface="Calibri"/>
              </a:rPr>
              <a:t>Three targets, one model per method: case studies, not trends.</a:t>
            </a:r>
          </a:p>
          <a:p>
            <a:pPr algn="l">
              <a:spcAft>
                <a:spcPts val="800"/>
              </a:spcAft>
            </a:pPr>
            <a:r>
              <a:rPr sz="1300" b="0">
                <a:solidFill>
                  <a:srgbClr val="0B0B0B"/>
                </a:solidFill>
                <a:latin typeface="Calibri"/>
              </a:rPr>
              <a:t>Single-template models only.</a:t>
            </a:r>
          </a:p>
          <a:p>
            <a:pPr algn="l">
              <a:spcAft>
                <a:spcPts val="800"/>
              </a:spcAft>
            </a:pPr>
            <a:r>
              <a:rPr sz="1300" b="0">
                <a:solidFill>
                  <a:srgbClr val="0B0B0B"/>
                </a:solidFill>
                <a:latin typeface="Calibri"/>
              </a:rPr>
              <a:t>Claude's rejected builds were not scored against the native.</a:t>
            </a:r>
          </a:p>
          <a:p>
            <a:pPr algn="l">
              <a:spcAft>
                <a:spcPts val="800"/>
              </a:spcAft>
            </a:pPr>
            <a:r>
              <a:rPr sz="1300" b="0">
                <a:solidFill>
                  <a:srgbClr val="0B0B0B"/>
                </a:solidFill>
                <a:latin typeface="Calibri"/>
              </a:rPr>
              <a:t>CASP evaluation units only; T1151s2 scored as a monomer.</a:t>
            </a:r>
          </a:p>
          <a:p>
            <a:pPr algn="l">
              <a:spcAft>
                <a:spcPts val="800"/>
              </a:spcAft>
            </a:pPr>
            <a:r>
              <a:rPr sz="1300" b="0">
                <a:solidFill>
                  <a:srgbClr val="0B0B0B"/>
                </a:solidFill>
                <a:latin typeface="Calibri"/>
              </a:rPr>
              <a:t>AlphaFold Server also uses PDB templates: method vs method, not template vs none.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