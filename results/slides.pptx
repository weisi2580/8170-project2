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Calibri"/>
              </a:rPr>
              <a:t>TM-score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MODELLER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T1124</c:v>
                </c:pt>
                <c:pt idx="1">
                  <c:v>T1127</c:v>
                </c:pt>
                <c:pt idx="2">
                  <c:v>T1151s2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0.519</c:v>
                </c:pt>
                <c:pt idx="1">
                  <c:v>0.658</c:v>
                </c:pt>
                <c:pt idx="2">
                  <c:v>0.162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AlphaFold3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T1124</c:v>
                </c:pt>
                <c:pt idx="1">
                  <c:v>T1127</c:v>
                </c:pt>
                <c:pt idx="2">
                  <c:v>T1151s2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0.94</c:v>
                </c:pt>
                <c:pt idx="1">
                  <c:v>0.973</c:v>
                </c:pt>
                <c:pt idx="2">
                  <c:v>0.916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4E3D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Calibri"/>
              </a:rPr>
              <a:t>GDT-TS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MODELLER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T1124</c:v>
                </c:pt>
                <c:pt idx="1">
                  <c:v>T1127</c:v>
                </c:pt>
                <c:pt idx="2">
                  <c:v>T1151s2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38.558</c:v>
                </c:pt>
                <c:pt idx="1">
                  <c:v>59.343</c:v>
                </c:pt>
                <c:pt idx="2">
                  <c:v>19.048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AlphaFold3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T1124</c:v>
                </c:pt>
                <c:pt idx="1">
                  <c:v>T1127</c:v>
                </c:pt>
                <c:pt idx="2">
                  <c:v>T1151s2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90.807</c:v>
                </c:pt>
                <c:pt idx="1">
                  <c:v>95.455</c:v>
                </c:pt>
                <c:pt idx="2">
                  <c:v>92.857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3D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 b="1">
                <a:latin typeface="Calibri"/>
              </a:rPr>
              <a:t>lDDT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MODELLER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T1124</c:v>
                </c:pt>
                <c:pt idx="1">
                  <c:v>T1127</c:v>
                </c:pt>
                <c:pt idx="2">
                  <c:v>T1151s2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0.532</c:v>
                </c:pt>
                <c:pt idx="1">
                  <c:v>0.488</c:v>
                </c:pt>
                <c:pt idx="2">
                  <c:v>0.244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AlphaFold3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T1124</c:v>
                </c:pt>
                <c:pt idx="1">
                  <c:v>T1127</c:v>
                </c:pt>
                <c:pt idx="2">
                  <c:v>T1151s2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</c:v>
                </c:pt>
                <c:pt idx="1">
                  <c:v>0.882</c:v>
                </c:pt>
                <c:pt idx="2">
                  <c:v>0.817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E4E3DF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compare classical template-based modeling with MODELLER against AlphaFold3 on three CASP15 targets of increasing difficulty. Claude coordinates the MODELLER side and the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CASP classes: TBM-easy has a clear template, TBM-hard a weak one, FM/TBM is borderline free modeling. Scores are computed over the CASP evaluation unit (EU) only. T1151s2 replaced T1123, which had no sequence-detectable template in the PDB.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1 and Agent 2 are Claude tool-use loops. Claude picks search settings, which templates to build and which model to keep; the tools run RCSB / MMseqs2 search, MODELLER and the metrics. AlphaFold3 is run by hand on the AlphaFold Server with default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hard rules are in code, so the agent cannot leak the answer: Agent 1 never sees the experimental structure and its task prompt contains no PDB ID. The baseline uses the same search and MODELLER but picks the top-ranked template and the lowest-DOPE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Identity and coverage are from MODELLER's align2d alignment over the full sequence. GA341 near 1 means a reliable fold; z-DOPE below 0 is native-like. For T1151s2 the default search found only the target's own structure; Claude widened the search to E ≤ 1000 and used a weak WhiB4 hit, flagging the model as low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Scores over the CASP evaluation unit. TM-score and GDT-TS reward the fraction of the structure that is right; RMSD is dominated by the worst parts. Our TM-score matches the TMscore program on all six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PowerPoint charts: right-click → Edit Data to change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= experimental (7UX8). After superposing on the C-terminal domain, MODELLER's N-terminal block (blue) and the native one (grey) sit in different places. Hypothesis from Agent 2: the template's dimer context, not tested. AlphaFold Server used other O-methyltransferase templates (4Z2Y, 4A6D, 3GWZ, 6C5B).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predicted this failure before evaluation: Agent 1 noted that ~23% of the EU, mostly the insertion, had no template and would probably be inaccurate.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MODELLER's own scores flagged the model (GA341 ≈ 0.01, z-DOPE +1.9) and Claude labelled it low confidence. The score-only baseline produced no MODELLER model for this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tools, same leakage rules; only the decisions differ. On the two targets with real templates, Claude made the same final choice as the fixed rules. On T1151s2 it widened the search and produced a model, which was wrong; its value there was transparency about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targets is a small sample: these are case studies, not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Reproduce: conda env create -f environment.yml; tbm run-all; tbm report; python scripts/make_slides.py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CMP_SC 8170 · PROJECT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0B0B0B"/>
                </a:solidFill>
                <a:latin typeface="Calibri"/>
              </a:rPr>
              <a:t>Template-Based Modeling vs AlphaFold3 on CASP15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2514E"/>
                </a:solidFill>
                <a:latin typeface="Calibri"/>
              </a:rPr>
              <a:t>An AI-assisted MODELLER pipeline coordinated by Claude, evaluated against experimental structures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Parthaw Goswami · Vinaya Santhosh Kumar · Weisi Liu · Arwa Mashaqbeh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Targets: T1124 (TBM-easy) · T1127 (TBM-hard) · T1151s2 (FM/TBM)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Where does template-based modeling fail?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120640" cy="4114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Compare MODELLER (template-based) with AlphaFold3 (deep learning) on three CASP15 targets of increasing difficulty.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Score both against the experimental structure over the CASP evaluation unit: TM-score, GDT-TS, lDDT, Cα RMSD.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Relate MODELLER's accuracy to template identity, coverage and alignment quality.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Test whether a Claude agent choosing templates changes the outcome versus a fixed-rule baseline.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600200"/>
          <a:ext cx="557784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822960"/>
                <a:gridCol w="1508760"/>
                <a:gridCol w="118872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CASP class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Length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PDB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Evaluation unit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TBM-easy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7UX8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7–384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T1127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TBM-hard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8XBP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6–210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T1151s2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FM/TBM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8D5V (chain 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28–111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3611880"/>
            <a:ext cx="55778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T1151s2 replaces the original FM/TBM target T1123, for which neither RCSB nor a whole-PDB MMseqs2 search found any homologue other than its own 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Pipeline: Claude coordinates, tools compute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1737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Target FASTA</a:t>
            </a:r>
          </a:p>
          <a:p>
            <a:pPr algn="ctr"/>
            <a:r>
              <a:rPr sz="1150">
                <a:solidFill>
                  <a:srgbClr val="52514E"/>
                </a:solidFill>
                <a:latin typeface="Calibri"/>
              </a:rPr>
              <a:t>CASP15 sequence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60020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2A78D6"/>
                </a:solidFill>
                <a:latin typeface="Calibri"/>
              </a:rPr>
              <a:t>Agent 1 · Claude</a:t>
            </a:r>
          </a:p>
          <a:p>
            <a:pPr algn="ctr"/>
            <a:r>
              <a:rPr sz="1150">
                <a:solidFill>
                  <a:srgbClr val="52514E"/>
                </a:solidFill>
                <a:latin typeface="Calibri"/>
              </a:rPr>
              <a:t>template search → leakage filter → align2d / automodel → pick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352044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EB6834"/>
                </a:solidFill>
                <a:latin typeface="Calibri"/>
              </a:rPr>
              <a:t>AlphaFold3 Server</a:t>
            </a:r>
          </a:p>
          <a:p>
            <a:pPr algn="ctr"/>
            <a:r>
              <a:rPr sz="1150">
                <a:solidFill>
                  <a:srgbClr val="52514E"/>
                </a:solidFill>
                <a:latin typeface="Calibri"/>
              </a:rPr>
              <a:t>default settings, top-ranked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56032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2A78D6"/>
                </a:solidFill>
                <a:latin typeface="Calibri"/>
              </a:rPr>
              <a:t>Agent 2 · Claude</a:t>
            </a:r>
          </a:p>
          <a:p>
            <a:pPr algn="ctr"/>
            <a:r>
              <a:rPr sz="1150">
                <a:solidFill>
                  <a:srgbClr val="52514E"/>
                </a:solidFill>
                <a:latin typeface="Calibri"/>
              </a:rPr>
              <a:t>TM, GDT-TS, lDDT, RMSD vs experimental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256032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Report</a:t>
            </a:r>
          </a:p>
          <a:p>
            <a:pPr algn="ctr"/>
            <a:r>
              <a:rPr sz="1150">
                <a:solidFill>
                  <a:srgbClr val="52514E"/>
                </a:solidFill>
                <a:latin typeface="Calibri"/>
              </a:rPr>
              <a:t>tables, figures, Claude's draft interpretation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572000"/>
            <a:ext cx="2377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500" b="1">
                <a:solidFill>
                  <a:srgbClr val="9A9A96"/>
                </a:solidFill>
                <a:latin typeface="Calibri"/>
              </a:rPr>
              <a:t>Experimental structure</a:t>
            </a:r>
          </a:p>
          <a:p>
            <a:pPr algn="ctr"/>
            <a:r>
              <a:rPr sz="1150">
                <a:solidFill>
                  <a:srgbClr val="52514E"/>
                </a:solidFill>
                <a:latin typeface="Calibri"/>
              </a:rPr>
              <a:t>RCSB PDB, Agent 2 only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286000" y="2171700"/>
            <a:ext cx="640080" cy="75438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286000" y="3337560"/>
            <a:ext cx="640080" cy="754379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69280" y="2171700"/>
            <a:ext cx="640080" cy="75438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69280" y="3337560"/>
            <a:ext cx="640080" cy="754379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98079" y="3703320"/>
            <a:ext cx="0" cy="86868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6800" y="3127248"/>
            <a:ext cx="640080" cy="0"/>
          </a:xfrm>
          <a:prstGeom prst="line">
            <a:avLst/>
          </a:prstGeom>
          <a:ln w="22225">
            <a:solidFill>
              <a:srgbClr val="5251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Calibri"/>
              </a:rPr>
              <a:t>Every Claude step (reasoning summary, tool calls, results) is saved as agent_transcript.md; a score-only baseline runs the same tools without Claude.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What Claude decides, and what the code enforces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56616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Claude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35661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search backend and E-value cutoff (RCSB or local MMseqs2)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which candidate templates to build (up to 4)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which build and model to keep, or no template at all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Agent 2: which errors to inspect and how to explain them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the draft interpretation of the whole comparison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463040"/>
            <a:ext cx="356616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164592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Calibri"/>
              </a:rPr>
              <a:t>Code enforces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2148840"/>
            <a:ext cx="35661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leakage control: target's own PDB entry and templates released after 2022-05-01 are excluded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Agent 1 never reads the experimental structure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metrics are computed by code and cross-checked with TMscore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Claude may only use the numbers the tools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463040"/>
            <a:ext cx="3566160" cy="73152"/>
          </a:xfrm>
          <a:prstGeom prst="rect">
            <a:avLst/>
          </a:prstGeom>
          <a:solidFill>
            <a:srgbClr val="9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9" y="164592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9A9A96"/>
                </a:solidFill>
                <a:latin typeface="Calibri"/>
              </a:rPr>
              <a:t>Baseline (no AI)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2148840"/>
            <a:ext cx="3566160" cy="3840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same search and MODELLER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top-ranked template by a fixed score (identity, coverage, E-value, resolution, completeness)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lowest-DOPE model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stops if the default RCSB search finds no eligible template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Agent 1: template decisions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03120"/>
                <a:gridCol w="2103120"/>
                <a:gridCol w="1051560"/>
                <a:gridCol w="1234440"/>
                <a:gridCol w="1234440"/>
                <a:gridCol w="1005840"/>
                <a:gridCol w="11430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Searches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Templates built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Kept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align2d identity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align2d coverage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GA341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z-DOPE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T1124
TBM-easy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rcsb (E≤10) + local (E≤10)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2R3S:A, 5I2H:A, 4A6D:A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5I2H:A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29.1%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86.7%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-0.05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T1127
TBM-hard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rcsb (E≤10) + local (E≤10)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2FE7:B, 2BEI:B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2FE7:B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40.1%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76.8%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+0.88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T1151s2
FM/TBM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rcsb (E≤10) + local (E≤1000)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7F7N:A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7F7N:A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28.8%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+1.91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T1124 and T1127: clear homologues (E ≈ 1e-16 to 1e-18); Claude built 2–3 alternatives and kept the best z-DOPE / highest identity.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•  T1151s2: the default search returns only 8D5V itself. Claude widened to local MMseqs2 (E ≤ 1000) and chose 7F7N:A (WhiB4, E = 3.9), citing WhiB-like cysteine spacing. MODELLER's own scores already warn: GA341 ≈ 0.01, z-DOPE +1.9.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AlphaFold3 is more accurate on every target and metric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766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914400"/>
                <a:gridCol w="914400"/>
                <a:gridCol w="8229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TM-score ↑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GDT-TS ↑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lDDT ↑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Cα RMSD (Å) ↓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T1124 (TBM-easy)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MODELLER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0.519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38.6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0.532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21.21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AlphaFold3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0.940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90.8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0.870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6.59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T1127 (TBM-hard)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MODELLER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0.658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59.3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0.488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13.45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AlphaFold3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0.973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95.5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0.882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T1151s2 (FM/TBM)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A78D6"/>
                          </a:solidFill>
                          <a:latin typeface="Calibri"/>
                        </a:rPr>
                        <a:t>MODELLER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0.162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0.244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16.44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EB6834"/>
                          </a:solidFill>
                          <a:latin typeface="Calibri"/>
                        </a:rPr>
                        <a:t>AlphaFold3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92.9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0.817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1.53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463040"/>
            <a:ext cx="3931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B0B0B"/>
                </a:solidFill>
                <a:latin typeface="Calibri"/>
              </a:rPr>
              <a:t>TM-score gap (AF3 − MODELLER)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T1124: +0.42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T1127: +0.31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T1151s2: +0.75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MODELLER is best on the TBM-hard target (TM 0.66), not the TBM-easy one: CASP difficulty labels did not predict MODELLER's accuracy here.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0B0B0B"/>
                </a:solidFill>
                <a:latin typeface="Calibri"/>
              </a:rPr>
              <a:t>On T1151s2 the MODELLER model is essentially random (TM &lt; 0.17).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Scores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3749039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251960" y="1371600"/>
          <a:ext cx="3749039" cy="4754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046720" y="1371600"/>
          <a:ext cx="3749039" cy="47548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RESULTS · T1124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T1124 (TBM-easy): right domains, wrong arrangement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pic>
        <p:nvPicPr>
          <p:cNvPr id="7" name="Picture 6" descr="T1124_3d_MODE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09530"/>
            <a:ext cx="2743200" cy="2278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32588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MODELLER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19" y="4224528"/>
            <a:ext cx="283464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2514E"/>
                </a:solidFill>
                <a:latin typeface="Calibri"/>
              </a:rPr>
              <a:t>TM 0.519 · GDT-TS 38.6 · RMSD 21.2 Å</a:t>
            </a:r>
          </a:p>
        </p:txBody>
      </p:sp>
      <p:pic>
        <p:nvPicPr>
          <p:cNvPr id="10" name="Picture 9" descr="T1124_3d_AlphaFol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188798"/>
            <a:ext cx="2743200" cy="15202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29000" y="132588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B6834"/>
                </a:solidFill>
                <a:latin typeface="Calibri"/>
              </a:rPr>
              <a:t>AlphaFold3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224528"/>
            <a:ext cx="283464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2514E"/>
                </a:solidFill>
                <a:latin typeface="Calibri"/>
              </a:rPr>
              <a:t>TM 0.940 · GDT-TS 90.8 · RMSD 6.6 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54296"/>
            <a:ext cx="201168" cy="146304"/>
          </a:xfrm>
          <a:prstGeom prst="rect">
            <a:avLst/>
          </a:prstGeom>
          <a:solidFill>
            <a:srgbClr val="9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572000"/>
            <a:ext cx="111556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experimental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4654296"/>
            <a:ext cx="201168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24912" y="4572000"/>
            <a:ext cx="78028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MODELLER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88080" y="4654296"/>
            <a:ext cx="201168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4112" y="4572000"/>
            <a:ext cx="94792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AlphaFold3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5577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Template 5I2H:A (O-methyltransferase), 29% identity, 87.6% of the EU aligned.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Residues 7–135 are placed as a block in the wrong position: mean Cα error 37.7 Å, while local lDDT stays moderate → a domain-placement error, not a local-fold error.</a:t>
            </a:r>
          </a:p>
        </p:txBody>
      </p:sp>
      <p:pic>
        <p:nvPicPr>
          <p:cNvPr id="20" name="Picture 19" descr="T1124_per_resid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338580"/>
            <a:ext cx="5303520" cy="2946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5080" y="434340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Per-residue error · shaded = aligned to the template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754880"/>
            <a:ext cx="530352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z-DOPE (−0.05) and GA341 (1.0) looked good: they cannot detect a misplaced domain.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AlphaFold3 places the N-terminal region correctly; its 6.6 Å RMSD comes from the disordered C-terminal tail (369–384).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RESULTS · T1127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T1127 (TBM-hard): core right, insertion missing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pic>
        <p:nvPicPr>
          <p:cNvPr id="7" name="Picture 6" descr="T1127_3d_MODE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89490"/>
            <a:ext cx="2743200" cy="17188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32588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MODELLER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19" y="4224528"/>
            <a:ext cx="283464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2514E"/>
                </a:solidFill>
                <a:latin typeface="Calibri"/>
              </a:rPr>
              <a:t>TM 0.658 · GDT-TS 59.3 · RMSD 13.5 Å</a:t>
            </a:r>
          </a:p>
        </p:txBody>
      </p:sp>
      <p:pic>
        <p:nvPicPr>
          <p:cNvPr id="10" name="Picture 9" descr="T1127_3d_AlphaFol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124061"/>
            <a:ext cx="2743200" cy="16497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29000" y="132588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B6834"/>
                </a:solidFill>
                <a:latin typeface="Calibri"/>
              </a:rPr>
              <a:t>AlphaFold3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224528"/>
            <a:ext cx="283464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2514E"/>
                </a:solidFill>
                <a:latin typeface="Calibri"/>
              </a:rPr>
              <a:t>TM 0.973 · GDT-TS 95.5 · RMSD 0.9 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54296"/>
            <a:ext cx="201168" cy="146304"/>
          </a:xfrm>
          <a:prstGeom prst="rect">
            <a:avLst/>
          </a:prstGeom>
          <a:solidFill>
            <a:srgbClr val="9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572000"/>
            <a:ext cx="111556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experimental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4654296"/>
            <a:ext cx="201168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24912" y="4572000"/>
            <a:ext cx="78028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MODELLER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88080" y="4654296"/>
            <a:ext cx="201168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4112" y="4572000"/>
            <a:ext cx="94792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AlphaFold3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5577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Template 2FE7:B (GNAT acetyltransferase), 40% identity, 77% coverage.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Template-covered residues: mean Cα error 3.3 Å; the 43 uncovered residues (insertion ~51–113): 24.8 Å.</a:t>
            </a:r>
          </a:p>
        </p:txBody>
      </p:sp>
      <p:pic>
        <p:nvPicPr>
          <p:cNvPr id="20" name="Picture 19" descr="T1127_per_resid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338580"/>
            <a:ext cx="5303520" cy="2946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5080" y="434340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Per-residue error · shaded = aligned to the template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754880"/>
            <a:ext cx="530352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Missing template coverage explains most of MODELLER's error (RMSD 13.5 Å).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AlphaFold3 models the insertion correctly too (0.8 Å on uncovered residues).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RESULTS · T1151S2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T1151s2 (FM/TBM): weak template, wrong fold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pic>
        <p:nvPicPr>
          <p:cNvPr id="7" name="Picture 6" descr="T1151s2_3d_MODEL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06567"/>
            <a:ext cx="2743200" cy="2084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32588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MODELLER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19" y="4224528"/>
            <a:ext cx="283464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2514E"/>
                </a:solidFill>
                <a:latin typeface="Calibri"/>
              </a:rPr>
              <a:t>TM 0.162 · GDT-TS 19.0 · RMSD 16.4 Å</a:t>
            </a:r>
          </a:p>
        </p:txBody>
      </p:sp>
      <p:pic>
        <p:nvPicPr>
          <p:cNvPr id="10" name="Picture 9" descr="T1151s2_3d_AlphaFol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5932" y="1691640"/>
            <a:ext cx="2509335" cy="2514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29000" y="132588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B6834"/>
                </a:solidFill>
                <a:latin typeface="Calibri"/>
              </a:rPr>
              <a:t>AlphaFold3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224528"/>
            <a:ext cx="283464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52514E"/>
                </a:solidFill>
                <a:latin typeface="Calibri"/>
              </a:rPr>
              <a:t>TM 0.916 · GDT-TS 92.9 · RMSD 1.5 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654296"/>
            <a:ext cx="201168" cy="146304"/>
          </a:xfrm>
          <a:prstGeom prst="rect">
            <a:avLst/>
          </a:prstGeom>
          <a:solidFill>
            <a:srgbClr val="9A9A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572000"/>
            <a:ext cx="111556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experimental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4654296"/>
            <a:ext cx="201168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24912" y="4572000"/>
            <a:ext cx="78028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MODELLER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88080" y="4654296"/>
            <a:ext cx="201168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44112" y="4572000"/>
            <a:ext cx="947928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AlphaFold3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983480"/>
            <a:ext cx="5577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Our MMseqs2 search found only a weak hit: 7F7N:A (WhiB4), E = 3.9, covering 42–79.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align2d stretched it to 96% of the EU, but covered residues are off by 27.6 Å on average; only ~13 residues (84–96) are within 4 Å.</a:t>
            </a:r>
          </a:p>
        </p:txBody>
      </p:sp>
      <p:pic>
        <p:nvPicPr>
          <p:cNvPr id="20" name="Picture 19" descr="T1151s2_per_resid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338580"/>
            <a:ext cx="5303520" cy="29464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55080" y="4343400"/>
            <a:ext cx="5303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2514E"/>
                </a:solidFill>
                <a:latin typeface="Calibri"/>
              </a:rPr>
              <a:t>Per-residue error · shaded = aligned to the template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754880"/>
            <a:ext cx="530352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Coverage is only meaningful when the homology is real.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B0B0B"/>
                </a:solidFill>
                <a:latin typeface="Calibri"/>
              </a:rPr>
              <a:t>•  AlphaFold3 (TM 0.92) used 4 WhiB templates (5OAY, 6ONO, 7KIF, 7KUG), all pre-2022 and allowed by our cutoff, which our sequence search missed.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AGENT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Did the Claude agent change the outcome?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3657600"/>
                <a:gridCol w="28346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Baseline (fixed rules)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Claude agent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MODELLER TM (agent / baseline)</a:t>
                      </a:r>
                    </a:p>
                  </a:txBody>
                  <a:tcPr marL="73152" marR="73152" marT="27432" marB="27432" anchor="ctr">
                    <a:solidFill>
                      <a:srgbClr val="0B0B0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T1124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5I2H:A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built 3 → kept 5I2H:A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0.519 / 0.519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T1127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2FE7:B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built 2 → kept 2FE7:B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0.658 / 0.658</a:t>
                      </a:r>
                    </a:p>
                  </a:txBody>
                  <a:tcPr marL="73152" marR="73152" marT="27432" marB="27432" anchor="ctr">
                    <a:solidFill>
                      <a:srgbClr val="F5F4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T1151s2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no eligible template → no model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widened search → kept 7F7N:A (low conf.)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B0B0B"/>
                          </a:solidFill>
                          <a:latin typeface="Calibri"/>
                        </a:rPr>
                        <a:t>0.162 / 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49039"/>
            <a:ext cx="1106424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Same final template on T1124 and T1127 → identical scores; Claude's extra builds did not beat the top-ranked template.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T1151s2: Claude turned "no model" into a model, but with no structural value (GDT-TS 19.0).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  <a:latin typeface="Calibri"/>
              </a:rPr>
              <a:t>•  Where the agent helped: explicit risk statements (insertion in T1127, low confidence in T1151s2) that Agent 2 later confirmed, and a full reasoning trace for every choice.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Key findings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5440680" cy="2103120"/>
          </a:xfrm>
          <a:prstGeom prst="rect">
            <a:avLst/>
          </a:prstGeom>
          <a:solidFill>
            <a:srgbClr val="F5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82296" cy="2103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0B0B"/>
                </a:solidFill>
                <a:latin typeface="Calibri"/>
              </a:rPr>
              <a:t>Template coverage sets the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19456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T1127: covered core 3.3 Å vs uncovered insertion 24.8 Å. Residues without a template are essentially guessed.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440680" cy="2103120"/>
          </a:xfrm>
          <a:prstGeom prst="rect">
            <a:avLst/>
          </a:prstGeom>
          <a:solidFill>
            <a:srgbClr val="F5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463040"/>
            <a:ext cx="82296" cy="21031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6459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0B0B"/>
                </a:solidFill>
                <a:latin typeface="Calibri"/>
              </a:rPr>
              <a:t>Coverage is not enough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19456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T1124: 88% aligned, but a whole domain is misplaced. Weak identity (~29%) can copy the wrong domain arrangement.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5440680" cy="2103120"/>
          </a:xfrm>
          <a:prstGeom prst="rect">
            <a:avLst/>
          </a:prstGeom>
          <a:solidFill>
            <a:srgbClr val="F5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94760"/>
            <a:ext cx="82296" cy="2103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9776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0B0B"/>
                </a:solidFill>
                <a:latin typeface="Calibri"/>
              </a:rPr>
              <a:t>Weak hits can mislead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52628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T1151s2: an E = 3.9 hit stretched to 96% coverage gives a wrong fold. GA341 and z-DOPE flagged it; TBM needs real homology.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794760"/>
            <a:ext cx="5440680" cy="2103120"/>
          </a:xfrm>
          <a:prstGeom prst="rect">
            <a:avLst/>
          </a:prstGeom>
          <a:solidFill>
            <a:srgbClr val="F5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794760"/>
            <a:ext cx="82296" cy="21031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97764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0B0B0B"/>
                </a:solidFill>
                <a:latin typeface="Calibri"/>
              </a:rPr>
              <a:t>Template search is the bottleneck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26280"/>
            <a:ext cx="50292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2514E"/>
                </a:solidFill>
                <a:latin typeface="Calibri"/>
              </a:rPr>
              <a:t>AlphaFold3 (TM 0.92–0.97) also used templates: for T1151s2 four WhiB structures our MMseqs2 search missed. Profile search plus learned structure wins.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Limitations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Three targets, one MODELLER and one AlphaFold3 model each: case studies, not trends.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Our template search is sequence-based (RCSB / MMseqs2); a profile method such as HHpred would likely have found the WhiB templates for T1151s2.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Only single-template models; multi-template MODELLER runs were not tried.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Alternative builds Claude rejected were not scored against the experimental structure, so we cannot say whether they would have been better.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Evaluation is limited to the CASP evaluation units; T1127 has 7 unobserved EU residues, and T1151s2 is one chain of a complex (scored as a monomer).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>•  AlphaFold Server runs its own profile-based template search: it found eligible templates (all released before 2022-05) that our MMseqs2 search missed, e.g. four WhiB structures for T1151s2. The comparison is not template-free vs template-based.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2A78D6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Calibri"/>
              </a:rPr>
              <a:t>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70432"/>
            <a:ext cx="11094415" cy="0"/>
          </a:xfrm>
          <a:prstGeom prst="line">
            <a:avLst/>
          </a:prstGeom>
          <a:ln w="12700">
            <a:solidFill>
              <a:srgbClr val="E4E3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2514E"/>
                </a:solidFill>
                <a:latin typeface="Calibri"/>
              </a:rPr>
              <a:t>CMP_SC 8170 · Project 2 · Template-based modeling vs AlphaFold3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6949440" cy="4114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MODELLER is only as good as its template: accurate where coverage and homology are real, wrong elsewhere.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AlphaFold3 outperforms MODELLER on all three targets (TM +0.31 to +0.75).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0B0B0B"/>
                </a:solidFill>
                <a:latin typeface="Calibri"/>
              </a:rPr>
              <a:t>•  An AI coordinator adds transparency and sensible risk flags, but cannot make up for a template search that misses remote homologues.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63040"/>
            <a:ext cx="3749039" cy="4023360"/>
          </a:xfrm>
          <a:prstGeom prst="rect">
            <a:avLst/>
          </a:prstGeom>
          <a:solidFill>
            <a:srgbClr val="F5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645920"/>
            <a:ext cx="3383280" cy="374903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  <a:latin typeface="Calibri"/>
              </a:rPr>
              <a:t>Reproduce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conda env create -f environment.yml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tbm run-all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tbm --baseline run-all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0B0B0B"/>
                </a:solidFill>
                <a:latin typeface="Calibri"/>
              </a:rPr>
              <a:t>python scripts/make_slides.py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2514E"/>
                </a:solidFill>
                <a:latin typeface="Calibri"/>
              </a:rPr>
              <a:t>Outputs in results/: summary tables, figures, Claude transcripts and analyses.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